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449" r:id="rId2"/>
    <p:sldId id="448" r:id="rId3"/>
    <p:sldId id="450" r:id="rId4"/>
    <p:sldId id="451" r:id="rId5"/>
    <p:sldId id="454" r:id="rId6"/>
    <p:sldId id="452" r:id="rId7"/>
    <p:sldId id="453" r:id="rId8"/>
    <p:sldId id="455" r:id="rId9"/>
    <p:sldId id="456" r:id="rId10"/>
    <p:sldId id="457" r:id="rId11"/>
    <p:sldId id="458" r:id="rId12"/>
    <p:sldId id="459" r:id="rId13"/>
    <p:sldId id="460" r:id="rId14"/>
    <p:sldId id="461" r:id="rId15"/>
    <p:sldId id="462" r:id="rId16"/>
    <p:sldId id="463" r:id="rId17"/>
    <p:sldId id="466" r:id="rId18"/>
    <p:sldId id="467" r:id="rId19"/>
    <p:sldId id="465" r:id="rId20"/>
    <p:sldId id="464" r:id="rId21"/>
    <p:sldId id="468" r:id="rId22"/>
    <p:sldId id="469" r:id="rId23"/>
    <p:sldId id="470" r:id="rId24"/>
    <p:sldId id="471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56" y="114"/>
      </p:cViewPr>
      <p:guideLst/>
    </p:cSldViewPr>
  </p:slideViewPr>
  <p:notesTextViewPr>
    <p:cViewPr>
      <p:scale>
        <a:sx n="1" d="1"/>
        <a:sy n="1" d="1"/>
      </p:scale>
      <p:origin x="0" y="-50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C507F-7517-4415-992A-2A248414086A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9C910-0FAB-4224-9614-F03EE58C0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890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背景与动机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神经网络模型是基于训练集用概率方法优化的。但在不同的测试集上，它们可能无法始终生成高质量的结果。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那么，如何在实际中使用这些存在缺陷的模型？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这个问题与**校准（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Calibration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）**的概念直接相关。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为了简化，我们先考虑一个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输出二分类预测的模型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（例如对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错），其预测不总是正确。同时模型会对每个预测输出一个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置信度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（概率值，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≤ p ≤ 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如果这个置信度是可靠的，我们希望它能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真实反映预测正确的概率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例如，模型在某个预测上输出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0.6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的置信度，那么这个预测在统计上应当有约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60%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的概率是正确的。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当这种对齐关系成立时，模型被称为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“校准良好”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；它的置信度是对预期结果的良好预测，这样就可以更合理地用于决策。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举例：如果一个天气预测模型校准良好，那么用户会根据不同的置信度采取合适的行动：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下雨概率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：戴帽子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下雨概率 ≥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：带伞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下雨概率 ≥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：改乘公交车</a:t>
            </a:r>
          </a:p>
          <a:p>
            <a:br>
              <a:rPr lang="zh-CN" altLang="en-US" dirty="0"/>
            </a:br>
            <a:endParaRPr lang="zh-CN" altLang="en-US" dirty="0"/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校准的量化定义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校准本质上是“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置信度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正确率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”的对应关系。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对预测置信度进行分箱（如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[0–0.1)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[0.1–0.2)…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），在每个箱中统计预测正确的比例并作图（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可靠性图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如果模型校准良好：每个箱的正确率 ≈ 箱的平均置信度（点接近对角线）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如果校准不好：偏差很大（点偏离对角线）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284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在二元预测任务中（例如“明天会下雨吗”），正确性很简单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要么下雨，要么没下雨。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但对于由一系列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构成的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代码摘要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，正确性就更复杂：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完全匹配（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 match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？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部分匹配（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Partial match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？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或者是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语义相似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？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幸运的是，代码摘要的评估领域已有不少研究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[Haque et al. 2022; Mastropaolo et al. 2024; Roy et al. 2021; Shi et al. 2022]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61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RQ1.</a:t>
            </a:r>
            <a:r>
              <a:rPr lang="zh-CN" altLang="en-US" dirty="0"/>
              <a:t>研究</a:t>
            </a:r>
            <a:r>
              <a:rPr lang="en-US" altLang="zh-CN" dirty="0"/>
              <a:t>LLM </a:t>
            </a:r>
            <a:r>
              <a:rPr lang="zh-CN" altLang="en-US" dirty="0"/>
              <a:t>对每个生成</a:t>
            </a:r>
            <a:r>
              <a:rPr lang="en-US" altLang="zh-CN" dirty="0"/>
              <a:t>token</a:t>
            </a:r>
            <a:r>
              <a:rPr lang="zh-CN" altLang="en-US" dirty="0"/>
              <a:t>的置信度是否能直接作为整体可靠的置信度信号，使用</a:t>
            </a:r>
            <a:r>
              <a:rPr lang="en-US" altLang="zh-CN" dirty="0" err="1"/>
              <a:t>BERTScore</a:t>
            </a:r>
            <a:r>
              <a:rPr lang="zh-CN" altLang="en-US" dirty="0"/>
              <a:t>衡量生成摘要与人工摘要的相似度。</a:t>
            </a:r>
            <a:endParaRPr lang="en-US" altLang="zh-CN" dirty="0"/>
          </a:p>
          <a:p>
            <a:r>
              <a:rPr lang="en-US" altLang="zh-CN" dirty="0"/>
              <a:t>RQ2. </a:t>
            </a:r>
            <a:r>
              <a:rPr lang="zh-CN" altLang="en-US" dirty="0"/>
              <a:t>作者发现，直接将 </a:t>
            </a:r>
            <a:r>
              <a:rPr lang="en-US" altLang="zh-CN" dirty="0"/>
              <a:t>LLM </a:t>
            </a:r>
            <a:r>
              <a:rPr lang="zh-CN" altLang="en-US" dirty="0"/>
              <a:t>生成摘要的</a:t>
            </a:r>
            <a:r>
              <a:rPr lang="en-US" altLang="zh-CN" dirty="0"/>
              <a:t>token confidence</a:t>
            </a:r>
            <a:r>
              <a:rPr lang="zh-CN" altLang="en-US" dirty="0"/>
              <a:t>取平均得到的置信度校准效果不好。为改善这一问题，他们尝试使用</a:t>
            </a:r>
            <a:r>
              <a:rPr lang="en-US" altLang="zh-CN" dirty="0"/>
              <a:t>Platt Rescaling</a:t>
            </a:r>
            <a:r>
              <a:rPr lang="zh-CN" altLang="en-US" dirty="0"/>
              <a:t>方法，对模型的置信度进行调整，使其更好地与实际事件发生的频率相匹配。</a:t>
            </a:r>
            <a:endParaRPr lang="en-US" altLang="zh-CN" dirty="0"/>
          </a:p>
          <a:p>
            <a:r>
              <a:rPr lang="zh-CN" altLang="en-US" dirty="0"/>
              <a:t>作者在前两个研究问题中是按整段输出的所有令牌平均概率来衡量 </a:t>
            </a:r>
            <a:r>
              <a:rPr lang="en-US" altLang="zh-CN" dirty="0"/>
              <a:t>LLM </a:t>
            </a:r>
            <a:r>
              <a:rPr lang="zh-CN" altLang="en-US" dirty="0"/>
              <a:t>的置信度。但他们发现，生成序列中前后令牌的概率分布差异显著，因此提出 </a:t>
            </a:r>
            <a:r>
              <a:rPr lang="en-US" altLang="zh-CN" dirty="0"/>
              <a:t>RQ3</a:t>
            </a:r>
            <a:r>
              <a:rPr lang="zh-CN" altLang="en-US" dirty="0"/>
              <a:t>：探究生成摘要中早期令牌的置信度校准效果是否优于后期令牌。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871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检索增强的少样本学习：提供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个方法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注释示例；使用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BM25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检索与最终查询最相关的示例以提升效果。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ASAP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利用静态分析提取“中间推理步骤”，注入信息包括仓库元数据、带作用域的标识符类型与数据流信息，形成类似链式思维的提示。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661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210C3-DA49-6F8E-618C-A677D797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160F7E-F33E-061B-93BD-43B932F2A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285D72-8078-C08C-0E5B-C51B01662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在假设令牌独立的情况下，序列概率为所有令牌概率的乘积；归一化后取几何平均。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几何平均相比算术平均更适合表示序列的整体概率，也在实验证明有更好的校准效果。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使用几何平均能降低对个别高概率令牌的敏感度，减少过度自信的风险。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29ABE7-DD2A-F4EF-1323-813384FEAF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413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对于每段代码，取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位标注者评分的平均值，得到一个综合评分。使用该数据集评估不同自动相似度指标在判定“人工同意”与“人工不同意”时的分类准确性。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99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：调整模型预测概率，使其更符合实际事件的发生频率（提高校准度）。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Platt Scaling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（基于预测概率和真实标签的逻辑回归模型）。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选择理由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：在既有的软件工程研究中表现良好。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：采用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折交叉验证。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折进行训练，将回归模型应用于剩余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折。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每一折仅包含来自不同代码仓库的样本，避免训练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测试仓库重叠。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评估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：在所有折上累计计算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Brier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分数和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分数。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624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5387D-F731-FBCB-922C-A0B48C78C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A7984A-91C8-72F3-CF56-E57C5FD6A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C813A310-E27E-30BE-79B4-49DBC570302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目的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：研究仅使用摘要的首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个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token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来计算置信度是否能提供更好的校准效果。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假设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：初始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token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对后续内容约束更强，可能带来更准确的置信度。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方法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作为超参数，通过最大化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skill score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来确定最佳值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使用五折交叉验证，确保训练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测试在不同折中分离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评估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：对比“使用首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token”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与“使用所有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token”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Brier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分数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通过配对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检验判断显著性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使用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Benjamini-Hochberg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调整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值，减少虚假发现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C813A310-E27E-30BE-79B4-49DBC570302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目的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：研究仅使用摘要的首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个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token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来计算置信度是否能提供更好的校准效果。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假设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：初始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token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对后续内容约束更强，可能带来更准确的置信度。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方法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作为超参数，通过最大化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skill score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来确定最佳值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使用五折交叉验证，确保训练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测试在不同折中分离</a:t>
                </a:r>
              </a:p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评估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：对比“使用首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token”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与“使用所有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token”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Brier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分数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通过配对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检验判断显著性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使用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Benjamini-Hochberg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调整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值，减少虚假发现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D19AA0-9F01-2DC2-019A-FE7154A6E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002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5F53D-0FEC-B210-6816-2C0CCA661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46E648-2C50-CDF7-6E08-19A1B777B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2BE1DD-D2A8-74BA-A697-5C4694713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实验设置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BM25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检索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few-shot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示例生成摘要，使用最佳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阈值的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BERTScore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进行校准评价。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Brier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：这是衡量预测概率与实际正确性差距的指标，越低越好。结果是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0.25~0.57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，太高了，说明模型的置信度预测比随机猜测还差。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ECE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 Calibration Error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：衡量预测概率的平均偏差，也很高 → 不理想。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 score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：负数 → 表示表现比一个简单基准模型还差。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虽然这些统计指标很差，但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可靠性图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仍然显示模型的置信度有一点规律性（有“信号”）。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相关性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置信度和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BERTScore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（衡量模型摘要与参考摘要的相似度）之间的相关性很低（在最佳情况下也只有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ρ = 0.45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），也就是置信度并不能很好地预测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BERTScore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他们强调：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置信度的意义不是直接等于 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BERTScore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比如：模型给出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90%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的置信度，并不是说它的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BERTScore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会是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0.9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，而是说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90%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的概率这个摘要是可接受的。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CA2F3D-2E58-8F61-0613-0E0BF3E09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378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1F3A8-1575-997D-81F8-3D98AEAEA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90878E-F7D7-320E-A32B-8DAF2AF42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F3F628-AC22-0292-6B15-F14337FD2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重标定效果：所有模型和语言的校准显著改善；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 score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全为正；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DeepSeek-Coder-33B (Java)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CodeLlama-70b (Python)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最高达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Brier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分数低至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0.11–0.17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仅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0.01–0.03 →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校准良好。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GPT-3.5-Turbo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改善最少。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99E892-D0B0-6CEA-9CD2-B78BC16C5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4455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6644E-B711-7778-0FE4-561C12580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BE326D-81EC-C01D-A01A-D895DB1B6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F98FF1-6225-0945-B205-552848080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ASAP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（静态分析信息）影响：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所有模型成功率提高。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 score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下降（可能信息冗余）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 score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上升（信息补充有用）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存在性能与校准的权衡。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4EED4C-3646-97D5-2744-EEB31A7DD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3303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76C8E-E363-C814-0367-735617CE6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4195BB-4245-5DA7-6652-ECA8D0937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E9477B-D76F-2638-2F93-8E822B007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阈值影响：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高精度阈值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BERTScore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≥ 0.89)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：成功率低但校准很好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(&gt;0.2 skill)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高召回阈值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SentenceBERT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≥ 0.80)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：成功率高，校准良好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(&gt;0.08 skill)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阈值选择对校准有显著影响。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8A9296-D9C3-7155-4744-570B5D1DD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8282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AC77-5B27-6EF4-AE39-6C95E56C0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792054-70F3-03E7-4EC4-94FFCDAC2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5D8F92-B278-5B91-7DC4-C239F36C6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85B908-C0F2-B17B-E503-C2591D3EB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9690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091CE-044F-3948-1F7C-F0CF2C45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D6E402-CE40-324C-E4CF-D116844CB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DA72AEF9-9631-13CD-620D-A50CA43D51E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技能分数变化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：前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7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token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信号强，加入更多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token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会稀释不确定性 →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skill score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降低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短摘要下，仅用前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token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影响较小</a:t>
                </a:r>
              </a:p>
              <a:p>
                <a:br>
                  <a:rPr lang="zh-CN" altLang="en-US" dirty="0"/>
                </a:br>
                <a:endParaRPr lang="zh-CN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DA72AEF9-9631-13CD-620D-A50CA43D51E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技能分数变化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：前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7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个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token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信号强，加入更多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token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会稀释不确定性 →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skill score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降低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短摘要下，仅用前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token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影响较小</a:t>
                </a:r>
              </a:p>
              <a:p>
                <a:br>
                  <a:rPr lang="zh-CN" altLang="en-US" dirty="0"/>
                </a:br>
                <a:endParaRPr lang="zh-CN" alt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0D3AF5-649E-D7B3-0481-D1BC64E3D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16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潜在问题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：如果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摘要质量高于开源摘要，那么使用开源摘要作为参考不合适，应采用人工整理摘要或无参考评估。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已知情况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：研究表明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摘要在人类评分中常优于开源摘要（完整性、准确性方面）。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限制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：现有证据依赖人类评分，而非与实际编程任务相关的性能；有人类评分与代码理解任务表现不相关的证据。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112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9D3D3-25FB-01D8-BB88-C47A862DC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E1F507-3D66-6861-D025-833590262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04E8DB-4832-74DF-2538-4F797B05D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背景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：代码摘要可能服务于不同意图（比如：做法、内容、原因）。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现状问题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：现有相似度指标无法明确识别和区分这些意图。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未来方向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：研究如何在自动评估指标和模型置信度预测中可靠地融入“摘要意图”。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E678DC-1A66-090E-DF40-8D388269F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3812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726C9-0B82-BDFC-21AA-5D5FF100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870499-9E70-3402-3FFD-374407D67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0CAF5B-3BBF-BE75-F578-FF24691D2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背景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缩放是常用的概率重标定方法；温度缩放在某些情境下优于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缩放。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限制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：温度缩放需要完整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softmax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输出，但现有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不提供。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146902-E88C-FECA-885F-E536C3C6E3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1356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FF8A7-8DF2-2973-412C-B019847A6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E3E802-1D65-EAFB-E789-83CFD8927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53FE99-DAAE-930C-F32B-CD60F7CBE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：测试模型能否“自我反思”并评估自己生成的摘要质量。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pPr lvl="1"/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Logit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法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True/False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问答提取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作为置信度（仅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GPT-3.5-Turbo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可行），结果严重过度自信，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 score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为负。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口头评分法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1–4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人类相似度分值（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CodeLlama-70B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仅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few-shot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有效），校准差，提升尝试无效。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：目前模型在自我反思式置信度评分方面校准很差。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C1199D-5BE1-BCB9-B0C5-63DD8059E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9C910-0FAB-4224-9614-F03EE58C05B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419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24018E-3400-3E7D-AB64-676A1883D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34B0372-E195-6650-5ECB-E75623AE5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22FDB1-6FB0-80C1-51B4-1FA9393B2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FE81-B48A-44E9-96F8-63AF01E46AA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1784C2-BA86-8F25-5BF1-1FA758A84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10BB96-9EB8-4CAD-0EA1-444BDE153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E272-26A6-442D-A4BD-1F56B0172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4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65A2A-0925-79E5-43F4-43A1313C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1A651-73F3-6546-2E08-35AA9F5CA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5C2B3D-2879-447B-9603-6B1D9F7C5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FE81-B48A-44E9-96F8-63AF01E46AA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B761BA-BF59-17D8-C878-5D89064C3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C6911B-D0AC-1621-626B-7F243A10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E272-26A6-442D-A4BD-1F56B0172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033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DACBB4-AF4C-7A88-0FDD-075F52E07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9E9BE8-A502-C56E-4531-2555AF1D4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7D1DFE-968C-72E5-9011-F5B33EC0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FE81-B48A-44E9-96F8-63AF01E46AA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A058DF-9911-2464-E097-947E45DDC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307856-EE72-1A92-4592-63BDA701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E272-26A6-442D-A4BD-1F56B0172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337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464589-DBAA-A95D-8285-27BE38248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BD53D4-A5C6-05AB-D5D3-46704CAA22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8941CA-9901-4D88-140E-2B0A94580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E43AAF-955A-87F3-8826-77B593C2E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FE81-B48A-44E9-96F8-63AF01E46AA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75998D-3FAB-4A30-1E92-B45612B0B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E96F47-A377-3130-EC43-0FFA09433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E272-26A6-442D-A4BD-1F56B0172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105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A2A26-04B0-ABB0-0923-54AC35A8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277E29-713E-8187-E19E-2203A8B49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F13234-87BF-B85C-CCD6-8E5278C71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3A48E6-270D-E044-D85E-578974B94B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85DDA46-3D30-E135-40CA-5EDA880076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C6E15F-F1A9-C8F4-838D-48DC01F23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FE81-B48A-44E9-96F8-63AF01E46AA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FE92F8-3D0B-CE20-51C9-4C0338AC0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B7E4846-1C5B-1B1D-AC2B-D7FDC567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E272-26A6-442D-A4BD-1F56B0172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89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32A1C1-93BC-640B-1540-2AD94D81A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A73D7D-3D8B-1620-BD91-7380E417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FE81-B48A-44E9-96F8-63AF01E46AA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7D9590-D8B3-F2B4-6BAA-C261909E7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CF2245-772A-0CBA-F500-9D6B2FD26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E272-26A6-442D-A4BD-1F56B0172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33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F0F62B-7C27-5616-A1DC-0EFB5035E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FE81-B48A-44E9-96F8-63AF01E46AA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5C7116-D2B6-3687-ABED-D14CE5BF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D589E9-8AC0-34D8-DA3E-070F758D8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E272-26A6-442D-A4BD-1F56B0172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983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C17066-A578-FF7D-A616-2ACDD2500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2E7FBD-5389-9C8A-31DC-7A0BFFAD4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4F5DB7-AD99-44F3-EB6E-7637B6CA7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14D09F-5C29-04B1-B168-CEA203EB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FE81-B48A-44E9-96F8-63AF01E46AA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D5EAF1-62D9-52B5-24D8-92CF56EF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FDBE93-9409-427F-C5F1-1BC00801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E272-26A6-442D-A4BD-1F56B0172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737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648392-CB79-D3AF-1177-3234B68E5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6362F0-29B2-12C8-9DFC-1239DB6705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EB36B9-9808-68CE-5D68-1ED869806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BF77D5-C634-EE54-60D3-974C343F1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FE81-B48A-44E9-96F8-63AF01E46AA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30A469-1269-AC9E-B4E4-D22593BF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7BCAC9-D68F-1BF0-CA25-3A249D4E4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E272-26A6-442D-A4BD-1F56B0172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924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D452C2-D123-8D9D-DCA5-BC75B5B81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D680D3-08B6-283A-8CC7-B8A05111D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A68D0-D2C6-F678-5457-7CE6CA75A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FE81-B48A-44E9-96F8-63AF01E46AA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74F80F-7719-7DB5-2C79-6887F26FA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94E157-18A4-FFB3-9487-CE23F6B48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E272-26A6-442D-A4BD-1F56B0172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28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63C1DF-A7CD-E870-76B0-7FAF73710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B850FD-C417-5D24-2A62-91E45745A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2E86E8-E070-2D41-85A4-C828F6D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FE81-B48A-44E9-96F8-63AF01E46AA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A24FE1-2C62-3218-DEED-8E8EC950E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8B0B9A-CE2D-FADC-1ED9-B828BCE39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E272-26A6-442D-A4BD-1F56B0172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21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69881A9-9107-ADF3-B3B5-B743A3FEB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2A03A0-2493-67D0-DE01-6F29220D0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965972-5FC2-A8C2-B2BF-63B7F4EFEE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1FE81-B48A-44E9-96F8-63AF01E46AA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8E8E8E-FC1D-C165-4251-B21AE42B1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7B2850-68B6-8D02-7F09-DF4F41E1B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2E272-26A6-442D-A4BD-1F56B0172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73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0BA1869-43B5-9CA0-C8E8-D8A33AEE6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71" y="78909"/>
            <a:ext cx="3211945" cy="167004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ACC5050-14B4-01FE-27AA-93E1AE09D779}"/>
              </a:ext>
            </a:extLst>
          </p:cNvPr>
          <p:cNvSpPr txBox="1"/>
          <p:nvPr/>
        </p:nvSpPr>
        <p:spPr>
          <a:xfrm>
            <a:off x="3644916" y="78909"/>
            <a:ext cx="43605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60A6FF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ACM International Conference on the Foundations of Software Engineering (FSE) 2025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202B9E-00D9-36CB-596D-0E40705CC781}"/>
              </a:ext>
            </a:extLst>
          </p:cNvPr>
          <p:cNvSpPr txBox="1"/>
          <p:nvPr/>
        </p:nvSpPr>
        <p:spPr>
          <a:xfrm>
            <a:off x="3657600" y="1094572"/>
            <a:ext cx="4703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9966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Exhibition | 23 – 27 June, 2025</a:t>
            </a:r>
          </a:p>
          <a:p>
            <a:r>
              <a:rPr lang="en-US" altLang="zh-CN" sz="1800" b="1" dirty="0">
                <a:solidFill>
                  <a:srgbClr val="996637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Venue | Clarion Hotel Trondheim, Norway</a:t>
            </a:r>
            <a:endParaRPr lang="zh-CN" altLang="en-US" sz="1800" b="1" dirty="0">
              <a:solidFill>
                <a:srgbClr val="996637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1D07288-ED49-2BCC-8DFF-ED1877702666}"/>
              </a:ext>
            </a:extLst>
          </p:cNvPr>
          <p:cNvGrpSpPr/>
          <p:nvPr/>
        </p:nvGrpSpPr>
        <p:grpSpPr>
          <a:xfrm>
            <a:off x="7926147" y="0"/>
            <a:ext cx="3210129" cy="1420238"/>
            <a:chOff x="7926147" y="0"/>
            <a:chExt cx="3210129" cy="1420238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1D43B165-2ADD-2BD9-599A-22E9DD681961}"/>
                </a:ext>
              </a:extLst>
            </p:cNvPr>
            <p:cNvSpPr/>
            <p:nvPr/>
          </p:nvSpPr>
          <p:spPr>
            <a:xfrm rot="10800000">
              <a:off x="7926147" y="0"/>
              <a:ext cx="3210129" cy="1420238"/>
            </a:xfrm>
            <a:custGeom>
              <a:avLst/>
              <a:gdLst>
                <a:gd name="connsiteX0" fmla="*/ 3692727 w 3692727"/>
                <a:gd name="connsiteY0" fmla="*/ 2088816 h 2088816"/>
                <a:gd name="connsiteX1" fmla="*/ 3239331 w 3692727"/>
                <a:gd name="connsiteY1" fmla="*/ 2088816 h 2088816"/>
                <a:gd name="connsiteX2" fmla="*/ 1846364 w 3692727"/>
                <a:gd name="connsiteY2" fmla="*/ 512934 h 2088816"/>
                <a:gd name="connsiteX3" fmla="*/ 453397 w 3692727"/>
                <a:gd name="connsiteY3" fmla="*/ 2088816 h 2088816"/>
                <a:gd name="connsiteX4" fmla="*/ 0 w 3692727"/>
                <a:gd name="connsiteY4" fmla="*/ 2088816 h 2088816"/>
                <a:gd name="connsiteX5" fmla="*/ 1846363 w 3692727"/>
                <a:gd name="connsiteY5" fmla="*/ 0 h 2088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92727" h="2088816">
                  <a:moveTo>
                    <a:pt x="3692727" y="2088816"/>
                  </a:moveTo>
                  <a:lnTo>
                    <a:pt x="3239331" y="2088816"/>
                  </a:lnTo>
                  <a:lnTo>
                    <a:pt x="1846364" y="512934"/>
                  </a:lnTo>
                  <a:lnTo>
                    <a:pt x="453397" y="2088816"/>
                  </a:lnTo>
                  <a:lnTo>
                    <a:pt x="0" y="2088816"/>
                  </a:lnTo>
                  <a:lnTo>
                    <a:pt x="184636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61EFA494-2290-A04F-86C4-CFF28D8DDF7A}"/>
                </a:ext>
              </a:extLst>
            </p:cNvPr>
            <p:cNvSpPr/>
            <p:nvPr/>
          </p:nvSpPr>
          <p:spPr>
            <a:xfrm rot="10800000">
              <a:off x="8498431" y="0"/>
              <a:ext cx="2065564" cy="914400"/>
            </a:xfrm>
            <a:custGeom>
              <a:avLst/>
              <a:gdLst>
                <a:gd name="connsiteX0" fmla="*/ 2065564 w 2065564"/>
                <a:gd name="connsiteY0" fmla="*/ 1168400 h 1168400"/>
                <a:gd name="connsiteX1" fmla="*/ 0 w 2065564"/>
                <a:gd name="connsiteY1" fmla="*/ 1168400 h 1168400"/>
                <a:gd name="connsiteX2" fmla="*/ 1032782 w 2065564"/>
                <a:gd name="connsiteY2" fmla="*/ 0 h 116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65564" h="1168400">
                  <a:moveTo>
                    <a:pt x="2065564" y="1168400"/>
                  </a:moveTo>
                  <a:lnTo>
                    <a:pt x="0" y="1168400"/>
                  </a:lnTo>
                  <a:lnTo>
                    <a:pt x="103278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06623D2F-3F5A-DB19-B550-ED6D308EC03A}"/>
              </a:ext>
            </a:extLst>
          </p:cNvPr>
          <p:cNvSpPr txBox="1"/>
          <p:nvPr/>
        </p:nvSpPr>
        <p:spPr>
          <a:xfrm>
            <a:off x="434788" y="2410967"/>
            <a:ext cx="11322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Calibration of Large Language Models on Code Summarization</a:t>
            </a:r>
            <a:endParaRPr lang="zh-CN" altLang="en-US" sz="54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8C3E0B-64C7-D2F9-B635-D87D449C533E}"/>
              </a:ext>
            </a:extLst>
          </p:cNvPr>
          <p:cNvSpPr txBox="1"/>
          <p:nvPr/>
        </p:nvSpPr>
        <p:spPr>
          <a:xfrm>
            <a:off x="5569526" y="5156021"/>
            <a:ext cx="61876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YUVRAJ VIRK, 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UC Davis, United States </a:t>
            </a:r>
          </a:p>
          <a:p>
            <a:pPr algn="r"/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PREMKUMAR DEVANBU, 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UC Davis, United States </a:t>
            </a:r>
          </a:p>
          <a:p>
            <a:pPr algn="r"/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TOUFIQUE AHMED∗ , </a:t>
            </a:r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UC Davis &amp; IBM Research, United States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364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09C956D-A854-F1B5-6654-EE4370AFB816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Background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F86341-F397-9775-29C9-771943FAA1C4}"/>
              </a:ext>
            </a:extLst>
          </p:cNvPr>
          <p:cNvSpPr txBox="1"/>
          <p:nvPr/>
        </p:nvSpPr>
        <p:spPr>
          <a:xfrm>
            <a:off x="434788" y="749300"/>
            <a:ext cx="113224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summaries and comments help maintainers understand code.</a:t>
            </a:r>
          </a:p>
          <a:p>
            <a:pPr marL="571500" indent="-571500" fontAlgn="base"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LLM-generated summaries can be inaccurate, incomplete, e.g. generally, too dissimilar to one that a good developer might write.</a:t>
            </a:r>
          </a:p>
          <a:p>
            <a:pPr marL="571500" indent="-571500" fontAlgn="base"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It’s difficult to gauge whether an LLM-generated summary sufficiently resembles what a human might produce, without a “golden" human-produced summary to compare against.</a:t>
            </a:r>
          </a:p>
          <a:p>
            <a:pPr marL="571500" indent="-571500" fontAlgn="base"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424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D4E0A-64D1-94A0-93AB-F34B75816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EA77771-B8FB-F558-8760-77AB23DC1D84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D4B617C-7D8B-DF1D-4593-A64888754C10}"/>
              </a:ext>
            </a:extLst>
          </p:cNvPr>
          <p:cNvSpPr txBox="1"/>
          <p:nvPr/>
        </p:nvSpPr>
        <p:spPr>
          <a:xfrm>
            <a:off x="434788" y="743830"/>
            <a:ext cx="113224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Calibration problem: 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given just the code &amp; the summary from an LLM, can we compute a confidence measure, that provides a reliable indication of whether the summary sufficiently resembles what a human would have produced in this situation</a:t>
            </a:r>
          </a:p>
          <a:p>
            <a:pPr fontAlgn="base"/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A36151-4962-54DA-040C-F7B60DC41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86" y="2990599"/>
            <a:ext cx="10811428" cy="339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60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6808C-6C62-4C53-D86F-25E0CC59D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1D5414D-4AB6-30B2-75E1-D402F7D5D803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CC879E-0263-52FA-4148-D62A1FED83FD}"/>
              </a:ext>
            </a:extLst>
          </p:cNvPr>
          <p:cNvSpPr txBox="1"/>
          <p:nvPr/>
        </p:nvSpPr>
        <p:spPr>
          <a:xfrm>
            <a:off x="434788" y="749300"/>
            <a:ext cx="113224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Calibration: How to use unreliable outputs from flawed models</a:t>
            </a:r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17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FD036-930B-BE9B-CBD4-27D2A1318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69F0F00-568A-4658-F34E-C6329F22601E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BCE064-3C10-BF36-0F32-32B14969AB87}"/>
              </a:ext>
            </a:extLst>
          </p:cNvPr>
          <p:cNvSpPr txBox="1"/>
          <p:nvPr/>
        </p:nvSpPr>
        <p:spPr>
          <a:xfrm>
            <a:off x="434788" y="749300"/>
            <a:ext cx="11322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Correctness of a generated summary</a:t>
            </a:r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768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DDBD-B7BB-C827-9B5A-C3D334EAD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1521FFC-DF5E-E428-9E06-C9AB193C3B9C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solidFill>
                  <a:schemeClr val="bg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Research Questions</a:t>
            </a:r>
            <a:endParaRPr lang="zh-CN" altLang="en-US" sz="3200" dirty="0">
              <a:solidFill>
                <a:schemeClr val="bg1"/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F6B35E-7AE5-9B5F-5ACD-587825DF52B2}"/>
              </a:ext>
            </a:extLst>
          </p:cNvPr>
          <p:cNvSpPr txBox="1"/>
          <p:nvPr/>
        </p:nvSpPr>
        <p:spPr>
          <a:xfrm>
            <a:off x="434788" y="749300"/>
            <a:ext cx="1132242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RQ1: Are the LLM-produced confidence measures over the tokens in the generated summary well-calibrated?</a:t>
            </a:r>
          </a:p>
          <a:p>
            <a:pPr fontAlgn="base"/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RQ2: How does rescaling affect the calibration of various LLMs with respect to summary correctness?</a:t>
            </a:r>
          </a:p>
          <a:p>
            <a:pPr fontAlgn="base"/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RQ3: Are earlier tokens in the generated summary better calibrated than later tokens?</a:t>
            </a:r>
          </a:p>
        </p:txBody>
      </p:sp>
    </p:spTree>
    <p:extLst>
      <p:ext uri="{BB962C8B-B14F-4D97-AF65-F5344CB8AC3E}">
        <p14:creationId xmlns:p14="http://schemas.microsoft.com/office/powerpoint/2010/main" val="547543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24CBA-3042-323A-ABF5-4C977629B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C443924-4CD8-0850-AFC9-0E6A246CE0EA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10EF1A-8E11-5F0E-9F81-3FD9711A223E}"/>
              </a:ext>
            </a:extLst>
          </p:cNvPr>
          <p:cNvSpPr txBox="1"/>
          <p:nvPr/>
        </p:nvSpPr>
        <p:spPr>
          <a:xfrm>
            <a:off x="434788" y="749300"/>
            <a:ext cx="11322424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Experiment Models: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GPT-3.5-turbo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Code-Llama-70b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DeepSeek-Coder-33b Instruct</a:t>
            </a:r>
          </a:p>
          <a:p>
            <a:pPr fontAlgn="base"/>
            <a:endParaRPr lang="en-US" altLang="zh-CN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(ii) Prompting Methods: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Few-shot Learning: prompt models with 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exemplars as method-comment pairs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Retrieval Augmented: 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BM25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retrieval algorithm works better than few-shot learning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 Semantic Augmentation of Prompt 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(ASAP): static analysis to extract "intermediate reasoning steps," injecting information such as 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repository metadata, identifier types with scope, and dataflow information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forming prompts similar to </a:t>
            </a:r>
            <a:r>
              <a:rPr lang="en-US" altLang="zh-CN" sz="28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CoT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reasoning.</a:t>
            </a:r>
          </a:p>
        </p:txBody>
      </p:sp>
    </p:spTree>
    <p:extLst>
      <p:ext uri="{BB962C8B-B14F-4D97-AF65-F5344CB8AC3E}">
        <p14:creationId xmlns:p14="http://schemas.microsoft.com/office/powerpoint/2010/main" val="2734948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8DB4B-FB2F-05A7-4533-023FBF909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D4908CB-7E36-2521-E4D5-C1E740D000B4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77AFC3-9458-1DD7-4079-04A1CF85C573}"/>
              </a:ext>
            </a:extLst>
          </p:cNvPr>
          <p:cNvSpPr txBox="1"/>
          <p:nvPr/>
        </p:nvSpPr>
        <p:spPr>
          <a:xfrm>
            <a:off x="434788" y="749300"/>
            <a:ext cx="11322424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to measure models’ confidence in a token sequence? (RQ1)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the assumption of token independence, the sequence probability is the product of all token probabilities; after normalization, the geometric mean is taken.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Compared to the arithmetic mean, the geometric mean is better suited to represent the overall probability of a sequence and has empirically demonstrated better calibration performance.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the geometric mean reduces sensitivity to individual high-probability tokens, thereby lowering the risk of overconfidence.</a:t>
            </a:r>
          </a:p>
        </p:txBody>
      </p:sp>
    </p:spTree>
    <p:extLst>
      <p:ext uri="{BB962C8B-B14F-4D97-AF65-F5344CB8AC3E}">
        <p14:creationId xmlns:p14="http://schemas.microsoft.com/office/powerpoint/2010/main" val="556317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156DE-D2A7-310B-F98F-0A7A02B1C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307FF51-35D3-2A4A-1496-F78F53078303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EF215E-3DC7-FF53-FAE0-2C4D60B39E41}"/>
              </a:ext>
            </a:extLst>
          </p:cNvPr>
          <p:cNvSpPr txBox="1"/>
          <p:nvPr/>
        </p:nvSpPr>
        <p:spPr>
          <a:xfrm>
            <a:off x="434788" y="749300"/>
            <a:ext cx="1132242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Evaluating similarity to human-produced summaries (RQ1)</a:t>
            </a:r>
          </a:p>
          <a:p>
            <a:pPr fontAlgn="base"/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a binary notion of correctness which separates a </a:t>
            </a: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 and bad 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  <a:p>
            <a:pPr fontAlgn="base"/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selection for setting thresholds: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from paper "Semantic similarity metrics for evaluating source code summarization“, includes reference and generated summaries for 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210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Java methods 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method includes 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human-assigned similarity ratings, 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ratings ranging from "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Strongly Disagree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to "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Strongly Agree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SentenceBERT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offered the best correlation with human ratings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"correct" summary = at least an "Agree" rating </a:t>
            </a:r>
          </a:p>
        </p:txBody>
      </p:sp>
    </p:spTree>
    <p:extLst>
      <p:ext uri="{BB962C8B-B14F-4D97-AF65-F5344CB8AC3E}">
        <p14:creationId xmlns:p14="http://schemas.microsoft.com/office/powerpoint/2010/main" val="3929414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36AAD-9A47-BFA2-800A-641883F77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9F30027-B67A-7C64-03AF-005102A73F15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34553B-D336-471B-C62F-4FE259F98F2E}"/>
              </a:ext>
            </a:extLst>
          </p:cNvPr>
          <p:cNvSpPr txBox="1"/>
          <p:nvPr/>
        </p:nvSpPr>
        <p:spPr>
          <a:xfrm>
            <a:off x="434788" y="749300"/>
            <a:ext cx="1132242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Evaluating similarity to human-produced summaries (RQ1)</a:t>
            </a:r>
          </a:p>
          <a:p>
            <a:pPr fontAlgn="base"/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Selecting Thresholds: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automated similarity metrics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correct (perfect recall) while avoiding wrong classifications (perfect precision)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BERTScore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was a reasonable proxy for human judgement of similarity</a:t>
            </a:r>
          </a:p>
          <a:p>
            <a:pPr fontAlgn="base"/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perfect recall: correct and positive</a:t>
            </a:r>
          </a:p>
          <a:p>
            <a:pPr fontAlgn="base"/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perfect precision: positive and correct</a:t>
            </a:r>
          </a:p>
        </p:txBody>
      </p:sp>
    </p:spTree>
    <p:extLst>
      <p:ext uri="{BB962C8B-B14F-4D97-AF65-F5344CB8AC3E}">
        <p14:creationId xmlns:p14="http://schemas.microsoft.com/office/powerpoint/2010/main" val="280370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3DF0E-1359-3294-D0D5-B708F7D2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1863603-6BAE-C2BD-BB41-D268115D2CE6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2AFFD2-0E54-2331-6AEA-A54368C7E4BE}"/>
              </a:ext>
            </a:extLst>
          </p:cNvPr>
          <p:cNvSpPr txBox="1"/>
          <p:nvPr/>
        </p:nvSpPr>
        <p:spPr>
          <a:xfrm>
            <a:off x="434788" y="749300"/>
            <a:ext cx="1132242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Evaluating similarity to human-produced summaries (RQ1)</a:t>
            </a:r>
          </a:p>
          <a:p>
            <a:pPr fontAlgn="base"/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 search over the similarity and thresholds, at 0.01 intervals to identify: </a:t>
            </a:r>
          </a:p>
          <a:p>
            <a:pPr fontAlgn="base"/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the highest recall while maintaining a high precision (&gt; 0.9), </a:t>
            </a:r>
          </a:p>
          <a:p>
            <a:pPr fontAlgn="base"/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 the highest precision with high recall (&gt; 0.9), </a:t>
            </a:r>
          </a:p>
          <a:p>
            <a:pPr fontAlgn="base"/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 the highest F1 score (harmonic mean of precision and recall).</a:t>
            </a:r>
          </a:p>
          <a:p>
            <a:pPr fontAlgn="base"/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 classification strategies: Cautious (high precision), Lenient (high recall), and Balanced (best F1).</a:t>
            </a:r>
          </a:p>
          <a:p>
            <a:pPr fontAlgn="base"/>
            <a:r>
              <a:rPr lang="en-US" altLang="zh-CN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Results:</a:t>
            </a:r>
          </a:p>
          <a:p>
            <a:pPr fontAlgn="base"/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Precision: </a:t>
            </a:r>
            <a:r>
              <a:rPr lang="en-US" altLang="zh-CN" sz="28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BERTScore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threshold = 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0.89</a:t>
            </a:r>
          </a:p>
          <a:p>
            <a:pPr fontAlgn="base"/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Recall: </a:t>
            </a:r>
            <a:r>
              <a:rPr lang="en-US" altLang="zh-CN" sz="28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SentenceBERT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threshold = 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0.80</a:t>
            </a:r>
          </a:p>
          <a:p>
            <a:pPr fontAlgn="base"/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F1: </a:t>
            </a:r>
            <a:r>
              <a:rPr lang="en-US" altLang="zh-CN" sz="28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BERTScore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threshold = 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0.49</a:t>
            </a:r>
          </a:p>
        </p:txBody>
      </p:sp>
    </p:spTree>
    <p:extLst>
      <p:ext uri="{BB962C8B-B14F-4D97-AF65-F5344CB8AC3E}">
        <p14:creationId xmlns:p14="http://schemas.microsoft.com/office/powerpoint/2010/main" val="2521770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983AB-D7CC-134C-A49B-231BF0794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8E27B82-AEA3-852C-6A05-3465D6A5ADAC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326C5A5-0914-F038-7B44-B6B67319482F}"/>
              </a:ext>
            </a:extLst>
          </p:cNvPr>
          <p:cNvSpPr txBox="1"/>
          <p:nvPr/>
        </p:nvSpPr>
        <p:spPr>
          <a:xfrm>
            <a:off x="434788" y="749300"/>
            <a:ext cx="1132242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Experiment dataset</a:t>
            </a:r>
          </a:p>
          <a:p>
            <a:pPr fontAlgn="base"/>
            <a:endParaRPr lang="fr-FR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fr-FR" altLang="zh-CN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 </a:t>
            </a:r>
          </a:p>
          <a:p>
            <a:pPr fontAlgn="base"/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fr-FR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rom CodeXGLUE (Java: </a:t>
            </a:r>
            <a:r>
              <a:rPr lang="fr-FR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164923</a:t>
            </a:r>
            <a:r>
              <a:rPr lang="fr-FR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samples, Python: </a:t>
            </a:r>
            <a:r>
              <a:rPr lang="fr-FR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251820</a:t>
            </a:r>
            <a:r>
              <a:rPr lang="fr-FR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samples)</a:t>
            </a:r>
          </a:p>
          <a:p>
            <a:pPr fontAlgn="base"/>
            <a:endParaRPr lang="fr-FR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BM25 retrieval from the training set for relevant few-shot examples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set: 5,000 random samples per language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is de-duplicated to reduce train/test overlap</a:t>
            </a:r>
          </a:p>
          <a:p>
            <a:pPr fontAlgn="base"/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 Basis: </a:t>
            </a:r>
          </a:p>
          <a:p>
            <a:pPr fontAlgn="base"/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generated summaries with human-written reference summaries; correctness determined by semantic similarity ≥ threshold</a:t>
            </a:r>
          </a:p>
        </p:txBody>
      </p:sp>
    </p:spTree>
    <p:extLst>
      <p:ext uri="{BB962C8B-B14F-4D97-AF65-F5344CB8AC3E}">
        <p14:creationId xmlns:p14="http://schemas.microsoft.com/office/powerpoint/2010/main" val="95908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5255C-7C55-9ADF-D249-3AC282700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D6A49C8-2D4B-3839-DA57-22EB554530E6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BCD1F80-CF7E-A83F-384B-5CEB1DC99C2B}"/>
              </a:ext>
            </a:extLst>
          </p:cNvPr>
          <p:cNvSpPr txBox="1"/>
          <p:nvPr/>
        </p:nvSpPr>
        <p:spPr>
          <a:xfrm>
            <a:off x="434788" y="749300"/>
            <a:ext cx="11322424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Rescaling (RQ2)</a:t>
            </a:r>
          </a:p>
          <a:p>
            <a:pPr fontAlgn="base"/>
            <a:endParaRPr lang="en-US" altLang="zh-CN" sz="32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altLang="zh-CN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 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Adjust predicted probabilities to better match actual event frequencies for improved calibration.</a:t>
            </a:r>
          </a:p>
          <a:p>
            <a:pPr fontAlgn="base"/>
            <a:endParaRPr lang="en-US" altLang="zh-CN" sz="2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Method: 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Platt Scaling</a:t>
            </a:r>
          </a:p>
          <a:p>
            <a:pPr fontAlgn="base"/>
            <a:endParaRPr lang="en-US" altLang="zh-CN" sz="2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Procedure: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5-fold cross-validation.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 on 4 folds, apply regression to the remaining fold.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folds contain samples from different repositories to avoid overlap.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en-US" altLang="zh-C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Evaluation: </a:t>
            </a: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 cumulative 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Brier</a:t>
            </a: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</a:t>
            </a: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scores across all folds.</a:t>
            </a:r>
          </a:p>
        </p:txBody>
      </p:sp>
    </p:spTree>
    <p:extLst>
      <p:ext uri="{BB962C8B-B14F-4D97-AF65-F5344CB8AC3E}">
        <p14:creationId xmlns:p14="http://schemas.microsoft.com/office/powerpoint/2010/main" val="3577338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6A26B-D4A1-C238-5BB0-DEF187CF6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43BA023-5FAC-70D4-FD79-5BB365C69830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D91CAB-2EB1-79BE-51E9-A70CAE5AC76C}"/>
              </a:ext>
            </a:extLst>
          </p:cNvPr>
          <p:cNvSpPr txBox="1"/>
          <p:nvPr/>
        </p:nvSpPr>
        <p:spPr>
          <a:xfrm>
            <a:off x="434788" y="749300"/>
            <a:ext cx="1132242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Using the first tokens to compute confidences (RQ3)</a:t>
            </a:r>
          </a:p>
          <a:p>
            <a:pPr fontAlgn="base"/>
            <a:endParaRPr lang="en-US" altLang="zh-C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 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Investigate whether using only the first t tokens in a summary improves confidence calibration.</a:t>
            </a:r>
          </a:p>
          <a:p>
            <a:pPr fontAlgn="base"/>
            <a:r>
              <a:rPr lang="en-US" altLang="zh-CN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Hypothesis: </a:t>
            </a: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tokens strongly constrain subsequent content, potentially yielding more accurate confidence estimates.</a:t>
            </a:r>
          </a:p>
          <a:p>
            <a:pPr fontAlgn="base"/>
            <a:r>
              <a:rPr lang="en-US" altLang="zh-CN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Treat t as a hyperparameter; select the value that maximizes skill score.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5-fold cross-validation to determine and validate optimal t.</a:t>
            </a:r>
          </a:p>
          <a:p>
            <a:pPr fontAlgn="base"/>
            <a:r>
              <a:rPr lang="en-US" altLang="zh-CN" sz="2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Brier scores (MSE of confidence) for "first t tokens" vs. "all tokens".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paired t-test for statistical significance.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Adjust p-values via Benjamini-Hochberg to control false discovery rate.</a:t>
            </a:r>
            <a:endParaRPr lang="en-US" altLang="zh-C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562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C784B-C84B-9DA0-593B-F2F3B9B45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76F94A1-D1DE-53B8-F242-D9A5E3C4E4CE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Result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C212A5-EC38-4CC6-B5B8-C166A250EF6F}"/>
              </a:ext>
            </a:extLst>
          </p:cNvPr>
          <p:cNvSpPr txBox="1"/>
          <p:nvPr/>
        </p:nvSpPr>
        <p:spPr>
          <a:xfrm>
            <a:off x="434788" y="749300"/>
            <a:ext cx="113224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RQ1 Calibration: LLM Confidence vs. Summary Correctness</a:t>
            </a:r>
          </a:p>
          <a:p>
            <a:pPr fontAlgn="base"/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Calibration Metrics with summaries produced by Retrieval Augmented Few-Shot Summarization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DF242D8-5FB8-4D14-330B-E7E34941A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00" y="2195850"/>
            <a:ext cx="10080000" cy="298356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783B5C2-1862-F168-70BB-B7ADBDFBB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000" y="1775647"/>
            <a:ext cx="7200000" cy="508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783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48863-6EF2-0A69-CFE5-C3AE14699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5FA9C46-076B-3D0F-2C20-70877412CECA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Result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A7382C-7BD1-A704-C87D-964CD4B16E0E}"/>
              </a:ext>
            </a:extLst>
          </p:cNvPr>
          <p:cNvSpPr txBox="1"/>
          <p:nvPr/>
        </p:nvSpPr>
        <p:spPr>
          <a:xfrm>
            <a:off x="434788" y="749300"/>
            <a:ext cx="113224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RQ2: Platt Rescaled vs. Raw Calibration</a:t>
            </a:r>
          </a:p>
          <a:p>
            <a:pPr fontAlgn="base"/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Platt Rescaled Calibration using Retrieval Augmented Few-Shot Summarization on Java methods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776ABA1-B6DD-07D7-4DAD-0987053C2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00" y="2195850"/>
            <a:ext cx="10080000" cy="256754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F8C1401-BC23-E9E1-3EC6-23B2B9981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000" y="1830890"/>
            <a:ext cx="7200000" cy="502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6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C1C8E-B32A-88AE-6958-994684CD7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29E001E-B7DD-1159-3EB1-3CF2E941CD2D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Result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5E8C0E-04DA-63C8-7877-50C2BA06EE6C}"/>
              </a:ext>
            </a:extLst>
          </p:cNvPr>
          <p:cNvSpPr txBox="1"/>
          <p:nvPr/>
        </p:nvSpPr>
        <p:spPr>
          <a:xfrm>
            <a:off x="434788" y="749300"/>
            <a:ext cx="113224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RQ2: Platt Rescaled vs. Raw Calibration</a:t>
            </a:r>
          </a:p>
          <a:p>
            <a:pPr fontAlgn="base"/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Platt Rescaled Calibration using Automatic Semantic Augmentation + Retrieval Augmented Few-Shot for summarization of Java methods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320A1C-825A-72CB-F70E-B8F98A215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00" y="2129800"/>
            <a:ext cx="10080000" cy="259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941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E3E96-2484-045B-7177-72E0AD92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5EEB178-A8BE-87D7-244D-73DD32A3D7F5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Result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F55E47-4F99-52CF-B626-50B532812216}"/>
              </a:ext>
            </a:extLst>
          </p:cNvPr>
          <p:cNvSpPr txBox="1"/>
          <p:nvPr/>
        </p:nvSpPr>
        <p:spPr>
          <a:xfrm>
            <a:off x="434788" y="749300"/>
            <a:ext cx="1132242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RQ2: Platt Rescaled vs. Raw Calibration</a:t>
            </a:r>
          </a:p>
          <a:p>
            <a:pPr fontAlgn="base"/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Calibration under high precision and recall thresholds. Results are Platt Rescaled and summaries are generated using Automatic Semantic Augmentation + Retrieval Augmented Few-Shot for summarization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E72E979-D64B-B138-DB2D-C78EBA5BC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00" y="2626737"/>
            <a:ext cx="10080000" cy="279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670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36EF2-C0EE-86F5-3406-91C692922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E8105F2-48C7-AFDC-235B-93EF3DF7B662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Result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A388BC-AA53-1EF9-604D-0071866CC1BD}"/>
              </a:ext>
            </a:extLst>
          </p:cNvPr>
          <p:cNvSpPr txBox="1"/>
          <p:nvPr/>
        </p:nvSpPr>
        <p:spPr>
          <a:xfrm>
            <a:off x="434788" y="749300"/>
            <a:ext cx="113224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RQ3: Effect of Token Position on Confidence</a:t>
            </a:r>
          </a:p>
          <a:p>
            <a:pPr fontAlgn="base"/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confidence increases with token position; after ~20 tokens, probabilities plateau above 0.9.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16EDFF-F573-ABF7-DAC7-958655734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00" y="2195850"/>
            <a:ext cx="10080000" cy="4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45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27116-CA66-AF98-ADAB-66797EC45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5C60EDA-DA6C-5986-E2D8-66931429E335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Result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DE36F3-A79B-75E9-DAD3-C36B13A1588D}"/>
              </a:ext>
            </a:extLst>
          </p:cNvPr>
          <p:cNvSpPr txBox="1"/>
          <p:nvPr/>
        </p:nvSpPr>
        <p:spPr>
          <a:xfrm>
            <a:off x="434788" y="749300"/>
            <a:ext cx="113224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RQ3: Effect of Token Position on Confidence</a:t>
            </a:r>
          </a:p>
          <a:p>
            <a:pPr fontAlgn="base"/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skill score achieved, after </a:t>
            </a:r>
            <a:r>
              <a:rPr lang="en-US" altLang="zh-CN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platt</a:t>
            </a: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scaling, when taking the arithmetic mean of the first t tokens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11166BA-76BB-32CE-D8F7-8A726FDC9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000" y="2195850"/>
            <a:ext cx="5760000" cy="425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17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42AE9-DCC5-BC3C-9CD2-F4D44A2F9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8F4EA44-5C59-1770-F7A8-F320706CB7CB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Discussion: Threats &amp; Limitations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2CDBA6-755A-1FA5-8279-684EDBBE2799}"/>
              </a:ext>
            </a:extLst>
          </p:cNvPr>
          <p:cNvSpPr txBox="1"/>
          <p:nvPr/>
        </p:nvSpPr>
        <p:spPr>
          <a:xfrm>
            <a:off x="434788" y="749300"/>
            <a:ext cx="1132242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 LLMs surpass code summaries found in open-source projects?</a:t>
            </a:r>
          </a:p>
          <a:p>
            <a:pPr fontAlgn="base"/>
            <a:endParaRPr lang="en-US" altLang="zh-CN" sz="3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Potential Issue:</a:t>
            </a:r>
          </a:p>
          <a:p>
            <a:pPr fontAlgn="base"/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LLM summaries surpass open-source ones in quality, references should shift to curated summaries or reference-free evaluation methods.</a:t>
            </a:r>
          </a:p>
          <a:p>
            <a:pPr fontAlgn="base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Evidence:</a:t>
            </a:r>
          </a:p>
          <a:p>
            <a:pPr fontAlgn="base"/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studies report LLM summaries are preferred by participants over open-source summaries, scoring higher in completeness and accuracy.</a:t>
            </a:r>
          </a:p>
          <a:p>
            <a:pPr fontAlgn="base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Limitation:</a:t>
            </a:r>
          </a:p>
          <a:p>
            <a:pPr fontAlgn="base"/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Evidence relies on human ratings, not on-task programming performance; prior work shows human ratings may not correlate with comprehension task outcomes.</a:t>
            </a:r>
          </a:p>
        </p:txBody>
      </p:sp>
    </p:spTree>
    <p:extLst>
      <p:ext uri="{BB962C8B-B14F-4D97-AF65-F5344CB8AC3E}">
        <p14:creationId xmlns:p14="http://schemas.microsoft.com/office/powerpoint/2010/main" val="2782631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A2A03-38FA-581F-5E69-DB2B15018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3833B15-07FE-660B-D48A-6412F47081CF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Discussion: Threats &amp; Limitations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E99781-C7F0-2D7B-ACC4-5A246AB326B9}"/>
              </a:ext>
            </a:extLst>
          </p:cNvPr>
          <p:cNvSpPr txBox="1"/>
          <p:nvPr/>
        </p:nvSpPr>
        <p:spPr>
          <a:xfrm>
            <a:off x="434788" y="749300"/>
            <a:ext cx="1132242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Limitation: Summary Intent Capture</a:t>
            </a:r>
          </a:p>
          <a:p>
            <a:pPr fontAlgn="base"/>
            <a:endParaRPr lang="en-US" altLang="zh-CN" sz="3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summaries may reflect different intents—how something is done, what was done, or why it was done.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en-US" altLang="zh-C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Similarity metrics fail to explicitly capture or differentiate these intents.</a:t>
            </a:r>
          </a:p>
        </p:txBody>
      </p:sp>
    </p:spTree>
    <p:extLst>
      <p:ext uri="{BB962C8B-B14F-4D97-AF65-F5344CB8AC3E}">
        <p14:creationId xmlns:p14="http://schemas.microsoft.com/office/powerpoint/2010/main" val="4135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D0AE7-117F-267F-F794-B1DFC3269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234105-D64F-7A43-B36E-A1EE1D05FA9C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Discussion: Threats &amp; Limitations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AF39F7-B00F-C253-982A-89CD6D2C5470}"/>
              </a:ext>
            </a:extLst>
          </p:cNvPr>
          <p:cNvSpPr txBox="1"/>
          <p:nvPr/>
        </p:nvSpPr>
        <p:spPr>
          <a:xfrm>
            <a:off x="434788" y="749300"/>
            <a:ext cx="1132242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Limitation: Platt scaling</a:t>
            </a:r>
          </a:p>
          <a:p>
            <a:pPr fontAlgn="base"/>
            <a:endParaRPr lang="en-US" altLang="zh-CN" sz="3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Platt scaling is a common rescaling method; temperature scaling can outperform Platt scaling in certain cases.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en-US" altLang="zh-C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 scaling requires access to complete </a:t>
            </a:r>
            <a:r>
              <a:rPr lang="en-US" altLang="zh-CN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outputs, which current OpenAI and </a:t>
            </a:r>
            <a:r>
              <a:rPr lang="en-US" altLang="zh-CN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TogetherAI</a:t>
            </a: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APIs do not provide.</a:t>
            </a:r>
          </a:p>
        </p:txBody>
      </p:sp>
    </p:spTree>
    <p:extLst>
      <p:ext uri="{BB962C8B-B14F-4D97-AF65-F5344CB8AC3E}">
        <p14:creationId xmlns:p14="http://schemas.microsoft.com/office/powerpoint/2010/main" val="1150641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4DC00-1B31-0C1B-0F58-49F3AE6F7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721A5AE-1408-2D23-E13D-075DD88AB762}"/>
              </a:ext>
            </a:extLst>
          </p:cNvPr>
          <p:cNvSpPr/>
          <p:nvPr/>
        </p:nvSpPr>
        <p:spPr>
          <a:xfrm>
            <a:off x="0" y="0"/>
            <a:ext cx="12192000" cy="749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Discussion: Threats &amp; Limitations</a:t>
            </a:r>
            <a:endParaRPr lang="zh-CN" altLang="en-US" sz="3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CEFF74-079F-FEDB-2F39-23DBDAB43150}"/>
              </a:ext>
            </a:extLst>
          </p:cNvPr>
          <p:cNvSpPr txBox="1"/>
          <p:nvPr/>
        </p:nvSpPr>
        <p:spPr>
          <a:xfrm>
            <a:off x="434788" y="749300"/>
            <a:ext cx="1132242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Self-Reflection Calibration</a:t>
            </a:r>
          </a:p>
          <a:p>
            <a:pPr fontAlgn="base"/>
            <a:endParaRPr lang="en-US" altLang="zh-C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 </a:t>
            </a: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models’ ability to self-assess their own summaries.</a:t>
            </a:r>
          </a:p>
          <a:p>
            <a:pPr fontAlgn="base"/>
            <a:endParaRPr lang="en-US" altLang="zh-C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Logit-based: True/False human-likeness query; logit for “True” used as confidence (only GPT-3.5-Turbo feasible) — showed severe overconfidence and negative skill score; rescaling degraded to base rate.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Verbalized: 1–4 similarity rating; CodeLlama-70B failed in zero-shot but worked in few-shot; calibration poor in both settings; higher temperatures and voting did not help.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en-US" altLang="zh-C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 </a:t>
            </a:r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exhibited poor calibration for all self-reflective confidence measures tested.</a:t>
            </a:r>
          </a:p>
        </p:txBody>
      </p:sp>
    </p:spTree>
    <p:extLst>
      <p:ext uri="{BB962C8B-B14F-4D97-AF65-F5344CB8AC3E}">
        <p14:creationId xmlns:p14="http://schemas.microsoft.com/office/powerpoint/2010/main" val="380923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1713</TotalTime>
  <Words>2929</Words>
  <Application>Microsoft Office PowerPoint</Application>
  <PresentationFormat>宽屏</PresentationFormat>
  <Paragraphs>259</Paragraphs>
  <Slides>24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zbybr-PC</dc:creator>
  <cp:lastModifiedBy>zbybr-PC</cp:lastModifiedBy>
  <cp:revision>6</cp:revision>
  <dcterms:created xsi:type="dcterms:W3CDTF">2025-11-12T02:49:10Z</dcterms:created>
  <dcterms:modified xsi:type="dcterms:W3CDTF">2025-11-26T10:04:49Z</dcterms:modified>
</cp:coreProperties>
</file>