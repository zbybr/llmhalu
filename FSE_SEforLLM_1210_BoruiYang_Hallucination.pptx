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9.xml" ContentType="application/vnd.openxmlformats-officedocument.presentationml.tags+xml"/>
  <Override PartName="/ppt/notesSlides/notesSlide21.xml" ContentType="application/vnd.openxmlformats-officedocument.presentationml.notesSlide+xml"/>
  <Override PartName="/ppt/tags/tag20.xml" ContentType="application/vnd.openxmlformats-officedocument.presentationml.tags+xml"/>
  <Override PartName="/ppt/notesSlides/notesSlide22.xml" ContentType="application/vnd.openxmlformats-officedocument.presentationml.notesSlide+xml"/>
  <Override PartName="/ppt/tags/tag2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446" r:id="rId3"/>
    <p:sldId id="466" r:id="rId4"/>
    <p:sldId id="484" r:id="rId5"/>
    <p:sldId id="467" r:id="rId6"/>
    <p:sldId id="485" r:id="rId7"/>
    <p:sldId id="483" r:id="rId8"/>
    <p:sldId id="465" r:id="rId9"/>
    <p:sldId id="452" r:id="rId10"/>
    <p:sldId id="460" r:id="rId11"/>
    <p:sldId id="462" r:id="rId12"/>
    <p:sldId id="486" r:id="rId13"/>
    <p:sldId id="463" r:id="rId14"/>
    <p:sldId id="464" r:id="rId15"/>
    <p:sldId id="469" r:id="rId16"/>
    <p:sldId id="468" r:id="rId17"/>
    <p:sldId id="470" r:id="rId18"/>
    <p:sldId id="479" r:id="rId19"/>
    <p:sldId id="471" r:id="rId20"/>
    <p:sldId id="472" r:id="rId21"/>
    <p:sldId id="457" r:id="rId22"/>
    <p:sldId id="475" r:id="rId23"/>
    <p:sldId id="476" r:id="rId24"/>
    <p:sldId id="477" r:id="rId25"/>
    <p:sldId id="480"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A6FF"/>
    <a:srgbClr val="996637"/>
    <a:srgbClr val="3E7B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189" autoAdjust="0"/>
  </p:normalViewPr>
  <p:slideViewPr>
    <p:cSldViewPr snapToGrid="0">
      <p:cViewPr varScale="1">
        <p:scale>
          <a:sx n="104" d="100"/>
          <a:sy n="104" d="100"/>
        </p:scale>
        <p:origin x="834"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A379D-0D1A-4E06-9E3C-03AA6D69882F}" type="datetimeFigureOut">
              <a:rPr lang="zh-CN" altLang="en-US" smtClean="0"/>
              <a:t>2025/6/24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DD26D-E9B3-41BC-BFF6-C75AB9B434F6}" type="slidenum">
              <a:rPr lang="zh-CN" altLang="en-US" smtClean="0"/>
              <a:t>‹#›</a:t>
            </a:fld>
            <a:endParaRPr lang="zh-CN" altLang="en-US"/>
          </a:p>
        </p:txBody>
      </p:sp>
    </p:spTree>
    <p:extLst>
      <p:ext uri="{BB962C8B-B14F-4D97-AF65-F5344CB8AC3E}">
        <p14:creationId xmlns:p14="http://schemas.microsoft.com/office/powerpoint/2010/main" val="2589295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Greetings everyone, this is Borui Yang. </a:t>
            </a:r>
          </a:p>
          <a:p>
            <a:r>
              <a:rPr lang="en-US" altLang="zh-CN" dirty="0"/>
              <a:t>I am the first author of our paper titled “Detecting Hallucinations in Large Language Models with Metamorphic Relations”. </a:t>
            </a:r>
          </a:p>
          <a:p>
            <a:r>
              <a:rPr lang="en-US" altLang="zh-CN" dirty="0"/>
              <a:t>This work was finished during I was an intern in King’s College London under the guidance of Dr. Jie Zhang. I am also very lucky to collaborate with </a:t>
            </a:r>
            <a:r>
              <a:rPr lang="en-US" altLang="zh-CN" dirty="0">
                <a:latin typeface="Calibri" panose="020F0502020204030204" pitchFamily="34" charset="0"/>
                <a:ea typeface="Calibri" panose="020F0502020204030204" pitchFamily="34" charset="0"/>
                <a:cs typeface="Calibri" panose="020F0502020204030204" pitchFamily="34" charset="0"/>
              </a:rPr>
              <a:t>Md Afif Al Mamun</a:t>
            </a:r>
            <a:r>
              <a:rPr lang="en-US" altLang="zh-CN" dirty="0"/>
              <a:t> and Dr. </a:t>
            </a:r>
            <a:r>
              <a:rPr lang="en-US" altLang="zh-CN" dirty="0" err="1"/>
              <a:t>Gias</a:t>
            </a:r>
            <a:r>
              <a:rPr lang="en-US" altLang="zh-CN" dirty="0"/>
              <a:t> Uddin.</a:t>
            </a:r>
          </a:p>
          <a:p>
            <a:r>
              <a:rPr lang="en-US" altLang="zh-CN" dirty="0"/>
              <a:t>Today I’m totally excited to present this work at FSE. The core idea of our work is just like our title said, we use metamorphic relation to detect </a:t>
            </a:r>
            <a:r>
              <a:rPr lang="en-US" altLang="zh-CN" dirty="0" err="1"/>
              <a:t>llm</a:t>
            </a:r>
            <a:r>
              <a:rPr lang="en-US" altLang="zh-CN" dirty="0"/>
              <a:t> hallucinations.</a:t>
            </a:r>
            <a:endParaRPr lang="zh-CN" altLang="en-US" dirty="0"/>
          </a:p>
        </p:txBody>
      </p:sp>
      <p:sp>
        <p:nvSpPr>
          <p:cNvPr id="4" name="灯片编号占位符 3"/>
          <p:cNvSpPr>
            <a:spLocks noGrp="1"/>
          </p:cNvSpPr>
          <p:nvPr>
            <p:ph type="sldNum" sz="quarter" idx="10"/>
          </p:nvPr>
        </p:nvSpPr>
        <p:spPr/>
        <p:txBody>
          <a:bodyPr/>
          <a:lstStyle/>
          <a:p>
            <a:fld id="{D09BF7BD-8C5F-4F0C-83E1-4E200CF5A64B}" type="slidenum">
              <a:rPr lang="zh-CN" altLang="en-US" smtClean="0"/>
              <a:t>1</a:t>
            </a:fld>
            <a:endParaRPr lang="zh-CN" altLang="en-US" dirty="0"/>
          </a:p>
        </p:txBody>
      </p:sp>
    </p:spTree>
    <p:extLst>
      <p:ext uri="{BB962C8B-B14F-4D97-AF65-F5344CB8AC3E}">
        <p14:creationId xmlns:p14="http://schemas.microsoft.com/office/powerpoint/2010/main" val="949377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F5B69-790F-7F43-C10A-273F82861F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24E490-D572-957D-E340-81228862DC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CF6884-202A-CF05-1EE0-01B8B46D23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First, let’s go to this question, what is exactly a LLM hallucination?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biology, hallucination generally refers to a false perception that does not correspond to real external objects or events. </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the area of Large Language Models, hallucination refers to the generation of factually incorrect, irrelevant, or nonsensical content by LLMs, even when the output appears coherent.</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And why is detecting hallucinations essential?</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An analogy can be drawn to software testing, in software testing, identifying and analyzing bugs informs debugging, improves system reliability, and builds user trust. </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Similarly, hallucination detection in LLMs allows us to define trust boundaries, improve LLM design, and tailor applications for critical domains such as healthcare, legal, and education, where accuracy is important.</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1min</a:t>
            </a:r>
            <a:endParaRPr lang="zh-CN" altLang="en-US" dirty="0"/>
          </a:p>
        </p:txBody>
      </p:sp>
      <p:sp>
        <p:nvSpPr>
          <p:cNvPr id="4" name="灯片编号占位符 3">
            <a:extLst>
              <a:ext uri="{FF2B5EF4-FFF2-40B4-BE49-F238E27FC236}">
                <a16:creationId xmlns:a16="http://schemas.microsoft.com/office/drawing/2014/main" id="{CE9EEFA0-0F48-4FC9-C75D-EBDFA89CF02B}"/>
              </a:ext>
            </a:extLst>
          </p:cNvPr>
          <p:cNvSpPr>
            <a:spLocks noGrp="1"/>
          </p:cNvSpPr>
          <p:nvPr>
            <p:ph type="sldNum" sz="quarter" idx="10"/>
          </p:nvPr>
        </p:nvSpPr>
        <p:spPr/>
        <p:txBody>
          <a:bodyPr/>
          <a:lstStyle/>
          <a:p>
            <a:fld id="{D09BF7BD-8C5F-4F0C-83E1-4E200CF5A64B}" type="slidenum">
              <a:rPr lang="zh-CN" altLang="en-US" smtClean="0"/>
              <a:t>2</a:t>
            </a:fld>
            <a:endParaRPr lang="zh-CN" altLang="en-US" dirty="0"/>
          </a:p>
        </p:txBody>
      </p:sp>
    </p:spTree>
    <p:extLst>
      <p:ext uri="{BB962C8B-B14F-4D97-AF65-F5344CB8AC3E}">
        <p14:creationId xmlns:p14="http://schemas.microsoft.com/office/powerpoint/2010/main" val="1890204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66A7-A00F-5E7B-7DF9-CA90B189DC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00FF18-7E97-9DE9-87F5-3E92E4955B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F74A8B-13D1-D03B-2C34-A71B9C55A6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Sometimes, LLM hallucinations can even threaten your life, if you blindly follow the recipes provided by LLMs to make a pizza, you will finally find your teeth attached to a slice of pizza, impressive!</a:t>
            </a:r>
            <a:endParaRPr lang="zh-CN" altLang="en-US" dirty="0"/>
          </a:p>
        </p:txBody>
      </p:sp>
      <p:sp>
        <p:nvSpPr>
          <p:cNvPr id="4" name="灯片编号占位符 3">
            <a:extLst>
              <a:ext uri="{FF2B5EF4-FFF2-40B4-BE49-F238E27FC236}">
                <a16:creationId xmlns:a16="http://schemas.microsoft.com/office/drawing/2014/main" id="{5711F095-BCBC-02D2-43CE-041B6754407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9BF7BD-8C5F-4F0C-83E1-4E200CF5A64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55499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FF66-9C1B-DA07-6DAD-28FDF2005E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FED966-748E-1CC6-F6B8-FE42BD0CD9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FA89FF-FAED-41C1-53FD-C2443F064F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Remember that we use Metamorphic Relations</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 to detect hallucination,  but what are metamorphic relations and why they are proper to detect hallucinations?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MRs describe how a system’s output should change under controlled changes to its input, originally from software testing </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to handle the oracle problem</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Arial" panose="020B0604020202020204" pitchFamily="34" charset="0"/>
                <a:ea typeface="Calibri" panose="020F0502020204030204" pitchFamily="34" charset="0"/>
                <a:cs typeface="Arial" panose="020B0604020202020204" pitchFamily="34" charset="0"/>
              </a:rPr>
              <a:t>1min</a:t>
            </a:r>
            <a:endParaRPr lang="en-US" altLang="zh-CN" dirty="0"/>
          </a:p>
        </p:txBody>
      </p:sp>
      <p:sp>
        <p:nvSpPr>
          <p:cNvPr id="4" name="灯片编号占位符 3">
            <a:extLst>
              <a:ext uri="{FF2B5EF4-FFF2-40B4-BE49-F238E27FC236}">
                <a16:creationId xmlns:a16="http://schemas.microsoft.com/office/drawing/2014/main" id="{86D11376-B764-BF3B-51FD-E56DC42FFC2E}"/>
              </a:ext>
            </a:extLst>
          </p:cNvPr>
          <p:cNvSpPr>
            <a:spLocks noGrp="1"/>
          </p:cNvSpPr>
          <p:nvPr>
            <p:ph type="sldNum" sz="quarter" idx="10"/>
          </p:nvPr>
        </p:nvSpPr>
        <p:spPr/>
        <p:txBody>
          <a:bodyPr/>
          <a:lstStyle/>
          <a:p>
            <a:fld id="{D09BF7BD-8C5F-4F0C-83E1-4E200CF5A64B}" type="slidenum">
              <a:rPr lang="zh-CN" altLang="en-US" smtClean="0"/>
              <a:t>4</a:t>
            </a:fld>
            <a:endParaRPr lang="zh-CN" altLang="en-US" dirty="0"/>
          </a:p>
        </p:txBody>
      </p:sp>
    </p:spTree>
    <p:extLst>
      <p:ext uri="{BB962C8B-B14F-4D97-AF65-F5344CB8AC3E}">
        <p14:creationId xmlns:p14="http://schemas.microsoft.com/office/powerpoint/2010/main" val="567827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C2D85-8D94-721C-3EF5-753978220A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E91A16-A8D7-F480-72B5-4EACB37B2C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DD41B0-90C2-7761-28E5-DA4D5199EF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When the tester cannot correctly predict the expected result in testing process, that could lead to oracle problem,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quite similar to the hallucination problem in LLM, we actually usually don’t know the answer is correct or not without any connected knowledge.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That’s </a:t>
            </a:r>
            <a:r>
              <a:rPr lang="en-US" altLang="zh-CN" sz="1200" dirty="0">
                <a:solidFill>
                  <a:srgbClr val="000000"/>
                </a:solidFill>
                <a:latin typeface="Arial" panose="020B0604020202020204" pitchFamily="34" charset="0"/>
                <a:ea typeface="Calibri" panose="020F0502020204030204" pitchFamily="34" charset="0"/>
                <a:cs typeface="Arial" panose="020B0604020202020204" pitchFamily="34" charset="0"/>
              </a:rPr>
              <a:t>why it is possible to detect LLM hallucinations with MRs - we can also view it as an analogy to Software testing.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Arial" panose="020B0604020202020204" pitchFamily="34" charset="0"/>
                <a:ea typeface="Calibri" panose="020F0502020204030204" pitchFamily="34" charset="0"/>
                <a:cs typeface="Arial" panose="020B0604020202020204" pitchFamily="34" charset="0"/>
              </a:rPr>
              <a:t>By applying MRs to LLM outputs and checking if the </a:t>
            </a:r>
            <a:r>
              <a:rPr lang="en-US" altLang="zh-CN" sz="1200" dirty="0" err="1">
                <a:solidFill>
                  <a:srgbClr val="000000"/>
                </a:solidFill>
                <a:latin typeface="Arial" panose="020B0604020202020204" pitchFamily="34" charset="0"/>
                <a:ea typeface="Calibri" panose="020F0502020204030204" pitchFamily="34" charset="0"/>
                <a:cs typeface="Arial" panose="020B0604020202020204" pitchFamily="34" charset="0"/>
              </a:rPr>
              <a:t>mutantions</a:t>
            </a:r>
            <a:r>
              <a:rPr lang="en-US" altLang="zh-CN" sz="1200" dirty="0">
                <a:solidFill>
                  <a:srgbClr val="000000"/>
                </a:solidFill>
                <a:latin typeface="Arial" panose="020B0604020202020204" pitchFamily="34" charset="0"/>
                <a:ea typeface="Calibri" panose="020F0502020204030204" pitchFamily="34" charset="0"/>
                <a:cs typeface="Arial" panose="020B0604020202020204" pitchFamily="34" charset="0"/>
              </a:rPr>
              <a:t> follow expected relations, can reveal possible hallucinations. </a:t>
            </a:r>
          </a:p>
        </p:txBody>
      </p:sp>
      <p:sp>
        <p:nvSpPr>
          <p:cNvPr id="4" name="灯片编号占位符 3">
            <a:extLst>
              <a:ext uri="{FF2B5EF4-FFF2-40B4-BE49-F238E27FC236}">
                <a16:creationId xmlns:a16="http://schemas.microsoft.com/office/drawing/2014/main" id="{93EB9EAE-1323-E61C-D8D6-B1D7D13AF97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9BF7BD-8C5F-4F0C-83E1-4E200CF5A64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60809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42052-329F-987D-9CE0-A1B54AE6A0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C7C624-00A7-1CE1-A013-0513D0BCE0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8ECBD4-EF09-2D2C-FB74-25E836DA4A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 </a:t>
            </a:r>
            <a:r>
              <a:rPr lang="en-US" altLang="zh-CN" dirty="0" err="1"/>
              <a:t>currect</a:t>
            </a:r>
            <a:r>
              <a:rPr lang="en-US" altLang="zh-CN" dirty="0"/>
              <a:t> researches, one of the direct strategy of LLM hallucination detection is to use </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reliable knowledge sources, Huo’s work compare the response with the reliable answer, however this need external databases, and can lead to more costs.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We all know LLM hallucinations are inherently tied to the model’s uncertainty. The internal states of LLMs can serve as informative indicators of their uncertainty, </a:t>
            </a:r>
            <a:r>
              <a:rPr lang="en-US" altLang="zh-CN" sz="1200" dirty="0" err="1">
                <a:solidFill>
                  <a:srgbClr val="000000"/>
                </a:solidFill>
                <a:latin typeface="Calibri" panose="020F0502020204030204" pitchFamily="34" charset="0"/>
                <a:ea typeface="Calibri" panose="020F0502020204030204" pitchFamily="34" charset="0"/>
                <a:cs typeface="Calibri" panose="020F0502020204030204" pitchFamily="34" charset="0"/>
              </a:rPr>
              <a:t>Vanshney’s</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 work use this idea to detect hallucination. However, this method only work on the open-source models. We don’t have access to find those indicators in closed-source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Cohen’s work use another Language Model to check the response from the origin one, this also use other agent to solve the problem.</a:t>
            </a:r>
            <a:endParaRPr lang="zh-CN" altLang="en-US" dirty="0"/>
          </a:p>
        </p:txBody>
      </p:sp>
      <p:sp>
        <p:nvSpPr>
          <p:cNvPr id="4" name="灯片编号占位符 3">
            <a:extLst>
              <a:ext uri="{FF2B5EF4-FFF2-40B4-BE49-F238E27FC236}">
                <a16:creationId xmlns:a16="http://schemas.microsoft.com/office/drawing/2014/main" id="{801D7094-3BFB-14CB-9414-3B5CF19F4976}"/>
              </a:ext>
            </a:extLst>
          </p:cNvPr>
          <p:cNvSpPr>
            <a:spLocks noGrp="1"/>
          </p:cNvSpPr>
          <p:nvPr>
            <p:ph type="sldNum" sz="quarter" idx="10"/>
          </p:nvPr>
        </p:nvSpPr>
        <p:spPr/>
        <p:txBody>
          <a:bodyPr/>
          <a:lstStyle/>
          <a:p>
            <a:fld id="{D09BF7BD-8C5F-4F0C-83E1-4E200CF5A64B}" type="slidenum">
              <a:rPr lang="zh-CN" altLang="en-US" smtClean="0"/>
              <a:t>6</a:t>
            </a:fld>
            <a:endParaRPr lang="zh-CN" altLang="en-US" dirty="0"/>
          </a:p>
        </p:txBody>
      </p:sp>
    </p:spTree>
    <p:extLst>
      <p:ext uri="{BB962C8B-B14F-4D97-AF65-F5344CB8AC3E}">
        <p14:creationId xmlns:p14="http://schemas.microsoft.com/office/powerpoint/2010/main" val="521795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6B2CA-C980-7452-8DAA-18EF0160BD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6F2FB3-5FA9-78B9-460B-2C413E8C50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EB563E-DA9C-CCB4-680B-919D6EA038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to fill this gap: we proposed our method </a:t>
            </a:r>
            <a:r>
              <a:rPr lang="en-US" altLang="zh-CN" dirty="0" err="1"/>
              <a:t>MetaQA</a:t>
            </a:r>
            <a:r>
              <a:rPr lang="en-US" altLang="zh-CN" dirty="0"/>
              <a:t>, a lightweight, dependency-free hallucination detection method which means we don’t need external knowledge or truth verification sources.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Second, to the best of our knowledge, we are t</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he first to apply </a:t>
            </a:r>
            <a:r>
              <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rPr>
              <a:t>synonym- and antonym-based metamorphic relations</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 to detect hallucination in LLMs responses.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And we improve the </a:t>
            </a:r>
            <a:r>
              <a:rPr lang="en-US" altLang="zh-CN" sz="1200" dirty="0" err="1">
                <a:solidFill>
                  <a:srgbClr val="000000"/>
                </a:solidFill>
                <a:latin typeface="Calibri" panose="020F0502020204030204" pitchFamily="34" charset="0"/>
                <a:ea typeface="Calibri" panose="020F0502020204030204" pitchFamily="34" charset="0"/>
                <a:cs typeface="Calibri" panose="020F0502020204030204" pitchFamily="34" charset="0"/>
              </a:rPr>
              <a:t>TruthfulQA</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  - a hallucination evaluation benchmark by updating 238 questions with new, on-time, correct answers. This can support more accurate hallucination detection research in the future.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Last, we conduct a large-scale evaluation of our method </a:t>
            </a:r>
            <a:r>
              <a:rPr lang="en-US" altLang="zh-CN" sz="1200" dirty="0" err="1">
                <a:solidFill>
                  <a:srgbClr val="FF0000"/>
                </a:solidFill>
                <a:latin typeface="Calibri" panose="020F0502020204030204" pitchFamily="34" charset="0"/>
                <a:ea typeface="Calibri" panose="020F0502020204030204" pitchFamily="34" charset="0"/>
                <a:cs typeface="Calibri" panose="020F0502020204030204" pitchFamily="34" charset="0"/>
              </a:rPr>
              <a:t>MetaQA</a:t>
            </a:r>
            <a:r>
              <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altLang="zh-CN" sz="1200" dirty="0">
                <a:solidFill>
                  <a:srgbClr val="000000"/>
                </a:solidFill>
                <a:latin typeface="Calibri" panose="020F0502020204030204" pitchFamily="34" charset="0"/>
                <a:ea typeface="Calibri" panose="020F0502020204030204" pitchFamily="34" charset="0"/>
                <a:cs typeface="Calibri" panose="020F0502020204030204" pitchFamily="34" charset="0"/>
              </a:rPr>
              <a:t> showing superior performance over the baseline method. </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1min</a:t>
            </a:r>
            <a:endParaRPr lang="zh-CN" altLang="en-US" dirty="0"/>
          </a:p>
        </p:txBody>
      </p:sp>
      <p:sp>
        <p:nvSpPr>
          <p:cNvPr id="4" name="灯片编号占位符 3">
            <a:extLst>
              <a:ext uri="{FF2B5EF4-FFF2-40B4-BE49-F238E27FC236}">
                <a16:creationId xmlns:a16="http://schemas.microsoft.com/office/drawing/2014/main" id="{68A8F505-3F77-C530-22E2-E4A44C401C99}"/>
              </a:ext>
            </a:extLst>
          </p:cNvPr>
          <p:cNvSpPr>
            <a:spLocks noGrp="1"/>
          </p:cNvSpPr>
          <p:nvPr>
            <p:ph type="sldNum" sz="quarter" idx="10"/>
          </p:nvPr>
        </p:nvSpPr>
        <p:spPr/>
        <p:txBody>
          <a:bodyPr/>
          <a:lstStyle/>
          <a:p>
            <a:fld id="{D09BF7BD-8C5F-4F0C-83E1-4E200CF5A64B}" type="slidenum">
              <a:rPr lang="zh-CN" altLang="en-US" smtClean="0"/>
              <a:t>7</a:t>
            </a:fld>
            <a:endParaRPr lang="zh-CN" altLang="en-US" dirty="0"/>
          </a:p>
        </p:txBody>
      </p:sp>
    </p:spTree>
    <p:extLst>
      <p:ext uri="{BB962C8B-B14F-4D97-AF65-F5344CB8AC3E}">
        <p14:creationId xmlns:p14="http://schemas.microsoft.com/office/powerpoint/2010/main" val="2619623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9D7C-C523-3BD3-B32F-DE3D83E8F8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BF330E-A9EB-B3FE-BD86-94EB8BDA99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AE48E2-EBDB-2563-0752-5968615B4D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Here is the workflow of </a:t>
            </a:r>
            <a:r>
              <a:rPr lang="en-US" altLang="zh-CN" dirty="0" err="1"/>
              <a:t>MetaQA</a:t>
            </a:r>
            <a:r>
              <a:rPr lang="en-US" altLang="zh-CN" dirty="0"/>
              <a:t>, including 4 parts. Concise Question-Answering, Mutation Generation, Mutation Verification, and Hallucination Evaluation.</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0.5min</a:t>
            </a:r>
          </a:p>
        </p:txBody>
      </p:sp>
      <p:sp>
        <p:nvSpPr>
          <p:cNvPr id="4" name="灯片编号占位符 3">
            <a:extLst>
              <a:ext uri="{FF2B5EF4-FFF2-40B4-BE49-F238E27FC236}">
                <a16:creationId xmlns:a16="http://schemas.microsoft.com/office/drawing/2014/main" id="{1F9A2AC4-291F-629A-CF1D-96C8BA1C8D7A}"/>
              </a:ext>
            </a:extLst>
          </p:cNvPr>
          <p:cNvSpPr>
            <a:spLocks noGrp="1"/>
          </p:cNvSpPr>
          <p:nvPr>
            <p:ph type="sldNum" sz="quarter" idx="10"/>
          </p:nvPr>
        </p:nvSpPr>
        <p:spPr/>
        <p:txBody>
          <a:bodyPr/>
          <a:lstStyle/>
          <a:p>
            <a:fld id="{D09BF7BD-8C5F-4F0C-83E1-4E200CF5A64B}" type="slidenum">
              <a:rPr lang="zh-CN" altLang="en-US" smtClean="0"/>
              <a:t>8</a:t>
            </a:fld>
            <a:endParaRPr lang="zh-CN" altLang="en-US" dirty="0"/>
          </a:p>
        </p:txBody>
      </p:sp>
    </p:spTree>
    <p:extLst>
      <p:ext uri="{BB962C8B-B14F-4D97-AF65-F5344CB8AC3E}">
        <p14:creationId xmlns:p14="http://schemas.microsoft.com/office/powerpoint/2010/main" val="3005793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06FD-C545-3022-5F04-C73CC8668A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BC5CBA-F1CE-1E4F-8CE9-664DC489A8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54D97F-B8C3-86BC-5709-5C9890E776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The first part is </a:t>
            </a:r>
            <a:r>
              <a:rPr lang="en-US" altLang="zh-CN" dirty="0" err="1"/>
              <a:t>consise</a:t>
            </a:r>
            <a:r>
              <a:rPr lang="en-US" altLang="zh-CN" dirty="0"/>
              <a:t> question-answering, not all the questions have one simple answers, in typical interactions, LLMs often generate detailed and lengthy explanations.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So, we have this part, to prevent overly long responses from disrupting the workflow of subsequent modules, we prompt LLMs to generate brief, contextually grounded answers.</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0.5min</a:t>
            </a:r>
          </a:p>
        </p:txBody>
      </p:sp>
      <p:sp>
        <p:nvSpPr>
          <p:cNvPr id="4" name="灯片编号占位符 3">
            <a:extLst>
              <a:ext uri="{FF2B5EF4-FFF2-40B4-BE49-F238E27FC236}">
                <a16:creationId xmlns:a16="http://schemas.microsoft.com/office/drawing/2014/main" id="{A1B35734-F2A5-4B0A-527A-4E0AAEB6533E}"/>
              </a:ext>
            </a:extLst>
          </p:cNvPr>
          <p:cNvSpPr>
            <a:spLocks noGrp="1"/>
          </p:cNvSpPr>
          <p:nvPr>
            <p:ph type="sldNum" sz="quarter" idx="10"/>
          </p:nvPr>
        </p:nvSpPr>
        <p:spPr/>
        <p:txBody>
          <a:bodyPr/>
          <a:lstStyle/>
          <a:p>
            <a:fld id="{D09BF7BD-8C5F-4F0C-83E1-4E200CF5A64B}" type="slidenum">
              <a:rPr lang="zh-CN" altLang="en-US" smtClean="0"/>
              <a:t>9</a:t>
            </a:fld>
            <a:endParaRPr lang="zh-CN" altLang="en-US" dirty="0"/>
          </a:p>
        </p:txBody>
      </p:sp>
    </p:spTree>
    <p:extLst>
      <p:ext uri="{BB962C8B-B14F-4D97-AF65-F5344CB8AC3E}">
        <p14:creationId xmlns:p14="http://schemas.microsoft.com/office/powerpoint/2010/main" val="3592832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55DB9-DE71-501E-0627-5F0E66783E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0E4659-A500-07BD-89FE-C0D1DD578A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BA2676-7D1A-09F6-4413-7E463A228C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The second part is for creating multiple distinct high-quality mutations to the response.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We deploy 2 kinds of metamorphic relations and generate mutations.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First is synonym relation, a synonym mutant refers to a mutant maintains the same semantic meaning, mainly followed the following rules.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Second is antonym relation, that antonym mutants share opposite meaning to the origin response.</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1min</a:t>
            </a:r>
            <a:endParaRPr lang="zh-CN" altLang="en-US" dirty="0"/>
          </a:p>
        </p:txBody>
      </p:sp>
      <p:sp>
        <p:nvSpPr>
          <p:cNvPr id="4" name="灯片编号占位符 3">
            <a:extLst>
              <a:ext uri="{FF2B5EF4-FFF2-40B4-BE49-F238E27FC236}">
                <a16:creationId xmlns:a16="http://schemas.microsoft.com/office/drawing/2014/main" id="{AFFBCBB1-5080-CB75-C2EB-80966ABF1CE4}"/>
              </a:ext>
            </a:extLst>
          </p:cNvPr>
          <p:cNvSpPr>
            <a:spLocks noGrp="1"/>
          </p:cNvSpPr>
          <p:nvPr>
            <p:ph type="sldNum" sz="quarter" idx="10"/>
          </p:nvPr>
        </p:nvSpPr>
        <p:spPr/>
        <p:txBody>
          <a:bodyPr/>
          <a:lstStyle/>
          <a:p>
            <a:fld id="{D09BF7BD-8C5F-4F0C-83E1-4E200CF5A64B}" type="slidenum">
              <a:rPr lang="zh-CN" altLang="en-US" smtClean="0"/>
              <a:t>10</a:t>
            </a:fld>
            <a:endParaRPr lang="zh-CN" altLang="en-US" dirty="0"/>
          </a:p>
        </p:txBody>
      </p:sp>
    </p:spTree>
    <p:extLst>
      <p:ext uri="{BB962C8B-B14F-4D97-AF65-F5344CB8AC3E}">
        <p14:creationId xmlns:p14="http://schemas.microsoft.com/office/powerpoint/2010/main" val="3422511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3A3C2-C5C9-68FA-C160-AFBDAD6836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8847E6-5F54-B1B6-31CB-5E23F03EF8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924B95-DDE3-7C2C-CF71-BA79D5A1D8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 this example, after we have the question and answer, we generate several distinct mutations.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20DF9456-B451-211A-275E-A549AB25BF2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9BF7BD-8C5F-4F0C-83E1-4E200CF5A64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77918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39BF-EDA6-B790-B199-0E62C07BEE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100BA5-B648-818B-1A6A-8B3C4F4822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BBDC5A-1A39-A126-D667-2A1A9E33C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the third module, mutation verification. For each mutant, we verify if it conforms to expected truthfulness.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The checking results should follow the rules in figure: synonym mutants should be correct truth, which means no hallucination in origin response. In opposite, if they are not correct ground truth, means hallucination could occur in origin response. So is it same as antonym mutants.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Moreover, some questions in datasets may let LLMs associate fictional context, for ex, myths, fairy tales, movies, which could have influence on our process.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So, we also have special prompt to avoid this phenomenon as possible.</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1.5min</a:t>
            </a:r>
            <a:endParaRPr lang="zh-CN" altLang="en-US" dirty="0"/>
          </a:p>
        </p:txBody>
      </p:sp>
      <p:sp>
        <p:nvSpPr>
          <p:cNvPr id="4" name="灯片编号占位符 3">
            <a:extLst>
              <a:ext uri="{FF2B5EF4-FFF2-40B4-BE49-F238E27FC236}">
                <a16:creationId xmlns:a16="http://schemas.microsoft.com/office/drawing/2014/main" id="{83C2F5F9-B8C7-A566-7CBE-B8E3E2E92BC6}"/>
              </a:ext>
            </a:extLst>
          </p:cNvPr>
          <p:cNvSpPr>
            <a:spLocks noGrp="1"/>
          </p:cNvSpPr>
          <p:nvPr>
            <p:ph type="sldNum" sz="quarter" idx="10"/>
          </p:nvPr>
        </p:nvSpPr>
        <p:spPr/>
        <p:txBody>
          <a:bodyPr/>
          <a:lstStyle/>
          <a:p>
            <a:fld id="{D09BF7BD-8C5F-4F0C-83E1-4E200CF5A64B}" type="slidenum">
              <a:rPr lang="zh-CN" altLang="en-US" smtClean="0"/>
              <a:t>12</a:t>
            </a:fld>
            <a:endParaRPr lang="zh-CN" altLang="en-US" dirty="0"/>
          </a:p>
        </p:txBody>
      </p:sp>
    </p:spTree>
    <p:extLst>
      <p:ext uri="{BB962C8B-B14F-4D97-AF65-F5344CB8AC3E}">
        <p14:creationId xmlns:p14="http://schemas.microsoft.com/office/powerpoint/2010/main" val="1583689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BA8E8-44A0-0D54-6E35-1E3A2AE8FD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C43A3C-091F-7754-CE31-249A0ABA61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48FF5A-FC8B-B4A7-82F5-B306C0FB10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Finally, we calculate hallucination score based on the verification results, representing the </a:t>
            </a:r>
            <a:r>
              <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rPr>
              <a:t>likelihood of hallucination.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rPr>
              <a:t>The mapping rules are as followed.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rPr>
              <a:t>Then the </a:t>
            </a:r>
            <a:r>
              <a:rPr lang="en-US" altLang="zh-CN" sz="1200" dirty="0">
                <a:latin typeface="Calibri" panose="020F0502020204030204" pitchFamily="34" charset="0"/>
                <a:ea typeface="Calibri" panose="020F0502020204030204" pitchFamily="34" charset="0"/>
                <a:cs typeface="Calibri" panose="020F0502020204030204" pitchFamily="34" charset="0"/>
              </a:rPr>
              <a:t>total hallucination score will be calculated by this formula.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Since our baseline deploys a similar methodology to generate Hallucination Scores, we can directly compare our results with those of our baseline under the same benchmark.</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1min</a:t>
            </a:r>
            <a:endParaRPr lang="zh-CN" altLang="en-US" dirty="0"/>
          </a:p>
        </p:txBody>
      </p:sp>
      <p:sp>
        <p:nvSpPr>
          <p:cNvPr id="4" name="灯片编号占位符 3">
            <a:extLst>
              <a:ext uri="{FF2B5EF4-FFF2-40B4-BE49-F238E27FC236}">
                <a16:creationId xmlns:a16="http://schemas.microsoft.com/office/drawing/2014/main" id="{53581718-F029-8784-2B03-2885830FB6BC}"/>
              </a:ext>
            </a:extLst>
          </p:cNvPr>
          <p:cNvSpPr>
            <a:spLocks noGrp="1"/>
          </p:cNvSpPr>
          <p:nvPr>
            <p:ph type="sldNum" sz="quarter" idx="10"/>
          </p:nvPr>
        </p:nvSpPr>
        <p:spPr/>
        <p:txBody>
          <a:bodyPr/>
          <a:lstStyle/>
          <a:p>
            <a:fld id="{D09BF7BD-8C5F-4F0C-83E1-4E200CF5A64B}" type="slidenum">
              <a:rPr lang="zh-CN" altLang="en-US" smtClean="0"/>
              <a:t>13</a:t>
            </a:fld>
            <a:endParaRPr lang="zh-CN" altLang="en-US" dirty="0"/>
          </a:p>
        </p:txBody>
      </p:sp>
    </p:spTree>
    <p:extLst>
      <p:ext uri="{BB962C8B-B14F-4D97-AF65-F5344CB8AC3E}">
        <p14:creationId xmlns:p14="http://schemas.microsoft.com/office/powerpoint/2010/main" val="112863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A8B7-D5F4-EC70-0E33-3C38E648E7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6D4A83-ECB9-8627-1092-B2EF373F03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9274AB-EA96-CFF3-D5B5-A86480B379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After that, let's go to the experiment part.</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our work, we answered the following research questions by experiments.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Research Question 1 focuses on effectiveness.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Research question 2 is about Generalization, mainly about </a:t>
            </a:r>
            <a:r>
              <a:rPr lang="en-US" altLang="zh-CN" dirty="0" err="1"/>
              <a:t>MetaQA</a:t>
            </a:r>
            <a:r>
              <a:rPr lang="en-US" altLang="zh-CN" dirty="0"/>
              <a:t> on various categories.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Question 3 is about the stability of </a:t>
            </a:r>
            <a:r>
              <a:rPr lang="en-US" altLang="zh-CN" dirty="0" err="1"/>
              <a:t>MetaQA</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Question 4 explains why we select specific number of mutants in our experiment.</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Question 5 shows the sensitivity of </a:t>
            </a:r>
            <a:r>
              <a:rPr lang="en-US" altLang="zh-CN" dirty="0" err="1"/>
              <a:t>MetaQA</a:t>
            </a:r>
            <a:r>
              <a:rPr lang="en-US" altLang="zh-CN" dirty="0"/>
              <a:t> to threshold.</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1min</a:t>
            </a:r>
            <a:endParaRPr lang="zh-CN" altLang="en-US" dirty="0"/>
          </a:p>
        </p:txBody>
      </p:sp>
      <p:sp>
        <p:nvSpPr>
          <p:cNvPr id="4" name="灯片编号占位符 3">
            <a:extLst>
              <a:ext uri="{FF2B5EF4-FFF2-40B4-BE49-F238E27FC236}">
                <a16:creationId xmlns:a16="http://schemas.microsoft.com/office/drawing/2014/main" id="{20894158-1F78-2133-6FD0-9721F202D4B8}"/>
              </a:ext>
            </a:extLst>
          </p:cNvPr>
          <p:cNvSpPr>
            <a:spLocks noGrp="1"/>
          </p:cNvSpPr>
          <p:nvPr>
            <p:ph type="sldNum" sz="quarter" idx="10"/>
          </p:nvPr>
        </p:nvSpPr>
        <p:spPr/>
        <p:txBody>
          <a:bodyPr/>
          <a:lstStyle/>
          <a:p>
            <a:fld id="{D09BF7BD-8C5F-4F0C-83E1-4E200CF5A64B}" type="slidenum">
              <a:rPr lang="zh-CN" altLang="en-US" smtClean="0"/>
              <a:t>14</a:t>
            </a:fld>
            <a:endParaRPr lang="zh-CN" altLang="en-US" dirty="0"/>
          </a:p>
        </p:txBody>
      </p:sp>
    </p:spTree>
    <p:extLst>
      <p:ext uri="{BB962C8B-B14F-4D97-AF65-F5344CB8AC3E}">
        <p14:creationId xmlns:p14="http://schemas.microsoft.com/office/powerpoint/2010/main" val="1094033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38E1-995D-901D-4B24-B0D3CD9F75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F8CE83-189A-F9F6-BF4D-6011340180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E54330-D5C9-1225-02C9-C0C9EE5350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For the experiment, we select </a:t>
            </a:r>
            <a:r>
              <a:rPr lang="en-US" altLang="zh-CN" dirty="0" err="1"/>
              <a:t>SelfCheckGPT</a:t>
            </a:r>
            <a:r>
              <a:rPr lang="en-US" altLang="zh-CN" dirty="0"/>
              <a:t>, which is the most and the only similar one to our approach and which is also the state-of-art method.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What does </a:t>
            </a:r>
            <a:r>
              <a:rPr lang="en-US" altLang="zh-CN" dirty="0" err="1"/>
              <a:t>SelfCheckGPT</a:t>
            </a:r>
            <a:r>
              <a:rPr lang="en-US" altLang="zh-CN" dirty="0"/>
              <a:t> do, is that they will repeatedly feed the origin question to LLM and get sample answers.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Then it checks whether sample answers support the origin answer, generate a hallucination score.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And our experiment deploy on 3 datasets, </a:t>
            </a:r>
            <a:r>
              <a:rPr lang="en-US" altLang="zh-CN" dirty="0" err="1"/>
              <a:t>TruthfulQA</a:t>
            </a:r>
            <a:r>
              <a:rPr lang="en-US" altLang="zh-CN" dirty="0"/>
              <a:t> (</a:t>
            </a:r>
            <a:r>
              <a:rPr lang="en-US" altLang="zh-CN" dirty="0" err="1"/>
              <a:t>TruthfulQA</a:t>
            </a:r>
            <a:r>
              <a:rPr lang="en-US" altLang="zh-CN" dirty="0"/>
              <a:t> can evaluate models’ resistance to false narratives), </a:t>
            </a:r>
            <a:r>
              <a:rPr lang="en-US" altLang="zh-CN" dirty="0" err="1"/>
              <a:t>HotpotQA</a:t>
            </a:r>
            <a:r>
              <a:rPr lang="en-US" altLang="zh-CN" dirty="0"/>
              <a:t> (</a:t>
            </a:r>
            <a:r>
              <a:rPr lang="en-US" altLang="zh-CN" dirty="0" err="1"/>
              <a:t>HotpotQA</a:t>
            </a:r>
            <a:r>
              <a:rPr lang="en-US" altLang="zh-CN" dirty="0"/>
              <a:t> includes multi-hop reasoning and evidence-based questions) and </a:t>
            </a:r>
            <a:r>
              <a:rPr lang="en-US" altLang="zh-CN" dirty="0" err="1"/>
              <a:t>FreshQA</a:t>
            </a:r>
            <a:r>
              <a:rPr lang="en-US" altLang="zh-CN" dirty="0"/>
              <a:t> (</a:t>
            </a:r>
            <a:r>
              <a:rPr lang="en-US" altLang="zh-CN" dirty="0" err="1"/>
              <a:t>FreshQA</a:t>
            </a:r>
            <a:r>
              <a:rPr lang="en-US" altLang="zh-CN" dirty="0"/>
              <a:t> includes on-time questions).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We also deploy </a:t>
            </a:r>
            <a:r>
              <a:rPr lang="en-US" altLang="zh-CN" dirty="0" err="1"/>
              <a:t>experimentds</a:t>
            </a:r>
            <a:r>
              <a:rPr lang="en-US" altLang="zh-CN" dirty="0"/>
              <a:t> on 2 different kinds of LLMs - closed-source and open-source models, 4 in total. More details can be viewed in this table.</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0.5min</a:t>
            </a:r>
            <a:endParaRPr lang="zh-CN" altLang="en-US" dirty="0"/>
          </a:p>
        </p:txBody>
      </p:sp>
      <p:sp>
        <p:nvSpPr>
          <p:cNvPr id="4" name="灯片编号占位符 3">
            <a:extLst>
              <a:ext uri="{FF2B5EF4-FFF2-40B4-BE49-F238E27FC236}">
                <a16:creationId xmlns:a16="http://schemas.microsoft.com/office/drawing/2014/main" id="{BB0208B9-A0D5-8696-F4B1-0715B2ECE1A9}"/>
              </a:ext>
            </a:extLst>
          </p:cNvPr>
          <p:cNvSpPr>
            <a:spLocks noGrp="1"/>
          </p:cNvSpPr>
          <p:nvPr>
            <p:ph type="sldNum" sz="quarter" idx="10"/>
          </p:nvPr>
        </p:nvSpPr>
        <p:spPr/>
        <p:txBody>
          <a:bodyPr/>
          <a:lstStyle/>
          <a:p>
            <a:fld id="{D09BF7BD-8C5F-4F0C-83E1-4E200CF5A64B}" type="slidenum">
              <a:rPr lang="zh-CN" altLang="en-US" smtClean="0"/>
              <a:t>15</a:t>
            </a:fld>
            <a:endParaRPr lang="zh-CN" altLang="en-US" dirty="0"/>
          </a:p>
        </p:txBody>
      </p:sp>
    </p:spTree>
    <p:extLst>
      <p:ext uri="{BB962C8B-B14F-4D97-AF65-F5344CB8AC3E}">
        <p14:creationId xmlns:p14="http://schemas.microsoft.com/office/powerpoint/2010/main" val="2594992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8E91D-B815-8293-CD0D-F7A25D8AE5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422E97-3376-0D05-33D0-B4447A386B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D43588-1A72-904D-DB99-791CAEE800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For RQ1, Effectiveness, we have the results in this table, of comparison on </a:t>
            </a:r>
            <a:r>
              <a:rPr lang="en-US" altLang="zh-CN" dirty="0" err="1"/>
              <a:t>MetaQA</a:t>
            </a:r>
            <a:r>
              <a:rPr lang="en-US" altLang="zh-CN" dirty="0"/>
              <a:t> and </a:t>
            </a:r>
            <a:r>
              <a:rPr lang="en-US" altLang="zh-CN" dirty="0" err="1"/>
              <a:t>SelfCheckGPT</a:t>
            </a:r>
            <a:r>
              <a:rPr lang="en-US" altLang="zh-CN" dirty="0"/>
              <a:t> across multi datasets and multi LLMs with the default threshold.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Bold numbers indicate higher results, that is, the side with better performance.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So as you can see, mostly </a:t>
            </a:r>
            <a:r>
              <a:rPr lang="en-US" altLang="zh-CN" dirty="0" err="1"/>
              <a:t>MetaQA</a:t>
            </a:r>
            <a:r>
              <a:rPr lang="en-US" altLang="zh-CN" dirty="0"/>
              <a:t> outperforms </a:t>
            </a:r>
            <a:r>
              <a:rPr lang="en-US" altLang="zh-CN" dirty="0" err="1"/>
              <a:t>SelfCheckGPT</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0.75min</a:t>
            </a:r>
            <a:endParaRPr lang="zh-CN" altLang="en-US" dirty="0"/>
          </a:p>
        </p:txBody>
      </p:sp>
      <p:sp>
        <p:nvSpPr>
          <p:cNvPr id="4" name="灯片编号占位符 3">
            <a:extLst>
              <a:ext uri="{FF2B5EF4-FFF2-40B4-BE49-F238E27FC236}">
                <a16:creationId xmlns:a16="http://schemas.microsoft.com/office/drawing/2014/main" id="{194EFFC6-EFA3-6C92-08FC-6FBC5A29CE7D}"/>
              </a:ext>
            </a:extLst>
          </p:cNvPr>
          <p:cNvSpPr>
            <a:spLocks noGrp="1"/>
          </p:cNvSpPr>
          <p:nvPr>
            <p:ph type="sldNum" sz="quarter" idx="10"/>
          </p:nvPr>
        </p:nvSpPr>
        <p:spPr/>
        <p:txBody>
          <a:bodyPr/>
          <a:lstStyle/>
          <a:p>
            <a:fld id="{D09BF7BD-8C5F-4F0C-83E1-4E200CF5A64B}" type="slidenum">
              <a:rPr lang="zh-CN" altLang="en-US" smtClean="0"/>
              <a:t>16</a:t>
            </a:fld>
            <a:endParaRPr lang="zh-CN" altLang="en-US" dirty="0"/>
          </a:p>
        </p:txBody>
      </p:sp>
    </p:spTree>
    <p:extLst>
      <p:ext uri="{BB962C8B-B14F-4D97-AF65-F5344CB8AC3E}">
        <p14:creationId xmlns:p14="http://schemas.microsoft.com/office/powerpoint/2010/main" val="1456999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E33CF-6E2F-B944-FA62-E65776C6CC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178E15-5CDE-4299-F626-8C78C2CB7B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FDB1A4-3372-6D3B-5398-91EEB5A163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RQ2, we compare the hallucination detection effectiveness of </a:t>
            </a:r>
            <a:r>
              <a:rPr lang="en-US" altLang="zh-CN" dirty="0" err="1"/>
              <a:t>MetaQA</a:t>
            </a:r>
            <a:r>
              <a:rPr lang="en-US" altLang="zh-CN" dirty="0"/>
              <a:t> and </a:t>
            </a:r>
            <a:r>
              <a:rPr lang="en-US" altLang="zh-CN" dirty="0" err="1"/>
              <a:t>SelfCheckGPT</a:t>
            </a:r>
            <a:r>
              <a:rPr lang="en-US" altLang="zh-CN" dirty="0"/>
              <a:t> across the six most frequently occurring categories in the </a:t>
            </a:r>
            <a:r>
              <a:rPr lang="en-US" altLang="zh-CN" dirty="0" err="1"/>
              <a:t>TruthfulQA</a:t>
            </a:r>
            <a:r>
              <a:rPr lang="en-US" altLang="zh-CN" dirty="0"/>
              <a:t> datasets.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It can be seen that </a:t>
            </a:r>
            <a:r>
              <a:rPr lang="en-US" altLang="zh-CN" dirty="0" err="1"/>
              <a:t>MetaQA</a:t>
            </a:r>
            <a:r>
              <a:rPr lang="en-US" altLang="zh-CN" dirty="0"/>
              <a:t> still outperforms </a:t>
            </a:r>
            <a:r>
              <a:rPr lang="en-US" altLang="zh-CN" dirty="0" err="1"/>
              <a:t>SelfCheckGPT</a:t>
            </a:r>
            <a:r>
              <a:rPr lang="en-US" altLang="zh-CN" dirty="0"/>
              <a:t> in those specific domains.</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0.5min</a:t>
            </a:r>
            <a:endParaRPr lang="zh-CN" altLang="en-US" dirty="0"/>
          </a:p>
        </p:txBody>
      </p:sp>
      <p:sp>
        <p:nvSpPr>
          <p:cNvPr id="4" name="灯片编号占位符 3">
            <a:extLst>
              <a:ext uri="{FF2B5EF4-FFF2-40B4-BE49-F238E27FC236}">
                <a16:creationId xmlns:a16="http://schemas.microsoft.com/office/drawing/2014/main" id="{27C0C106-EAEA-F765-1EC2-A0FAB1EF388C}"/>
              </a:ext>
            </a:extLst>
          </p:cNvPr>
          <p:cNvSpPr>
            <a:spLocks noGrp="1"/>
          </p:cNvSpPr>
          <p:nvPr>
            <p:ph type="sldNum" sz="quarter" idx="10"/>
          </p:nvPr>
        </p:nvSpPr>
        <p:spPr/>
        <p:txBody>
          <a:bodyPr/>
          <a:lstStyle/>
          <a:p>
            <a:fld id="{D09BF7BD-8C5F-4F0C-83E1-4E200CF5A64B}" type="slidenum">
              <a:rPr lang="zh-CN" altLang="en-US" smtClean="0"/>
              <a:t>17</a:t>
            </a:fld>
            <a:endParaRPr lang="zh-CN" altLang="en-US" dirty="0"/>
          </a:p>
        </p:txBody>
      </p:sp>
    </p:spTree>
    <p:extLst>
      <p:ext uri="{BB962C8B-B14F-4D97-AF65-F5344CB8AC3E}">
        <p14:creationId xmlns:p14="http://schemas.microsoft.com/office/powerpoint/2010/main" val="2936120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B71E9-EFDC-F404-6874-A875846AB6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3B8C3E-BF25-A7E2-7E3A-31DC3CD91E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C73B7D-3871-3B70-7E28-2F830A0D01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Given the randomness of hallucination generation in LLMs and the reliance of </a:t>
            </a:r>
            <a:r>
              <a:rPr lang="en-US" altLang="zh-CN" dirty="0" err="1"/>
              <a:t>MetaQA’s</a:t>
            </a:r>
            <a:r>
              <a:rPr lang="en-US" altLang="zh-CN" dirty="0"/>
              <a:t> workflow only on the LLM itself, it is crucial to assess whether </a:t>
            </a:r>
            <a:r>
              <a:rPr lang="en-US" altLang="zh-CN" dirty="0" err="1"/>
              <a:t>MetaQA</a:t>
            </a:r>
            <a:r>
              <a:rPr lang="en-US" altLang="zh-CN" dirty="0"/>
              <a:t> is affected by these uncertainties.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Therefore, we designed an experiment to verify the gap between the results of multiple experiments</a:t>
            </a:r>
            <a:r>
              <a:rPr lang="en-US" altLang="zh-CN"/>
              <a:t>. It </a:t>
            </a:r>
            <a:r>
              <a:rPr lang="en-US" altLang="zh-CN" dirty="0"/>
              <a:t>can be seen that within our preset threshold, </a:t>
            </a:r>
            <a:r>
              <a:rPr lang="en-US" altLang="zh-CN" dirty="0" err="1"/>
              <a:t>MetaQA’s</a:t>
            </a:r>
            <a:r>
              <a:rPr lang="en-US" altLang="zh-CN" dirty="0"/>
              <a:t> performance is quite stable.</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0.75min</a:t>
            </a:r>
            <a:endParaRPr lang="zh-CN" altLang="en-US" dirty="0"/>
          </a:p>
        </p:txBody>
      </p:sp>
      <p:sp>
        <p:nvSpPr>
          <p:cNvPr id="4" name="灯片编号占位符 3">
            <a:extLst>
              <a:ext uri="{FF2B5EF4-FFF2-40B4-BE49-F238E27FC236}">
                <a16:creationId xmlns:a16="http://schemas.microsoft.com/office/drawing/2014/main" id="{BA245A3B-948D-9E5A-9917-6426D204574A}"/>
              </a:ext>
            </a:extLst>
          </p:cNvPr>
          <p:cNvSpPr>
            <a:spLocks noGrp="1"/>
          </p:cNvSpPr>
          <p:nvPr>
            <p:ph type="sldNum" sz="quarter" idx="10"/>
          </p:nvPr>
        </p:nvSpPr>
        <p:spPr/>
        <p:txBody>
          <a:bodyPr/>
          <a:lstStyle/>
          <a:p>
            <a:fld id="{D09BF7BD-8C5F-4F0C-83E1-4E200CF5A64B}" type="slidenum">
              <a:rPr lang="zh-CN" altLang="en-US" smtClean="0"/>
              <a:t>18</a:t>
            </a:fld>
            <a:endParaRPr lang="zh-CN" altLang="en-US" dirty="0"/>
          </a:p>
        </p:txBody>
      </p:sp>
    </p:spTree>
    <p:extLst>
      <p:ext uri="{BB962C8B-B14F-4D97-AF65-F5344CB8AC3E}">
        <p14:creationId xmlns:p14="http://schemas.microsoft.com/office/powerpoint/2010/main" val="3344068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53BB4-6ED8-E810-4590-BAB37BA3B6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9B18DE-F718-D67A-FA46-E22066E7EE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1C8DA3-AAE3-C194-A92F-AA7E1603BA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This experiment explains why we use specific number of mutants. We use 10 in our experiments.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As can be seen from the figure, when the number is less than 10, the parameter is in a state of obvious increase, but after the number reaches 10, the performance of </a:t>
            </a:r>
            <a:r>
              <a:rPr lang="en-US" altLang="zh-CN" dirty="0" err="1"/>
              <a:t>MetaQA</a:t>
            </a:r>
            <a:r>
              <a:rPr lang="en-US" altLang="zh-CN" dirty="0"/>
              <a:t> is not very significantly improved, and more mutants may lead to a significant increase in token costs. Therefore, we choose 10 mutants in our experiment.</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0.5min</a:t>
            </a:r>
            <a:endParaRPr lang="zh-CN" altLang="en-US" dirty="0"/>
          </a:p>
        </p:txBody>
      </p:sp>
      <p:sp>
        <p:nvSpPr>
          <p:cNvPr id="4" name="灯片编号占位符 3">
            <a:extLst>
              <a:ext uri="{FF2B5EF4-FFF2-40B4-BE49-F238E27FC236}">
                <a16:creationId xmlns:a16="http://schemas.microsoft.com/office/drawing/2014/main" id="{376A99C3-48D5-26F1-0033-325D36E247AF}"/>
              </a:ext>
            </a:extLst>
          </p:cNvPr>
          <p:cNvSpPr>
            <a:spLocks noGrp="1"/>
          </p:cNvSpPr>
          <p:nvPr>
            <p:ph type="sldNum" sz="quarter" idx="10"/>
          </p:nvPr>
        </p:nvSpPr>
        <p:spPr/>
        <p:txBody>
          <a:bodyPr/>
          <a:lstStyle/>
          <a:p>
            <a:fld id="{D09BF7BD-8C5F-4F0C-83E1-4E200CF5A64B}" type="slidenum">
              <a:rPr lang="zh-CN" altLang="en-US" smtClean="0"/>
              <a:t>19</a:t>
            </a:fld>
            <a:endParaRPr lang="zh-CN" altLang="en-US" dirty="0"/>
          </a:p>
        </p:txBody>
      </p:sp>
    </p:spTree>
    <p:extLst>
      <p:ext uri="{BB962C8B-B14F-4D97-AF65-F5344CB8AC3E}">
        <p14:creationId xmlns:p14="http://schemas.microsoft.com/office/powerpoint/2010/main" val="722869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last experiment shows the performance of </a:t>
            </a:r>
            <a:r>
              <a:rPr lang="en-US" altLang="zh-CN" dirty="0" err="1"/>
              <a:t>MetaQA</a:t>
            </a:r>
            <a:r>
              <a:rPr lang="en-US" altLang="zh-CN" dirty="0"/>
              <a:t> and </a:t>
            </a:r>
            <a:r>
              <a:rPr lang="en-US" altLang="zh-CN" dirty="0" err="1"/>
              <a:t>SelfCheckGPT</a:t>
            </a:r>
            <a:r>
              <a:rPr lang="en-US" altLang="zh-CN" dirty="0"/>
              <a:t> at different thresholds. </a:t>
            </a:r>
          </a:p>
          <a:p>
            <a:r>
              <a:rPr lang="en-US" altLang="zh-CN" dirty="0"/>
              <a:t>First, we can see that </a:t>
            </a:r>
            <a:r>
              <a:rPr lang="en-US" altLang="zh-CN" dirty="0" err="1"/>
              <a:t>MetaQA</a:t>
            </a:r>
            <a:r>
              <a:rPr lang="en-US" altLang="zh-CN" dirty="0"/>
              <a:t> outperforms </a:t>
            </a:r>
            <a:r>
              <a:rPr lang="en-US" altLang="zh-CN" dirty="0" err="1"/>
              <a:t>SelfCheckGPT</a:t>
            </a:r>
            <a:r>
              <a:rPr lang="en-US" altLang="zh-CN" dirty="0"/>
              <a:t> at most thresholds. </a:t>
            </a:r>
          </a:p>
          <a:p>
            <a:r>
              <a:rPr lang="en-US" altLang="zh-CN" dirty="0"/>
              <a:t>In addition, this experiment also explains why we use 0.5 as the default threshold, because the performance indicators of both drop rapidly when the threshold exceeds 0.5.</a:t>
            </a:r>
          </a:p>
          <a:p>
            <a:endParaRPr lang="en-US" altLang="zh-CN" dirty="0"/>
          </a:p>
          <a:p>
            <a:r>
              <a:rPr lang="en-US" altLang="zh-CN" dirty="0"/>
              <a:t>0.75min</a:t>
            </a:r>
            <a:endParaRPr lang="zh-CN" altLang="en-US" dirty="0"/>
          </a:p>
        </p:txBody>
      </p:sp>
      <p:sp>
        <p:nvSpPr>
          <p:cNvPr id="4" name="灯片编号占位符 3"/>
          <p:cNvSpPr>
            <a:spLocks noGrp="1"/>
          </p:cNvSpPr>
          <p:nvPr>
            <p:ph type="sldNum" sz="quarter" idx="5"/>
          </p:nvPr>
        </p:nvSpPr>
        <p:spPr/>
        <p:txBody>
          <a:bodyPr/>
          <a:lstStyle/>
          <a:p>
            <a:fld id="{A49DD26D-E9B3-41BC-BFF6-C75AB9B434F6}" type="slidenum">
              <a:rPr lang="zh-CN" altLang="en-US" smtClean="0"/>
              <a:t>20</a:t>
            </a:fld>
            <a:endParaRPr lang="zh-CN" altLang="en-US"/>
          </a:p>
        </p:txBody>
      </p:sp>
    </p:spTree>
    <p:extLst>
      <p:ext uri="{BB962C8B-B14F-4D97-AF65-F5344CB8AC3E}">
        <p14:creationId xmlns:p14="http://schemas.microsoft.com/office/powerpoint/2010/main" val="2929795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5C66C-AC86-0B6A-FCE3-AD76E97804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0EFE93-39AB-6C5E-19F4-229DE38893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B8C044-68C2-1A1D-C26A-1076AF2CA4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When we use token-based models, may incur substantial costs when processing large datasets or executing multiple iterations.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Here is the average stat table during our experiment.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You can find that even our method spend less tokens than </a:t>
            </a:r>
            <a:r>
              <a:rPr lang="en-US" altLang="zh-CN" dirty="0" err="1"/>
              <a:t>SelfCheckGPT</a:t>
            </a:r>
            <a:r>
              <a:rPr lang="en-US" altLang="zh-CN" dirty="0"/>
              <a:t>, we are still spending 10 more times tokens than we simply ask 1 single question.</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0.5min</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55C8DC7E-42C6-B503-4EEA-64341DA19A20}"/>
              </a:ext>
            </a:extLst>
          </p:cNvPr>
          <p:cNvSpPr>
            <a:spLocks noGrp="1"/>
          </p:cNvSpPr>
          <p:nvPr>
            <p:ph type="sldNum" sz="quarter" idx="10"/>
          </p:nvPr>
        </p:nvSpPr>
        <p:spPr/>
        <p:txBody>
          <a:bodyPr/>
          <a:lstStyle/>
          <a:p>
            <a:fld id="{D09BF7BD-8C5F-4F0C-83E1-4E200CF5A64B}" type="slidenum">
              <a:rPr lang="zh-CN" altLang="en-US" smtClean="0"/>
              <a:t>21</a:t>
            </a:fld>
            <a:endParaRPr lang="zh-CN" altLang="en-US" dirty="0"/>
          </a:p>
        </p:txBody>
      </p:sp>
    </p:spTree>
    <p:extLst>
      <p:ext uri="{BB962C8B-B14F-4D97-AF65-F5344CB8AC3E}">
        <p14:creationId xmlns:p14="http://schemas.microsoft.com/office/powerpoint/2010/main" val="1770491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59775-9B6A-78B9-3C53-289175D617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9DD725-210E-A763-7503-0472804F6B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E9AE72-60E8-394D-18AE-ED4CBFE762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As for the limitations, the effectiveness of </a:t>
            </a:r>
            <a:r>
              <a:rPr lang="en-US" altLang="zh-CN" dirty="0" err="1"/>
              <a:t>MetaQA</a:t>
            </a:r>
            <a:r>
              <a:rPr lang="en-US" altLang="zh-CN" dirty="0"/>
              <a:t> is heavily dependent on the accuracy of the generated mutations. Because our processes base on those mutations.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If these mutations do not accurately represent variations of their original responses, may yield unreliable results.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Here is a double negation example in generating antonym mutations and we also have prompt to guide LLMs to avoid this as possible.</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1min</a:t>
            </a:r>
            <a:endParaRPr lang="zh-CN" altLang="en-US" dirty="0"/>
          </a:p>
        </p:txBody>
      </p:sp>
      <p:sp>
        <p:nvSpPr>
          <p:cNvPr id="4" name="灯片编号占位符 3">
            <a:extLst>
              <a:ext uri="{FF2B5EF4-FFF2-40B4-BE49-F238E27FC236}">
                <a16:creationId xmlns:a16="http://schemas.microsoft.com/office/drawing/2014/main" id="{B98C859B-98F2-8FCF-7EA4-580F6094FE67}"/>
              </a:ext>
            </a:extLst>
          </p:cNvPr>
          <p:cNvSpPr>
            <a:spLocks noGrp="1"/>
          </p:cNvSpPr>
          <p:nvPr>
            <p:ph type="sldNum" sz="quarter" idx="10"/>
          </p:nvPr>
        </p:nvSpPr>
        <p:spPr/>
        <p:txBody>
          <a:bodyPr/>
          <a:lstStyle/>
          <a:p>
            <a:fld id="{D09BF7BD-8C5F-4F0C-83E1-4E200CF5A64B}" type="slidenum">
              <a:rPr lang="zh-CN" altLang="en-US" smtClean="0"/>
              <a:t>22</a:t>
            </a:fld>
            <a:endParaRPr lang="zh-CN" altLang="en-US" dirty="0"/>
          </a:p>
        </p:txBody>
      </p:sp>
    </p:spTree>
    <p:extLst>
      <p:ext uri="{BB962C8B-B14F-4D97-AF65-F5344CB8AC3E}">
        <p14:creationId xmlns:p14="http://schemas.microsoft.com/office/powerpoint/2010/main" val="21287720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170CD-1664-5E64-1FF6-504984AAF3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1E25BF-7852-EA84-1EF2-F0C2B6DE48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B50468-7ADA-EBB7-6955-5F590488C8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Finally goes to the conclusion.</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conclusion, we present </a:t>
            </a:r>
            <a:r>
              <a:rPr lang="en-US" altLang="zh-CN" dirty="0" err="1"/>
              <a:t>MetaQA</a:t>
            </a:r>
            <a:r>
              <a:rPr lang="en-US" altLang="zh-CN" dirty="0"/>
              <a:t>, an MR-based method to detect Fact-Conflicting hallucinations in LLMs.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And this is also an extend approach to use software engineering methods to enhance the reliability of LLMs.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future, we could apply </a:t>
            </a:r>
            <a:r>
              <a:rPr lang="en-US" altLang="zh-CN" dirty="0" err="1"/>
              <a:t>MetaQA</a:t>
            </a:r>
            <a:r>
              <a:rPr lang="en-US" altLang="zh-CN" dirty="0"/>
              <a:t> to, for example real-time application, so we can get hallucination detection results on-time.</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We are trying to extend </a:t>
            </a:r>
            <a:r>
              <a:rPr lang="en-US" altLang="zh-CN" dirty="0" err="1"/>
              <a:t>MetaQA</a:t>
            </a:r>
            <a:r>
              <a:rPr lang="en-US" altLang="zh-CN" dirty="0"/>
              <a:t> or using other Software Engineering method to LLM hallucination detection in other domains, for ex, Programming Languages.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And we can also explore the possibility in hallucination mitigation.</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You can find our open code base in this URL or scan this QR code, and I really appreciate reviewers and committee chairs selecting our paper as one of the distinguished paper, that really encourages us. </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Raise any questions to me if you have, also I will soon be a PhD student in Chinese Academy of Sciences, if any possible research collaboration chance, just contact with me.</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1.5min</a:t>
            </a:r>
          </a:p>
        </p:txBody>
      </p:sp>
      <p:sp>
        <p:nvSpPr>
          <p:cNvPr id="4" name="灯片编号占位符 3">
            <a:extLst>
              <a:ext uri="{FF2B5EF4-FFF2-40B4-BE49-F238E27FC236}">
                <a16:creationId xmlns:a16="http://schemas.microsoft.com/office/drawing/2014/main" id="{86A50270-F139-25D7-2711-F0EEB6FED6A8}"/>
              </a:ext>
            </a:extLst>
          </p:cNvPr>
          <p:cNvSpPr>
            <a:spLocks noGrp="1"/>
          </p:cNvSpPr>
          <p:nvPr>
            <p:ph type="sldNum" sz="quarter" idx="10"/>
          </p:nvPr>
        </p:nvSpPr>
        <p:spPr/>
        <p:txBody>
          <a:bodyPr/>
          <a:lstStyle/>
          <a:p>
            <a:fld id="{D09BF7BD-8C5F-4F0C-83E1-4E200CF5A64B}" type="slidenum">
              <a:rPr lang="zh-CN" altLang="en-US" smtClean="0"/>
              <a:t>23</a:t>
            </a:fld>
            <a:endParaRPr lang="zh-CN" altLang="en-US" dirty="0"/>
          </a:p>
        </p:txBody>
      </p:sp>
    </p:spTree>
    <p:extLst>
      <p:ext uri="{BB962C8B-B14F-4D97-AF65-F5344CB8AC3E}">
        <p14:creationId xmlns:p14="http://schemas.microsoft.com/office/powerpoint/2010/main" val="2466153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F0D42-BB04-ED61-FA22-751FCA8351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F6396D-F157-76B7-628D-5E44B7C058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35B694-2317-3E1F-34EA-5ABB167CE21B}"/>
              </a:ext>
            </a:extLst>
          </p:cNvPr>
          <p:cNvSpPr>
            <a:spLocks noGrp="1"/>
          </p:cNvSpPr>
          <p:nvPr>
            <p:ph type="body" idx="1"/>
          </p:nvPr>
        </p:nvSpPr>
        <p:spPr/>
        <p:txBody>
          <a:bodyPr/>
          <a:lstStyle/>
          <a:p>
            <a:r>
              <a:rPr lang="en-US" altLang="zh-CN" dirty="0"/>
              <a:t>And I believe that would be the end of my presentation, thanks for your patient listening!</a:t>
            </a:r>
            <a:endParaRPr lang="zh-CN" altLang="en-US" dirty="0"/>
          </a:p>
        </p:txBody>
      </p:sp>
      <p:sp>
        <p:nvSpPr>
          <p:cNvPr id="4" name="灯片编号占位符 3">
            <a:extLst>
              <a:ext uri="{FF2B5EF4-FFF2-40B4-BE49-F238E27FC236}">
                <a16:creationId xmlns:a16="http://schemas.microsoft.com/office/drawing/2014/main" id="{090F4F20-1E14-8489-8CD9-B13ED3E0197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9BF7BD-8C5F-4F0C-83E1-4E200CF5A64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06521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54333-138B-24B2-AE19-F487FE09BE9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52CF37A-F333-C1AC-09F6-1683EF8FF5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69C5E41-EC65-DD70-1F28-C168CE7892BC}"/>
              </a:ext>
            </a:extLst>
          </p:cNvPr>
          <p:cNvSpPr>
            <a:spLocks noGrp="1"/>
          </p:cNvSpPr>
          <p:nvPr>
            <p:ph type="dt" sz="half" idx="10"/>
          </p:nvPr>
        </p:nvSpPr>
        <p:spPr/>
        <p:txBody>
          <a:bodyPr/>
          <a:lstStyle/>
          <a:p>
            <a:fld id="{5E69A8C9-93AF-48AE-A284-389BD5EEB200}" type="datetime1">
              <a:rPr lang="zh-CN" altLang="en-US" smtClean="0"/>
              <a:t>2025/6/24</a:t>
            </a:fld>
            <a:endParaRPr lang="zh-CN" altLang="en-US"/>
          </a:p>
        </p:txBody>
      </p:sp>
      <p:sp>
        <p:nvSpPr>
          <p:cNvPr id="5" name="页脚占位符 4">
            <a:extLst>
              <a:ext uri="{FF2B5EF4-FFF2-40B4-BE49-F238E27FC236}">
                <a16:creationId xmlns:a16="http://schemas.microsoft.com/office/drawing/2014/main" id="{4CA8E00E-909B-75F2-5B6A-A555C7320B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297B69-BEAC-140F-2D19-4F61CC2C41AD}"/>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348724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5811F5-B79C-0B18-4F52-942121AACE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E5727CA-E88B-BF3B-1FA2-A0343AD13B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FA441-6906-2812-93E0-AF1A38003C69}"/>
              </a:ext>
            </a:extLst>
          </p:cNvPr>
          <p:cNvSpPr>
            <a:spLocks noGrp="1"/>
          </p:cNvSpPr>
          <p:nvPr>
            <p:ph type="dt" sz="half" idx="10"/>
          </p:nvPr>
        </p:nvSpPr>
        <p:spPr/>
        <p:txBody>
          <a:bodyPr/>
          <a:lstStyle/>
          <a:p>
            <a:fld id="{25D1DF87-C535-41AA-8181-306575B18992}" type="datetime1">
              <a:rPr lang="zh-CN" altLang="en-US" smtClean="0"/>
              <a:t>2025/6/24</a:t>
            </a:fld>
            <a:endParaRPr lang="zh-CN" altLang="en-US"/>
          </a:p>
        </p:txBody>
      </p:sp>
      <p:sp>
        <p:nvSpPr>
          <p:cNvPr id="5" name="页脚占位符 4">
            <a:extLst>
              <a:ext uri="{FF2B5EF4-FFF2-40B4-BE49-F238E27FC236}">
                <a16:creationId xmlns:a16="http://schemas.microsoft.com/office/drawing/2014/main" id="{7F2F40FB-5CE2-05A9-C9EE-B13868C347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B9A21D-4F68-3BC9-A3E5-A52680AD0985}"/>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1402666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F546E-E60B-3022-C637-253D60F80E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7E32B36-34E9-F61D-274B-55F0683B24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03C80A-23FC-C136-607C-8F8BE59CF46B}"/>
              </a:ext>
            </a:extLst>
          </p:cNvPr>
          <p:cNvSpPr>
            <a:spLocks noGrp="1"/>
          </p:cNvSpPr>
          <p:nvPr>
            <p:ph type="dt" sz="half" idx="10"/>
          </p:nvPr>
        </p:nvSpPr>
        <p:spPr/>
        <p:txBody>
          <a:bodyPr/>
          <a:lstStyle/>
          <a:p>
            <a:fld id="{345BFDE1-E2A7-4E35-A9AC-87D917C1E20D}" type="datetime1">
              <a:rPr lang="zh-CN" altLang="en-US" smtClean="0"/>
              <a:t>2025/6/24</a:t>
            </a:fld>
            <a:endParaRPr lang="zh-CN" altLang="en-US"/>
          </a:p>
        </p:txBody>
      </p:sp>
      <p:sp>
        <p:nvSpPr>
          <p:cNvPr id="5" name="页脚占位符 4">
            <a:extLst>
              <a:ext uri="{FF2B5EF4-FFF2-40B4-BE49-F238E27FC236}">
                <a16:creationId xmlns:a16="http://schemas.microsoft.com/office/drawing/2014/main" id="{EADC2215-C5E2-0D03-10C0-0F460D202B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583F66-7AA2-DBDA-7A5E-7CE41225C4FA}"/>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995320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9B721-BA1B-3AF6-9877-6D9D56AFB95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8DBA1C0-333A-076D-4EE2-5E1D47C2F1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6125792-187A-1B65-FAF0-263AF07D7EE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6E7F864-E707-CA55-C08F-65813617C37B}"/>
              </a:ext>
            </a:extLst>
          </p:cNvPr>
          <p:cNvSpPr>
            <a:spLocks noGrp="1"/>
          </p:cNvSpPr>
          <p:nvPr>
            <p:ph type="dt" sz="half" idx="10"/>
          </p:nvPr>
        </p:nvSpPr>
        <p:spPr/>
        <p:txBody>
          <a:bodyPr/>
          <a:lstStyle/>
          <a:p>
            <a:fld id="{7C07EF73-F5B8-41B0-B648-6957B0DB6421}" type="datetime1">
              <a:rPr lang="zh-CN" altLang="en-US" smtClean="0"/>
              <a:t>2025/6/24</a:t>
            </a:fld>
            <a:endParaRPr lang="zh-CN" altLang="en-US"/>
          </a:p>
        </p:txBody>
      </p:sp>
      <p:sp>
        <p:nvSpPr>
          <p:cNvPr id="6" name="页脚占位符 5">
            <a:extLst>
              <a:ext uri="{FF2B5EF4-FFF2-40B4-BE49-F238E27FC236}">
                <a16:creationId xmlns:a16="http://schemas.microsoft.com/office/drawing/2014/main" id="{4D151270-066A-1257-C6F8-748EF6B9B2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AAEF245-DAB4-5B2B-0A34-67ADB68ADC26}"/>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885570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04324F-89CB-3FD7-0E94-CB6F509C50F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7DFE1A2-02E2-6A1F-E086-E38273097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BE397A0-AC47-F601-2443-5ADFEEC9890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EDF999B-D497-243B-C41F-E350B61954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BE1543C-C979-C8D4-6F56-B502B471042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4566AF0-A52E-DB07-6327-75AA97BBAEDB}"/>
              </a:ext>
            </a:extLst>
          </p:cNvPr>
          <p:cNvSpPr>
            <a:spLocks noGrp="1"/>
          </p:cNvSpPr>
          <p:nvPr>
            <p:ph type="dt" sz="half" idx="10"/>
          </p:nvPr>
        </p:nvSpPr>
        <p:spPr/>
        <p:txBody>
          <a:bodyPr/>
          <a:lstStyle/>
          <a:p>
            <a:fld id="{4ECE5042-D673-4902-91CE-DA685B22406C}" type="datetime1">
              <a:rPr lang="zh-CN" altLang="en-US" smtClean="0"/>
              <a:t>2025/6/24</a:t>
            </a:fld>
            <a:endParaRPr lang="zh-CN" altLang="en-US"/>
          </a:p>
        </p:txBody>
      </p:sp>
      <p:sp>
        <p:nvSpPr>
          <p:cNvPr id="8" name="页脚占位符 7">
            <a:extLst>
              <a:ext uri="{FF2B5EF4-FFF2-40B4-BE49-F238E27FC236}">
                <a16:creationId xmlns:a16="http://schemas.microsoft.com/office/drawing/2014/main" id="{9B51C79C-ADD9-7FFD-2133-4C366C492A0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C94D810-8E79-42B3-6D70-57643301EB3F}"/>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421137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EF59D0-8C42-4C02-5F1F-812DFEB519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D986DB7-EB11-C95E-5D16-49006C38D1D0}"/>
              </a:ext>
            </a:extLst>
          </p:cNvPr>
          <p:cNvSpPr>
            <a:spLocks noGrp="1"/>
          </p:cNvSpPr>
          <p:nvPr>
            <p:ph type="dt" sz="half" idx="10"/>
          </p:nvPr>
        </p:nvSpPr>
        <p:spPr/>
        <p:txBody>
          <a:bodyPr/>
          <a:lstStyle/>
          <a:p>
            <a:fld id="{D4C3B317-A7B1-4A1C-AC7E-DA5A722A894D}" type="datetime1">
              <a:rPr lang="zh-CN" altLang="en-US" smtClean="0"/>
              <a:t>2025/6/24</a:t>
            </a:fld>
            <a:endParaRPr lang="zh-CN" altLang="en-US"/>
          </a:p>
        </p:txBody>
      </p:sp>
      <p:sp>
        <p:nvSpPr>
          <p:cNvPr id="4" name="页脚占位符 3">
            <a:extLst>
              <a:ext uri="{FF2B5EF4-FFF2-40B4-BE49-F238E27FC236}">
                <a16:creationId xmlns:a16="http://schemas.microsoft.com/office/drawing/2014/main" id="{DC0D8955-51C9-17BF-7CA3-D39935A044D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BD21BFB-2593-90FC-E455-B6B503FDB6F0}"/>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1403392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1B03285-8854-30D6-51B7-9B4BBC104F06}"/>
              </a:ext>
            </a:extLst>
          </p:cNvPr>
          <p:cNvSpPr>
            <a:spLocks noGrp="1"/>
          </p:cNvSpPr>
          <p:nvPr>
            <p:ph type="dt" sz="half" idx="10"/>
          </p:nvPr>
        </p:nvSpPr>
        <p:spPr/>
        <p:txBody>
          <a:bodyPr/>
          <a:lstStyle/>
          <a:p>
            <a:fld id="{B5E5ED66-699B-4403-8678-182BA6EB8027}" type="datetime1">
              <a:rPr lang="zh-CN" altLang="en-US" smtClean="0"/>
              <a:t>2025/6/24</a:t>
            </a:fld>
            <a:endParaRPr lang="zh-CN" altLang="en-US"/>
          </a:p>
        </p:txBody>
      </p:sp>
      <p:sp>
        <p:nvSpPr>
          <p:cNvPr id="3" name="页脚占位符 2">
            <a:extLst>
              <a:ext uri="{FF2B5EF4-FFF2-40B4-BE49-F238E27FC236}">
                <a16:creationId xmlns:a16="http://schemas.microsoft.com/office/drawing/2014/main" id="{FDCCEF87-C2F2-5E12-3A5B-8E03CEFC1A7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B9701A6-0409-1CF6-9E03-F502CB38BFE6}"/>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295345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06843-F2F5-C679-A571-4B4ACF34AC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6C5F2F5-F70E-005A-27A4-DD97B0BAF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ED358E9-AE32-BE96-2870-7A6AACB48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CDC956-62D6-9D10-CEB7-3F0B546B6B9C}"/>
              </a:ext>
            </a:extLst>
          </p:cNvPr>
          <p:cNvSpPr>
            <a:spLocks noGrp="1"/>
          </p:cNvSpPr>
          <p:nvPr>
            <p:ph type="dt" sz="half" idx="10"/>
          </p:nvPr>
        </p:nvSpPr>
        <p:spPr/>
        <p:txBody>
          <a:bodyPr/>
          <a:lstStyle/>
          <a:p>
            <a:fld id="{56FA279C-C207-4CD5-B95C-50523225AE33}" type="datetime1">
              <a:rPr lang="zh-CN" altLang="en-US" smtClean="0"/>
              <a:t>2025/6/24</a:t>
            </a:fld>
            <a:endParaRPr lang="zh-CN" altLang="en-US"/>
          </a:p>
        </p:txBody>
      </p:sp>
      <p:sp>
        <p:nvSpPr>
          <p:cNvPr id="6" name="页脚占位符 5">
            <a:extLst>
              <a:ext uri="{FF2B5EF4-FFF2-40B4-BE49-F238E27FC236}">
                <a16:creationId xmlns:a16="http://schemas.microsoft.com/office/drawing/2014/main" id="{5E47574C-1868-5016-1B23-BE70C988666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47BDA9-6A96-7862-F0B6-04D460EE3871}"/>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3479945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848D5-5B88-0A12-44C5-A78F236986E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61A6F0E-0C7B-70A6-C37E-1832C8ABA4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976ABB2-05BD-185F-7D0C-8FC921802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B080CD-09A7-23A8-E4BB-228EEFB76557}"/>
              </a:ext>
            </a:extLst>
          </p:cNvPr>
          <p:cNvSpPr>
            <a:spLocks noGrp="1"/>
          </p:cNvSpPr>
          <p:nvPr>
            <p:ph type="dt" sz="half" idx="10"/>
          </p:nvPr>
        </p:nvSpPr>
        <p:spPr/>
        <p:txBody>
          <a:bodyPr/>
          <a:lstStyle/>
          <a:p>
            <a:fld id="{567161A3-735D-4340-AE01-4D94D9D74319}" type="datetime1">
              <a:rPr lang="zh-CN" altLang="en-US" smtClean="0"/>
              <a:t>2025/6/24</a:t>
            </a:fld>
            <a:endParaRPr lang="zh-CN" altLang="en-US"/>
          </a:p>
        </p:txBody>
      </p:sp>
      <p:sp>
        <p:nvSpPr>
          <p:cNvPr id="6" name="页脚占位符 5">
            <a:extLst>
              <a:ext uri="{FF2B5EF4-FFF2-40B4-BE49-F238E27FC236}">
                <a16:creationId xmlns:a16="http://schemas.microsoft.com/office/drawing/2014/main" id="{D743F681-F46B-0924-0EED-5D4E102D73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C434BC-1F11-5BE6-57AB-78D9A5E0F785}"/>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3429116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5F38D9-60C0-42AC-ACF3-DFB347A5EE5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E1142F6-3D3A-7FFE-A853-9DBD399F959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A55D79-5E0A-6561-925E-1CDDFD7D1C7F}"/>
              </a:ext>
            </a:extLst>
          </p:cNvPr>
          <p:cNvSpPr>
            <a:spLocks noGrp="1"/>
          </p:cNvSpPr>
          <p:nvPr>
            <p:ph type="dt" sz="half" idx="10"/>
          </p:nvPr>
        </p:nvSpPr>
        <p:spPr/>
        <p:txBody>
          <a:bodyPr/>
          <a:lstStyle/>
          <a:p>
            <a:fld id="{C5E6170B-009E-459D-85A8-B00849DEEFB2}" type="datetime1">
              <a:rPr lang="zh-CN" altLang="en-US" smtClean="0"/>
              <a:t>2025/6/24</a:t>
            </a:fld>
            <a:endParaRPr lang="zh-CN" altLang="en-US"/>
          </a:p>
        </p:txBody>
      </p:sp>
      <p:sp>
        <p:nvSpPr>
          <p:cNvPr id="5" name="页脚占位符 4">
            <a:extLst>
              <a:ext uri="{FF2B5EF4-FFF2-40B4-BE49-F238E27FC236}">
                <a16:creationId xmlns:a16="http://schemas.microsoft.com/office/drawing/2014/main" id="{B0FDAFB9-02DC-D7AC-3F6F-F78C3DBDA4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0A7618-2D68-2106-B306-A3B52974649A}"/>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1823524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4129E7D-ABD9-066E-9874-00BA5371C38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B3BA8F2-47CE-5F48-EBF2-A6D658BBDCB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26F4E3-4017-9CAA-79A7-4947BE42BD3E}"/>
              </a:ext>
            </a:extLst>
          </p:cNvPr>
          <p:cNvSpPr>
            <a:spLocks noGrp="1"/>
          </p:cNvSpPr>
          <p:nvPr>
            <p:ph type="dt" sz="half" idx="10"/>
          </p:nvPr>
        </p:nvSpPr>
        <p:spPr/>
        <p:txBody>
          <a:bodyPr/>
          <a:lstStyle/>
          <a:p>
            <a:fld id="{BC7F56F3-B862-4AB1-BA58-3921135ECFBE}" type="datetime1">
              <a:rPr lang="zh-CN" altLang="en-US" smtClean="0"/>
              <a:t>2025/6/24</a:t>
            </a:fld>
            <a:endParaRPr lang="zh-CN" altLang="en-US"/>
          </a:p>
        </p:txBody>
      </p:sp>
      <p:sp>
        <p:nvSpPr>
          <p:cNvPr id="5" name="页脚占位符 4">
            <a:extLst>
              <a:ext uri="{FF2B5EF4-FFF2-40B4-BE49-F238E27FC236}">
                <a16:creationId xmlns:a16="http://schemas.microsoft.com/office/drawing/2014/main" id="{E299C684-45C4-6F21-FC62-E1D6344A90C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A15478-E09C-836A-48A1-7317B044CEDA}"/>
              </a:ext>
            </a:extLst>
          </p:cNvPr>
          <p:cNvSpPr>
            <a:spLocks noGrp="1"/>
          </p:cNvSpPr>
          <p:nvPr>
            <p:ph type="sldNum" sz="quarter" idx="12"/>
          </p:nvPr>
        </p:nvSpPr>
        <p:spPr/>
        <p:txBody>
          <a:body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3515131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5492DB8-27AA-43AA-BE5C-4D5CDF887C46}" type="datetime1">
              <a:rPr lang="zh-CN" altLang="en-US" smtClean="0"/>
              <a:t>2025/6/24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162157192"/>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306743B-F3CD-4E46-80D5-E47F20670ABD}" type="datetime1">
              <a:rPr lang="zh-CN" altLang="en-US" smtClean="0"/>
              <a:t>2025/6/24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sz="1200" b="1">
                <a:latin typeface="+mj-lt"/>
              </a:defRPr>
            </a:lvl1pPr>
          </a:lstStyle>
          <a:p>
            <a:fld id="{A330ECBB-EFA0-4B67-A466-676224D8611D}" type="slidenum">
              <a:rPr lang="zh-CN" altLang="en-US" smtClean="0"/>
              <a:pPr/>
              <a:t>‹#›</a:t>
            </a:fld>
            <a:endParaRPr lang="zh-CN" altLang="en-US" dirty="0"/>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89" y="82263"/>
            <a:ext cx="2263849" cy="599049"/>
          </a:xfrm>
          <a:prstGeom prst="rect">
            <a:avLst/>
          </a:prstGeom>
        </p:spPr>
      </p:pic>
    </p:spTree>
    <p:extLst>
      <p:ext uri="{BB962C8B-B14F-4D97-AF65-F5344CB8AC3E}">
        <p14:creationId xmlns:p14="http://schemas.microsoft.com/office/powerpoint/2010/main" val="1137168768"/>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9C093A3-8395-401D-AC0B-BB3B243C5F47}" type="datetime1">
              <a:rPr lang="zh-CN" altLang="en-US" smtClean="0"/>
              <a:t>2025/6/24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1195844889"/>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4ECF49C-48D7-4620-A5BD-A1F832A263A3}" type="datetime1">
              <a:rPr lang="zh-CN" altLang="en-US" smtClean="0"/>
              <a:t>2025/6/24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2974549247"/>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1B51F57-B07F-4D00-9BD3-EC49F226FE89}" type="datetime1">
              <a:rPr lang="zh-CN" altLang="en-US" smtClean="0"/>
              <a:t>2025/6/24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3201388209"/>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870A1BC-1762-4F9F-8900-44B50002242F}" type="datetime1">
              <a:rPr lang="zh-CN" altLang="en-US" smtClean="0"/>
              <a:t>2025/6/24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4029527006"/>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400CFEF-2426-4884-99B4-36A6F617C505}" type="datetime1">
              <a:rPr lang="zh-CN" altLang="en-US" smtClean="0"/>
              <a:t>2025/6/24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2894838180"/>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D004BDBA-0189-4609-998F-89159194080E}" type="datetime1">
              <a:rPr lang="zh-CN" altLang="en-US" smtClean="0"/>
              <a:t>2025/6/24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573925217"/>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8A5596E-9036-42DC-A38D-A598B91A01B4}" type="datetime1">
              <a:rPr lang="zh-CN" altLang="en-US" smtClean="0"/>
              <a:t>2025/6/24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4125049613"/>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6C107D5-33C6-4B46-A24C-160BEE31C2ED}" type="datetime1">
              <a:rPr lang="zh-CN" altLang="en-US" smtClean="0"/>
              <a:t>2025/6/24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1181274230"/>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13F997A-8B18-49C9-8E3C-F0EFCE2E85A4}" type="datetime1">
              <a:rPr lang="zh-CN" altLang="en-US" smtClean="0"/>
              <a:t>2025/6/24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30ECBB-EFA0-4B67-A466-676224D8611D}" type="slidenum">
              <a:rPr lang="zh-CN" altLang="en-US" smtClean="0"/>
              <a:t>‹#›</a:t>
            </a:fld>
            <a:endParaRPr lang="zh-CN" altLang="en-US"/>
          </a:p>
        </p:txBody>
      </p:sp>
    </p:spTree>
    <p:extLst>
      <p:ext uri="{BB962C8B-B14F-4D97-AF65-F5344CB8AC3E}">
        <p14:creationId xmlns:p14="http://schemas.microsoft.com/office/powerpoint/2010/main" val="2584481965"/>
      </p:ext>
    </p:extLst>
  </p:cSld>
  <p:clrMapOvr>
    <a:masterClrMapping/>
  </p:clrMapOvr>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C039317-D508-A376-E73A-5F59F27A76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169631A-50E4-399E-41CF-9E41B5B9ED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ADF48F-2A93-0C99-18D8-91F26A604E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7F7C0-C8CB-4B99-803D-1292EB83FFD5}" type="datetime1">
              <a:rPr lang="zh-CN" altLang="en-US" smtClean="0"/>
              <a:t>2025/6/24</a:t>
            </a:fld>
            <a:endParaRPr lang="zh-CN" altLang="en-US"/>
          </a:p>
        </p:txBody>
      </p:sp>
      <p:sp>
        <p:nvSpPr>
          <p:cNvPr id="5" name="页脚占位符 4">
            <a:extLst>
              <a:ext uri="{FF2B5EF4-FFF2-40B4-BE49-F238E27FC236}">
                <a16:creationId xmlns:a16="http://schemas.microsoft.com/office/drawing/2014/main" id="{D2AEC95C-63EE-3626-223C-169981F629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1830C05-DA14-996E-8243-1F97EA80DC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F5EFFB-F067-4CCA-A379-675D6C90A4D5}" type="slidenum">
              <a:rPr lang="zh-CN" altLang="en-US" smtClean="0"/>
              <a:t>‹#›</a:t>
            </a:fld>
            <a:endParaRPr lang="zh-CN" altLang="en-US"/>
          </a:p>
        </p:txBody>
      </p:sp>
    </p:spTree>
    <p:extLst>
      <p:ext uri="{BB962C8B-B14F-4D97-AF65-F5344CB8AC3E}">
        <p14:creationId xmlns:p14="http://schemas.microsoft.com/office/powerpoint/2010/main" val="2503920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6509CA9E-6A8D-4FF5-8BC9-B3B04FA265CE}" type="datetime1">
              <a:rPr lang="zh-CN" altLang="en-US" smtClean="0"/>
              <a:t>2025/6/24</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A330ECBB-EFA0-4B67-A466-676224D8611D}" type="slidenum">
              <a:rPr lang="zh-CN" altLang="en-US" smtClean="0"/>
              <a:t>‹#›</a:t>
            </a:fld>
            <a:endParaRPr lang="zh-CN" altLang="en-US" dirty="0"/>
          </a:p>
        </p:txBody>
      </p:sp>
    </p:spTree>
    <p:extLst>
      <p:ext uri="{BB962C8B-B14F-4D97-AF65-F5344CB8AC3E}">
        <p14:creationId xmlns:p14="http://schemas.microsoft.com/office/powerpoint/2010/main" val="2517305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600" advClick="0" advTm="1000">
        <p14:gallery dir="l"/>
      </p:transition>
    </mc:Choice>
    <mc:Fallback xmlns="">
      <p:transition spd="slow" advClick="0" advTm="1000">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5.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2.xml"/><Relationship Id="rId6" Type="http://schemas.openxmlformats.org/officeDocument/2006/relationships/image" Target="../media/image18.png"/><Relationship Id="rId5" Type="http://schemas.openxmlformats.org/officeDocument/2006/relationships/image" Target="../media/image130.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23.jp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26.jp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1.xml"/><Relationship Id="rId5" Type="http://schemas.openxmlformats.org/officeDocument/2006/relationships/image" Target="../media/image27.jpg"/><Relationship Id="rId4" Type="http://schemas.openxmlformats.org/officeDocument/2006/relationships/hyperlink" Target="https://github.com/zbybr/LLMhalu/tree/MetaQA-Open-Bas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6" name="文本框 15"/>
          <p:cNvSpPr txBox="1"/>
          <p:nvPr/>
        </p:nvSpPr>
        <p:spPr>
          <a:xfrm>
            <a:off x="434788" y="2136338"/>
            <a:ext cx="11322424" cy="2585323"/>
          </a:xfrm>
          <a:prstGeom prst="rect">
            <a:avLst/>
          </a:prstGeom>
          <a:noFill/>
        </p:spPr>
        <p:txBody>
          <a:bodyPr wrap="square" rtlCol="0">
            <a:spAutoFit/>
          </a:bodyPr>
          <a:lstStyle/>
          <a:p>
            <a:pPr algn="ctr"/>
            <a:r>
              <a:rPr lang="en-US" altLang="zh-CN" sz="5400" dirty="0">
                <a:latin typeface="Arial" panose="020B0604020202020204" pitchFamily="34" charset="0"/>
                <a:ea typeface="Calibri" panose="020F0502020204030204" pitchFamily="34" charset="0"/>
                <a:cs typeface="Arial" panose="020B0604020202020204" pitchFamily="34" charset="0"/>
              </a:rPr>
              <a:t>Detecting Hallucinations in Large Language Models with Metamorphic Relations</a:t>
            </a:r>
            <a:endParaRPr lang="zh-CN" altLang="en-US" sz="5400" dirty="0">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a:extLst>
              <a:ext uri="{FF2B5EF4-FFF2-40B4-BE49-F238E27FC236}">
                <a16:creationId xmlns:a16="http://schemas.microsoft.com/office/drawing/2014/main" id="{644E3FD4-A904-9175-4A70-22139C7D93E3}"/>
              </a:ext>
            </a:extLst>
          </p:cNvPr>
          <p:cNvSpPr txBox="1"/>
          <p:nvPr/>
        </p:nvSpPr>
        <p:spPr>
          <a:xfrm>
            <a:off x="5541818" y="5076386"/>
            <a:ext cx="6215395" cy="1292662"/>
          </a:xfrm>
          <a:prstGeom prst="rect">
            <a:avLst/>
          </a:prstGeom>
          <a:noFill/>
        </p:spPr>
        <p:txBody>
          <a:bodyPr wrap="square">
            <a:spAutoFit/>
          </a:bodyPr>
          <a:lstStyle/>
          <a:p>
            <a:pPr algn="r"/>
            <a:r>
              <a:rPr lang="en-US" altLang="zh-CN" sz="2400" b="1" dirty="0">
                <a:latin typeface="微软雅黑" panose="020B0503020204020204" pitchFamily="34" charset="-122"/>
                <a:ea typeface="微软雅黑" panose="020B0503020204020204" pitchFamily="34" charset="-122"/>
                <a:cs typeface="Calibri" panose="020F0502020204030204" pitchFamily="34" charset="0"/>
              </a:rPr>
              <a:t>Borui Yang </a:t>
            </a:r>
            <a:r>
              <a:rPr lang="en-US" altLang="zh-CN" sz="1600" dirty="0">
                <a:latin typeface="Calibri" panose="020F0502020204030204" pitchFamily="34" charset="0"/>
                <a:ea typeface="Calibri" panose="020F0502020204030204" pitchFamily="34" charset="0"/>
                <a:cs typeface="Calibri" panose="020F0502020204030204" pitchFamily="34" charset="0"/>
              </a:rPr>
              <a:t>(Institute of Software, Chinese Academy of Sciences)</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gn="r"/>
            <a:r>
              <a:rPr lang="en-US" altLang="zh-CN" dirty="0">
                <a:latin typeface="Calibri" panose="020F0502020204030204" pitchFamily="34" charset="0"/>
                <a:ea typeface="Calibri" panose="020F0502020204030204" pitchFamily="34" charset="0"/>
                <a:cs typeface="Calibri" panose="020F0502020204030204" pitchFamily="34" charset="0"/>
              </a:rPr>
              <a:t>Md Afif Al Mamun (</a:t>
            </a:r>
            <a:r>
              <a:rPr lang="en-US" altLang="zh-CN" sz="1600" dirty="0">
                <a:latin typeface="Calibri" panose="020F0502020204030204" pitchFamily="34" charset="0"/>
                <a:ea typeface="Calibri" panose="020F0502020204030204" pitchFamily="34" charset="0"/>
                <a:cs typeface="Calibri" panose="020F0502020204030204" pitchFamily="34" charset="0"/>
              </a:rPr>
              <a:t>University of Calgary)</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gn="r"/>
            <a:r>
              <a:rPr lang="en-US" altLang="zh-CN" dirty="0">
                <a:latin typeface="Calibri" panose="020F0502020204030204" pitchFamily="34" charset="0"/>
                <a:ea typeface="Calibri" panose="020F0502020204030204" pitchFamily="34" charset="0"/>
                <a:cs typeface="Calibri" panose="020F0502020204030204" pitchFamily="34" charset="0"/>
              </a:rPr>
              <a:t>Jie M. Zhang  (</a:t>
            </a:r>
            <a:r>
              <a:rPr lang="en-US" altLang="zh-CN" sz="1600" dirty="0">
                <a:latin typeface="Calibri" panose="020F0502020204030204" pitchFamily="34" charset="0"/>
                <a:ea typeface="Calibri" panose="020F0502020204030204" pitchFamily="34" charset="0"/>
                <a:cs typeface="Calibri" panose="020F0502020204030204" pitchFamily="34" charset="0"/>
              </a:rPr>
              <a:t>King’s College London)</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gn="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Gias</a:t>
            </a:r>
            <a:r>
              <a:rPr lang="en-US" altLang="zh-CN" dirty="0">
                <a:latin typeface="Calibri" panose="020F0502020204030204" pitchFamily="34" charset="0"/>
                <a:ea typeface="Calibri" panose="020F0502020204030204" pitchFamily="34" charset="0"/>
                <a:cs typeface="Calibri" panose="020F0502020204030204" pitchFamily="34" charset="0"/>
              </a:rPr>
              <a:t> Uddin (</a:t>
            </a:r>
            <a:r>
              <a:rPr lang="en-US" altLang="zh-CN" sz="1600" dirty="0">
                <a:latin typeface="Calibri" panose="020F0502020204030204" pitchFamily="34" charset="0"/>
                <a:ea typeface="Calibri" panose="020F0502020204030204" pitchFamily="34" charset="0"/>
                <a:cs typeface="Calibri" panose="020F0502020204030204" pitchFamily="34" charset="0"/>
              </a:rPr>
              <a:t>York University)</a:t>
            </a:r>
            <a:endParaRPr lang="zh-CN" altLang="en-US" sz="2400" dirty="0">
              <a:latin typeface="Calibri" panose="020F0502020204030204" pitchFamily="34" charset="0"/>
              <a:cs typeface="Calibri" panose="020F0502020204030204" pitchFamily="34" charset="0"/>
            </a:endParaRPr>
          </a:p>
        </p:txBody>
      </p:sp>
      <p:pic>
        <p:nvPicPr>
          <p:cNvPr id="9" name="图片 8">
            <a:extLst>
              <a:ext uri="{FF2B5EF4-FFF2-40B4-BE49-F238E27FC236}">
                <a16:creationId xmlns:a16="http://schemas.microsoft.com/office/drawing/2014/main" id="{69D9F642-9DE9-2ECC-411C-C1C0315D0F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971" y="78909"/>
            <a:ext cx="3211945" cy="1670040"/>
          </a:xfrm>
          <a:prstGeom prst="rect">
            <a:avLst/>
          </a:prstGeom>
        </p:spPr>
      </p:pic>
      <p:sp>
        <p:nvSpPr>
          <p:cNvPr id="10" name="文本框 9">
            <a:extLst>
              <a:ext uri="{FF2B5EF4-FFF2-40B4-BE49-F238E27FC236}">
                <a16:creationId xmlns:a16="http://schemas.microsoft.com/office/drawing/2014/main" id="{C848F62D-04C9-9D48-B772-35297D3163CD}"/>
              </a:ext>
            </a:extLst>
          </p:cNvPr>
          <p:cNvSpPr txBox="1"/>
          <p:nvPr/>
        </p:nvSpPr>
        <p:spPr>
          <a:xfrm>
            <a:off x="3644916" y="78909"/>
            <a:ext cx="4360566" cy="1015663"/>
          </a:xfrm>
          <a:prstGeom prst="rect">
            <a:avLst/>
          </a:prstGeom>
          <a:noFill/>
        </p:spPr>
        <p:txBody>
          <a:bodyPr wrap="square" rtlCol="0">
            <a:spAutoFit/>
          </a:bodyPr>
          <a:lstStyle/>
          <a:p>
            <a:r>
              <a:rPr lang="en-US" altLang="zh-CN" sz="2000" b="1" dirty="0">
                <a:solidFill>
                  <a:srgbClr val="60A6FF"/>
                </a:solidFill>
                <a:latin typeface="Arial" panose="020B0604020202020204" pitchFamily="34" charset="0"/>
                <a:ea typeface="Calibri" panose="020F0502020204030204" pitchFamily="34" charset="0"/>
                <a:cs typeface="Arial" panose="020B0604020202020204" pitchFamily="34" charset="0"/>
              </a:rPr>
              <a:t>The ACM International Conference on the Foundations of Software Engineering (FSE) 2025</a:t>
            </a:r>
          </a:p>
        </p:txBody>
      </p:sp>
      <p:sp>
        <p:nvSpPr>
          <p:cNvPr id="17" name="文本框 16">
            <a:extLst>
              <a:ext uri="{FF2B5EF4-FFF2-40B4-BE49-F238E27FC236}">
                <a16:creationId xmlns:a16="http://schemas.microsoft.com/office/drawing/2014/main" id="{53924AC2-1A8C-05F3-C1EA-AD1BD5594EA9}"/>
              </a:ext>
            </a:extLst>
          </p:cNvPr>
          <p:cNvSpPr txBox="1"/>
          <p:nvPr/>
        </p:nvSpPr>
        <p:spPr>
          <a:xfrm>
            <a:off x="3657600" y="1094572"/>
            <a:ext cx="4703513" cy="646331"/>
          </a:xfrm>
          <a:prstGeom prst="rect">
            <a:avLst/>
          </a:prstGeom>
          <a:noFill/>
        </p:spPr>
        <p:txBody>
          <a:bodyPr wrap="square">
            <a:spAutoFit/>
          </a:bodyPr>
          <a:lstStyle/>
          <a:p>
            <a:r>
              <a:rPr lang="en-US" altLang="zh-CN" sz="1800" b="1" dirty="0">
                <a:solidFill>
                  <a:srgbClr val="996637"/>
                </a:solidFill>
                <a:latin typeface="Arial" panose="020B0604020202020204" pitchFamily="34" charset="0"/>
                <a:ea typeface="微软雅黑" panose="020B0503020204020204" pitchFamily="34" charset="-122"/>
                <a:cs typeface="Arial" panose="020B0604020202020204" pitchFamily="34" charset="0"/>
              </a:rPr>
              <a:t>Exhibition | 23 – 27 June, 2025</a:t>
            </a:r>
          </a:p>
          <a:p>
            <a:r>
              <a:rPr lang="en-US" altLang="zh-CN" sz="1800" b="1" dirty="0">
                <a:solidFill>
                  <a:srgbClr val="996637"/>
                </a:solidFill>
                <a:latin typeface="Arial" panose="020B0604020202020204" pitchFamily="34" charset="0"/>
                <a:ea typeface="微软雅黑" panose="020B0503020204020204" pitchFamily="34" charset="-122"/>
                <a:cs typeface="Arial" panose="020B0604020202020204" pitchFamily="34" charset="0"/>
              </a:rPr>
              <a:t>Venue | Clarion Hotel Trondheim, Norway</a:t>
            </a:r>
            <a:endParaRPr lang="zh-CN" altLang="en-US" sz="1800" b="1" dirty="0">
              <a:solidFill>
                <a:srgbClr val="996637"/>
              </a:solidFill>
              <a:latin typeface="Arial" panose="020B0604020202020204" pitchFamily="34" charset="0"/>
              <a:ea typeface="微软雅黑" panose="020B0503020204020204" pitchFamily="34" charset="-122"/>
              <a:cs typeface="Arial" panose="020B0604020202020204" pitchFamily="34" charset="0"/>
            </a:endParaRPr>
          </a:p>
        </p:txBody>
      </p:sp>
      <p:pic>
        <p:nvPicPr>
          <p:cNvPr id="19" name="图片 18">
            <a:extLst>
              <a:ext uri="{FF2B5EF4-FFF2-40B4-BE49-F238E27FC236}">
                <a16:creationId xmlns:a16="http://schemas.microsoft.com/office/drawing/2014/main" id="{1DA96D08-A3EA-FBAE-939C-9C471D5914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972" y="5568752"/>
            <a:ext cx="1033878" cy="787597"/>
          </a:xfrm>
          <a:prstGeom prst="rect">
            <a:avLst/>
          </a:prstGeom>
        </p:spPr>
      </p:pic>
      <p:sp>
        <p:nvSpPr>
          <p:cNvPr id="20" name="灯片编号占位符 19">
            <a:extLst>
              <a:ext uri="{FF2B5EF4-FFF2-40B4-BE49-F238E27FC236}">
                <a16:creationId xmlns:a16="http://schemas.microsoft.com/office/drawing/2014/main" id="{96094CBB-0808-E3DF-9DA2-02BA6AA66A7F}"/>
              </a:ext>
            </a:extLst>
          </p:cNvPr>
          <p:cNvSpPr>
            <a:spLocks noGrp="1"/>
          </p:cNvSpPr>
          <p:nvPr>
            <p:ph type="sldNum" sz="quarter" idx="12"/>
          </p:nvPr>
        </p:nvSpPr>
        <p:spPr/>
        <p:txBody>
          <a:bodyPr/>
          <a:lstStyle/>
          <a:p>
            <a:fld id="{B2F5EFFB-F067-4CCA-A379-675D6C90A4D5}" type="slidenum">
              <a:rPr lang="zh-CN" altLang="en-US" smtClean="0"/>
              <a:t>1</a:t>
            </a:fld>
            <a:endParaRPr lang="zh-CN" altLang="en-US"/>
          </a:p>
        </p:txBody>
      </p:sp>
      <p:pic>
        <p:nvPicPr>
          <p:cNvPr id="3" name="图片 2">
            <a:extLst>
              <a:ext uri="{FF2B5EF4-FFF2-40B4-BE49-F238E27FC236}">
                <a16:creationId xmlns:a16="http://schemas.microsoft.com/office/drawing/2014/main" id="{29173B4F-0FE8-4060-5C9C-6287CE9026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6266" y="5568752"/>
            <a:ext cx="1575193" cy="787597"/>
          </a:xfrm>
          <a:prstGeom prst="rect">
            <a:avLst/>
          </a:prstGeom>
        </p:spPr>
      </p:pic>
      <p:pic>
        <p:nvPicPr>
          <p:cNvPr id="7" name="图片 6">
            <a:extLst>
              <a:ext uri="{FF2B5EF4-FFF2-40B4-BE49-F238E27FC236}">
                <a16:creationId xmlns:a16="http://schemas.microsoft.com/office/drawing/2014/main" id="{21977E7D-57A9-9DE2-6D15-2A6F81F6E0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0875" y="5565058"/>
            <a:ext cx="2080943" cy="791291"/>
          </a:xfrm>
          <a:prstGeom prst="rect">
            <a:avLst/>
          </a:prstGeom>
        </p:spPr>
      </p:pic>
      <p:grpSp>
        <p:nvGrpSpPr>
          <p:cNvPr id="8" name="组合 7">
            <a:extLst>
              <a:ext uri="{FF2B5EF4-FFF2-40B4-BE49-F238E27FC236}">
                <a16:creationId xmlns:a16="http://schemas.microsoft.com/office/drawing/2014/main" id="{D0E50613-6893-4815-277F-9D96C3C3D6AC}"/>
              </a:ext>
            </a:extLst>
          </p:cNvPr>
          <p:cNvGrpSpPr/>
          <p:nvPr/>
        </p:nvGrpSpPr>
        <p:grpSpPr>
          <a:xfrm>
            <a:off x="7926147" y="0"/>
            <a:ext cx="3210129" cy="1420238"/>
            <a:chOff x="7926147" y="0"/>
            <a:chExt cx="3210129" cy="1420238"/>
          </a:xfrm>
        </p:grpSpPr>
        <p:sp>
          <p:nvSpPr>
            <p:cNvPr id="11" name="任意多边形: 形状 10">
              <a:extLst>
                <a:ext uri="{FF2B5EF4-FFF2-40B4-BE49-F238E27FC236}">
                  <a16:creationId xmlns:a16="http://schemas.microsoft.com/office/drawing/2014/main" id="{81C9B2F5-287B-291C-8C0D-F8F42A014C1B}"/>
                </a:ext>
              </a:extLst>
            </p:cNvPr>
            <p:cNvSpPr/>
            <p:nvPr/>
          </p:nvSpPr>
          <p:spPr>
            <a:xfrm rot="10800000">
              <a:off x="7926147" y="0"/>
              <a:ext cx="3210129" cy="1420238"/>
            </a:xfrm>
            <a:custGeom>
              <a:avLst/>
              <a:gdLst>
                <a:gd name="connsiteX0" fmla="*/ 3692727 w 3692727"/>
                <a:gd name="connsiteY0" fmla="*/ 2088816 h 2088816"/>
                <a:gd name="connsiteX1" fmla="*/ 3239331 w 3692727"/>
                <a:gd name="connsiteY1" fmla="*/ 2088816 h 2088816"/>
                <a:gd name="connsiteX2" fmla="*/ 1846364 w 3692727"/>
                <a:gd name="connsiteY2" fmla="*/ 512934 h 2088816"/>
                <a:gd name="connsiteX3" fmla="*/ 453397 w 3692727"/>
                <a:gd name="connsiteY3" fmla="*/ 2088816 h 2088816"/>
                <a:gd name="connsiteX4" fmla="*/ 0 w 3692727"/>
                <a:gd name="connsiteY4" fmla="*/ 2088816 h 2088816"/>
                <a:gd name="connsiteX5" fmla="*/ 1846363 w 3692727"/>
                <a:gd name="connsiteY5" fmla="*/ 0 h 208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2727" h="2088816">
                  <a:moveTo>
                    <a:pt x="3692727" y="2088816"/>
                  </a:moveTo>
                  <a:lnTo>
                    <a:pt x="3239331" y="2088816"/>
                  </a:lnTo>
                  <a:lnTo>
                    <a:pt x="1846364" y="512934"/>
                  </a:lnTo>
                  <a:lnTo>
                    <a:pt x="453397" y="2088816"/>
                  </a:lnTo>
                  <a:lnTo>
                    <a:pt x="0" y="2088816"/>
                  </a:lnTo>
                  <a:lnTo>
                    <a:pt x="184636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任意多边形: 形状 11">
              <a:extLst>
                <a:ext uri="{FF2B5EF4-FFF2-40B4-BE49-F238E27FC236}">
                  <a16:creationId xmlns:a16="http://schemas.microsoft.com/office/drawing/2014/main" id="{466CE924-F179-ECE0-622B-58B7411B8F34}"/>
                </a:ext>
              </a:extLst>
            </p:cNvPr>
            <p:cNvSpPr/>
            <p:nvPr/>
          </p:nvSpPr>
          <p:spPr>
            <a:xfrm rot="10800000">
              <a:off x="8498431" y="0"/>
              <a:ext cx="2065564" cy="914400"/>
            </a:xfrm>
            <a:custGeom>
              <a:avLst/>
              <a:gdLst>
                <a:gd name="connsiteX0" fmla="*/ 2065564 w 2065564"/>
                <a:gd name="connsiteY0" fmla="*/ 1168400 h 1168400"/>
                <a:gd name="connsiteX1" fmla="*/ 0 w 2065564"/>
                <a:gd name="connsiteY1" fmla="*/ 1168400 h 1168400"/>
                <a:gd name="connsiteX2" fmla="*/ 1032782 w 2065564"/>
                <a:gd name="connsiteY2" fmla="*/ 0 h 1168400"/>
              </a:gdLst>
              <a:ahLst/>
              <a:cxnLst>
                <a:cxn ang="0">
                  <a:pos x="connsiteX0" y="connsiteY0"/>
                </a:cxn>
                <a:cxn ang="0">
                  <a:pos x="connsiteX1" y="connsiteY1"/>
                </a:cxn>
                <a:cxn ang="0">
                  <a:pos x="connsiteX2" y="connsiteY2"/>
                </a:cxn>
              </a:cxnLst>
              <a:rect l="l" t="t" r="r" b="b"/>
              <a:pathLst>
                <a:path w="2065564" h="1168400">
                  <a:moveTo>
                    <a:pt x="2065564" y="1168400"/>
                  </a:moveTo>
                  <a:lnTo>
                    <a:pt x="0" y="1168400"/>
                  </a:lnTo>
                  <a:lnTo>
                    <a:pt x="103278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2031795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D48E1-E91D-DFD5-6BAD-538341B0F44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5D688E2-335A-84A3-D6EE-C40421858020}"/>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Problem Statement</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 name="文本框 1">
            <a:extLst>
              <a:ext uri="{FF2B5EF4-FFF2-40B4-BE49-F238E27FC236}">
                <a16:creationId xmlns:a16="http://schemas.microsoft.com/office/drawing/2014/main" id="{A876DC88-9AC3-F503-3C28-FD224A66F462}"/>
              </a:ext>
            </a:extLst>
          </p:cNvPr>
          <p:cNvSpPr txBox="1"/>
          <p:nvPr/>
        </p:nvSpPr>
        <p:spPr>
          <a:xfrm>
            <a:off x="434788" y="770385"/>
            <a:ext cx="11322424" cy="1077218"/>
          </a:xfrm>
          <a:prstGeom prst="rect">
            <a:avLst/>
          </a:prstGeom>
          <a:noFill/>
        </p:spPr>
        <p:txBody>
          <a:bodyPr wrap="square" rtlCol="0">
            <a:spAutoFit/>
          </a:bodyPr>
          <a:lstStyle/>
          <a:p>
            <a:pPr fontAlgn="base"/>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a:t>
            </a:r>
            <a:r>
              <a:rPr lang="en-US" altLang="zh-CN" sz="3200" dirty="0" err="1">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 What is a LLM hallucination? </a:t>
            </a:r>
          </a:p>
          <a:p>
            <a:pPr marL="571500" indent="-571500" fontAlgn="base">
              <a:buAutoNum type="romanLcParenBoth"/>
            </a:pPr>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75E087D4-5409-E3C8-4687-7A64D49F0DC5}"/>
              </a:ext>
            </a:extLst>
          </p:cNvPr>
          <p:cNvSpPr txBox="1"/>
          <p:nvPr/>
        </p:nvSpPr>
        <p:spPr>
          <a:xfrm>
            <a:off x="434788" y="1847603"/>
            <a:ext cx="11322424" cy="1384995"/>
          </a:xfrm>
          <a:prstGeom prst="rect">
            <a:avLst/>
          </a:prstGeom>
          <a:noFill/>
        </p:spPr>
        <p:txBody>
          <a:bodyPr wrap="square" rtlCol="0">
            <a:spAutoFit/>
          </a:bodyPr>
          <a:lstStyle/>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Output factually incorrect, irrelevant, or nonsensical, however appears coherent.</a:t>
            </a:r>
          </a:p>
          <a:p>
            <a:pPr fontAlgn="base"/>
            <a:endPar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8B22F210-BEE5-0A9D-5DC7-4D3FC22834E2}"/>
              </a:ext>
            </a:extLst>
          </p:cNvPr>
          <p:cNvSpPr txBox="1"/>
          <p:nvPr/>
        </p:nvSpPr>
        <p:spPr>
          <a:xfrm>
            <a:off x="434786" y="3232598"/>
            <a:ext cx="11322424" cy="1077218"/>
          </a:xfrm>
          <a:prstGeom prst="rect">
            <a:avLst/>
          </a:prstGeom>
          <a:noFill/>
        </p:spPr>
        <p:txBody>
          <a:bodyPr wrap="square" rtlCol="0">
            <a:spAutoFit/>
          </a:bodyPr>
          <a:lstStyle/>
          <a:p>
            <a:pPr fontAlgn="base"/>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Why detecting LLM hallucination is essential?</a:t>
            </a:r>
          </a:p>
          <a:p>
            <a:pPr fontAlgn="base"/>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ECBA7B18-CEAC-86EB-8B54-1B7A0BC86882}"/>
              </a:ext>
            </a:extLst>
          </p:cNvPr>
          <p:cNvSpPr txBox="1"/>
          <p:nvPr/>
        </p:nvSpPr>
        <p:spPr>
          <a:xfrm>
            <a:off x="434787" y="4309816"/>
            <a:ext cx="11322423" cy="1384995"/>
          </a:xfrm>
          <a:prstGeom prst="rect">
            <a:avLst/>
          </a:prstGeom>
          <a:noFill/>
        </p:spPr>
        <p:txBody>
          <a:bodyPr wrap="square">
            <a:spAutoFit/>
          </a:bodyPr>
          <a:lstStyle/>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In critical domains (e.g. law, healthcare), misleading users without expertise lead to serious outcomes.</a:t>
            </a:r>
          </a:p>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Improve trust to LLM.</a:t>
            </a:r>
          </a:p>
        </p:txBody>
      </p:sp>
      <p:sp>
        <p:nvSpPr>
          <p:cNvPr id="8" name="灯片编号占位符 7">
            <a:extLst>
              <a:ext uri="{FF2B5EF4-FFF2-40B4-BE49-F238E27FC236}">
                <a16:creationId xmlns:a16="http://schemas.microsoft.com/office/drawing/2014/main" id="{47E6E21A-1F91-596D-4167-F7E719B07880}"/>
              </a:ext>
            </a:extLst>
          </p:cNvPr>
          <p:cNvSpPr>
            <a:spLocks noGrp="1"/>
          </p:cNvSpPr>
          <p:nvPr>
            <p:ph type="sldNum" sz="quarter" idx="12"/>
          </p:nvPr>
        </p:nvSpPr>
        <p:spPr/>
        <p:txBody>
          <a:bodyPr/>
          <a:lstStyle/>
          <a:p>
            <a:fld id="{A330ECBB-EFA0-4B67-A466-676224D8611D}" type="slidenum">
              <a:rPr lang="zh-CN" altLang="en-US" smtClean="0"/>
              <a:t>2</a:t>
            </a:fld>
            <a:endParaRPr lang="zh-CN" altLang="en-US"/>
          </a:p>
        </p:txBody>
      </p:sp>
    </p:spTree>
    <p:custDataLst>
      <p:tags r:id="rId1"/>
    </p:custDataLst>
    <p:extLst>
      <p:ext uri="{BB962C8B-B14F-4D97-AF65-F5344CB8AC3E}">
        <p14:creationId xmlns:p14="http://schemas.microsoft.com/office/powerpoint/2010/main" val="7036738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A8E7-5F4E-7675-0B88-DFAD63E867E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FFC3A95-C0C6-539A-90EF-6F6EF2AAB91B}"/>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latin typeface="Calibri" panose="020F0502020204030204" pitchFamily="34" charset="0"/>
                <a:ea typeface="Calibri" panose="020F0502020204030204" pitchFamily="34" charset="0"/>
                <a:cs typeface="Calibri" panose="020F0502020204030204" pitchFamily="34" charset="0"/>
              </a:rPr>
              <a:t>Problem Statement</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灯片编号占位符 7">
            <a:extLst>
              <a:ext uri="{FF2B5EF4-FFF2-40B4-BE49-F238E27FC236}">
                <a16:creationId xmlns:a16="http://schemas.microsoft.com/office/drawing/2014/main" id="{32BC4FF3-0827-63FD-B73B-F4A55871A5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30ECBB-EFA0-4B67-A466-676224D8611D}" type="slidenum">
              <a:rPr kumimoji="0" lang="zh-CN" altLang="en-US" sz="1200" b="1" i="0" u="none" strike="noStrike" kern="1200" cap="none" spc="0" normalizeH="0" baseline="0" noProof="0" smtClean="0">
                <a:ln>
                  <a:noFill/>
                </a:ln>
                <a:solidFill>
                  <a:prstClr val="black">
                    <a:tint val="75000"/>
                  </a:prstClr>
                </a:solidFill>
                <a:effectLst/>
                <a:uLnTx/>
                <a:uFillTx/>
                <a:latin typeface="Arial"/>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1" i="0" u="none" strike="noStrike" kern="1200" cap="none" spc="0" normalizeH="0" baseline="0" noProof="0">
              <a:ln>
                <a:noFill/>
              </a:ln>
              <a:solidFill>
                <a:prstClr val="black">
                  <a:tint val="75000"/>
                </a:prstClr>
              </a:solidFill>
              <a:effectLst/>
              <a:uLnTx/>
              <a:uFillTx/>
              <a:latin typeface="Arial"/>
              <a:ea typeface="微软雅黑" panose="020B0503020204020204" pitchFamily="34" charset="-122"/>
              <a:cs typeface="+mn-cs"/>
            </a:endParaRPr>
          </a:p>
        </p:txBody>
      </p:sp>
      <p:pic>
        <p:nvPicPr>
          <p:cNvPr id="12" name="图片 11">
            <a:extLst>
              <a:ext uri="{FF2B5EF4-FFF2-40B4-BE49-F238E27FC236}">
                <a16:creationId xmlns:a16="http://schemas.microsoft.com/office/drawing/2014/main" id="{01B82FBC-FBC8-0AE8-8E86-03811399A3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965835"/>
            <a:ext cx="4491990" cy="5173980"/>
          </a:xfrm>
          <a:prstGeom prst="rect">
            <a:avLst/>
          </a:prstGeom>
        </p:spPr>
      </p:pic>
      <p:pic>
        <p:nvPicPr>
          <p:cNvPr id="3" name="图片 2">
            <a:extLst>
              <a:ext uri="{FF2B5EF4-FFF2-40B4-BE49-F238E27FC236}">
                <a16:creationId xmlns:a16="http://schemas.microsoft.com/office/drawing/2014/main" id="{4EE19406-CB44-A827-907F-12DDE34F20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2530" y="965835"/>
            <a:ext cx="5201270" cy="5201270"/>
          </a:xfrm>
          <a:prstGeom prst="rect">
            <a:avLst/>
          </a:prstGeom>
        </p:spPr>
      </p:pic>
    </p:spTree>
    <p:custDataLst>
      <p:tags r:id="rId1"/>
    </p:custDataLst>
    <p:extLst>
      <p:ext uri="{BB962C8B-B14F-4D97-AF65-F5344CB8AC3E}">
        <p14:creationId xmlns:p14="http://schemas.microsoft.com/office/powerpoint/2010/main" val="1615306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558C5-F619-E13D-A645-EE8B0F9BE9E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2886559-753C-3DFE-7B63-5883B7451A20}"/>
              </a:ext>
            </a:extLst>
          </p:cNvPr>
          <p:cNvSpPr txBox="1"/>
          <p:nvPr/>
        </p:nvSpPr>
        <p:spPr>
          <a:xfrm>
            <a:off x="434788" y="770385"/>
            <a:ext cx="11322424" cy="1569660"/>
          </a:xfrm>
          <a:prstGeom prst="rect">
            <a:avLst/>
          </a:prstGeom>
          <a:noFill/>
        </p:spPr>
        <p:txBody>
          <a:bodyPr wrap="square" rtlCol="0">
            <a:spAutoFit/>
          </a:bodyPr>
          <a:lstStyle/>
          <a:p>
            <a:pPr fontAlgn="base"/>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(ii) What is Metamorphic Relations? Why is it possible to detect LLM hallucinations with MRs?</a:t>
            </a:r>
          </a:p>
          <a:p>
            <a:pPr fontAlgn="base"/>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 </a:t>
            </a:r>
          </a:p>
        </p:txBody>
      </p:sp>
      <p:sp>
        <p:nvSpPr>
          <p:cNvPr id="3" name="文本框 2">
            <a:extLst>
              <a:ext uri="{FF2B5EF4-FFF2-40B4-BE49-F238E27FC236}">
                <a16:creationId xmlns:a16="http://schemas.microsoft.com/office/drawing/2014/main" id="{9AAACE82-B705-457A-C3A8-69F7BC22CB2F}"/>
              </a:ext>
            </a:extLst>
          </p:cNvPr>
          <p:cNvSpPr txBox="1"/>
          <p:nvPr/>
        </p:nvSpPr>
        <p:spPr>
          <a:xfrm>
            <a:off x="434788" y="2340045"/>
            <a:ext cx="11322424" cy="1384995"/>
          </a:xfrm>
          <a:prstGeom prst="rect">
            <a:avLst/>
          </a:prstGeom>
          <a:noFill/>
        </p:spPr>
        <p:txBody>
          <a:bodyPr wrap="square" rtlCol="0">
            <a:spAutoFit/>
          </a:bodyPr>
          <a:lstStyle/>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MRs define how the output of a system should change when its input is systematically modified. </a:t>
            </a:r>
          </a:p>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MRs originally used in software testing to handle the oracle problem.</a:t>
            </a:r>
          </a:p>
        </p:txBody>
      </p:sp>
      <p:sp>
        <p:nvSpPr>
          <p:cNvPr id="6" name="矩形 5">
            <a:extLst>
              <a:ext uri="{FF2B5EF4-FFF2-40B4-BE49-F238E27FC236}">
                <a16:creationId xmlns:a16="http://schemas.microsoft.com/office/drawing/2014/main" id="{0F498B33-C672-67F8-BCB4-FBDC6C8DB567}"/>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a:latin typeface="Calibri" panose="020F0502020204030204" pitchFamily="34" charset="0"/>
                <a:ea typeface="Calibri" panose="020F0502020204030204" pitchFamily="34" charset="0"/>
                <a:cs typeface="Calibri" panose="020F0502020204030204" pitchFamily="34" charset="0"/>
              </a:rPr>
              <a:t>Problem Statement</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3" name="灯片编号占位符 12">
            <a:extLst>
              <a:ext uri="{FF2B5EF4-FFF2-40B4-BE49-F238E27FC236}">
                <a16:creationId xmlns:a16="http://schemas.microsoft.com/office/drawing/2014/main" id="{D9CD261A-81C3-79A2-3312-0D43A02E69B7}"/>
              </a:ext>
            </a:extLst>
          </p:cNvPr>
          <p:cNvSpPr>
            <a:spLocks noGrp="1"/>
          </p:cNvSpPr>
          <p:nvPr>
            <p:ph type="sldNum" sz="quarter" idx="12"/>
          </p:nvPr>
        </p:nvSpPr>
        <p:spPr/>
        <p:txBody>
          <a:bodyPr/>
          <a:lstStyle/>
          <a:p>
            <a:fld id="{A330ECBB-EFA0-4B67-A466-676224D8611D}" type="slidenum">
              <a:rPr lang="zh-CN" altLang="en-US" smtClean="0"/>
              <a:t>4</a:t>
            </a:fld>
            <a:endParaRPr lang="zh-CN" altLang="en-US"/>
          </a:p>
        </p:txBody>
      </p:sp>
    </p:spTree>
    <p:custDataLst>
      <p:tags r:id="rId1"/>
    </p:custDataLst>
    <p:extLst>
      <p:ext uri="{BB962C8B-B14F-4D97-AF65-F5344CB8AC3E}">
        <p14:creationId xmlns:p14="http://schemas.microsoft.com/office/powerpoint/2010/main" val="2466140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0D9A9-209F-7396-FE2D-CD74EF422FB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A8028EF-F676-94FC-2FA3-687D5DAAE0F9}"/>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latin typeface="Calibri" panose="020F0502020204030204" pitchFamily="34" charset="0"/>
                <a:ea typeface="Calibri" panose="020F0502020204030204" pitchFamily="34" charset="0"/>
                <a:cs typeface="Calibri" panose="020F0502020204030204" pitchFamily="34" charset="0"/>
              </a:rPr>
              <a:t>Problem Statement</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灯片编号占位符 7">
            <a:extLst>
              <a:ext uri="{FF2B5EF4-FFF2-40B4-BE49-F238E27FC236}">
                <a16:creationId xmlns:a16="http://schemas.microsoft.com/office/drawing/2014/main" id="{72639D89-E8A3-04F4-673E-7EE729FA5B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30ECBB-EFA0-4B67-A466-676224D8611D}" type="slidenum">
              <a:rPr kumimoji="0" lang="zh-CN" altLang="en-US" sz="1200" b="1" i="0" u="none" strike="noStrike" kern="1200" cap="none" spc="0" normalizeH="0" baseline="0" noProof="0" smtClean="0">
                <a:ln>
                  <a:noFill/>
                </a:ln>
                <a:solidFill>
                  <a:prstClr val="black">
                    <a:tint val="75000"/>
                  </a:prstClr>
                </a:solidFill>
                <a:effectLst/>
                <a:uLnTx/>
                <a:uFillTx/>
                <a:latin typeface="Arial"/>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1" i="0" u="none" strike="noStrike" kern="1200" cap="none" spc="0" normalizeH="0" baseline="0" noProof="0">
              <a:ln>
                <a:noFill/>
              </a:ln>
              <a:solidFill>
                <a:prstClr val="black">
                  <a:tint val="75000"/>
                </a:prstClr>
              </a:solidFill>
              <a:effectLst/>
              <a:uLnTx/>
              <a:uFillTx/>
              <a:latin typeface="Arial"/>
              <a:ea typeface="微软雅黑" panose="020B0503020204020204" pitchFamily="34" charset="-122"/>
              <a:cs typeface="+mn-cs"/>
            </a:endParaRPr>
          </a:p>
        </p:txBody>
      </p:sp>
      <p:pic>
        <p:nvPicPr>
          <p:cNvPr id="11" name="图片 10">
            <a:extLst>
              <a:ext uri="{FF2B5EF4-FFF2-40B4-BE49-F238E27FC236}">
                <a16:creationId xmlns:a16="http://schemas.microsoft.com/office/drawing/2014/main" id="{98F2464B-50CA-8A8C-CD21-05398983E7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3987" y="1252537"/>
            <a:ext cx="9344025" cy="4600575"/>
          </a:xfrm>
          <a:prstGeom prst="rect">
            <a:avLst/>
          </a:prstGeom>
        </p:spPr>
      </p:pic>
    </p:spTree>
    <p:custDataLst>
      <p:tags r:id="rId1"/>
    </p:custDataLst>
    <p:extLst>
      <p:ext uri="{BB962C8B-B14F-4D97-AF65-F5344CB8AC3E}">
        <p14:creationId xmlns:p14="http://schemas.microsoft.com/office/powerpoint/2010/main" val="1558041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CD53C-D4FA-D043-F300-A2A47E2CBD4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B443C32-41EE-D6D3-29C8-2E7AE7CF256B}"/>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a:latin typeface="Calibri" panose="020F0502020204030204" pitchFamily="34" charset="0"/>
                <a:ea typeface="Calibri" panose="020F0502020204030204" pitchFamily="34" charset="0"/>
                <a:cs typeface="Calibri" panose="020F0502020204030204" pitchFamily="34" charset="0"/>
              </a:rPr>
              <a:t>Problem Statement</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 name="文本框 1">
            <a:extLst>
              <a:ext uri="{FF2B5EF4-FFF2-40B4-BE49-F238E27FC236}">
                <a16:creationId xmlns:a16="http://schemas.microsoft.com/office/drawing/2014/main" id="{41D87065-58D1-8C71-5D1B-68A9B645427C}"/>
              </a:ext>
            </a:extLst>
          </p:cNvPr>
          <p:cNvSpPr txBox="1"/>
          <p:nvPr/>
        </p:nvSpPr>
        <p:spPr>
          <a:xfrm>
            <a:off x="434788" y="770385"/>
            <a:ext cx="11322424" cy="1077218"/>
          </a:xfrm>
          <a:prstGeom prst="rect">
            <a:avLst/>
          </a:prstGeom>
          <a:noFill/>
        </p:spPr>
        <p:txBody>
          <a:bodyPr wrap="square" rtlCol="0">
            <a:spAutoFit/>
          </a:bodyPr>
          <a:lstStyle/>
          <a:p>
            <a:pPr fontAlgn="base"/>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(iii) Related work</a:t>
            </a:r>
          </a:p>
          <a:p>
            <a:pPr marL="571500" indent="-571500" fontAlgn="base">
              <a:buAutoNum type="romanLcParenBoth"/>
            </a:pPr>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F032E1D8-1ED5-9E95-3467-0C01D0907410}"/>
              </a:ext>
            </a:extLst>
          </p:cNvPr>
          <p:cNvSpPr txBox="1"/>
          <p:nvPr/>
        </p:nvSpPr>
        <p:spPr>
          <a:xfrm>
            <a:off x="434788" y="1847603"/>
            <a:ext cx="11322424" cy="1815882"/>
          </a:xfrm>
          <a:prstGeom prst="rect">
            <a:avLst/>
          </a:prstGeom>
          <a:noFill/>
        </p:spPr>
        <p:txBody>
          <a:bodyPr wrap="square" rtlCol="0">
            <a:spAutoFit/>
          </a:bodyPr>
          <a:lstStyle/>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Reliable knowledge sources (external databases, more costs)</a:t>
            </a:r>
          </a:p>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Uncertainty measure (open-source models)</a:t>
            </a:r>
          </a:p>
          <a:p>
            <a:pPr marL="457200" indent="-457200" fontAlgn="base">
              <a:buFont typeface="Arial" panose="020B0604020202020204" pitchFamily="34" charset="0"/>
              <a:buChar char="•"/>
            </a:pP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LM vs LM (external agents)</a:t>
            </a:r>
          </a:p>
          <a:p>
            <a:pPr fontAlgn="base"/>
            <a:endPar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灯片编号占位符 7">
            <a:extLst>
              <a:ext uri="{FF2B5EF4-FFF2-40B4-BE49-F238E27FC236}">
                <a16:creationId xmlns:a16="http://schemas.microsoft.com/office/drawing/2014/main" id="{26BCFD92-16D6-F08B-2B7B-CCE76AA1D0FE}"/>
              </a:ext>
            </a:extLst>
          </p:cNvPr>
          <p:cNvSpPr>
            <a:spLocks noGrp="1"/>
          </p:cNvSpPr>
          <p:nvPr>
            <p:ph type="sldNum" sz="quarter" idx="12"/>
          </p:nvPr>
        </p:nvSpPr>
        <p:spPr/>
        <p:txBody>
          <a:bodyPr/>
          <a:lstStyle/>
          <a:p>
            <a:fld id="{A330ECBB-EFA0-4B67-A466-676224D8611D}" type="slidenum">
              <a:rPr lang="zh-CN" altLang="en-US" smtClean="0"/>
              <a:t>6</a:t>
            </a:fld>
            <a:endParaRPr lang="zh-CN" altLang="en-US"/>
          </a:p>
        </p:txBody>
      </p:sp>
      <p:pic>
        <p:nvPicPr>
          <p:cNvPr id="6" name="图片 5">
            <a:extLst>
              <a:ext uri="{FF2B5EF4-FFF2-40B4-BE49-F238E27FC236}">
                <a16:creationId xmlns:a16="http://schemas.microsoft.com/office/drawing/2014/main" id="{AC5765A3-6B56-C8ED-66E1-AADB10ACE2D3}"/>
              </a:ext>
            </a:extLst>
          </p:cNvPr>
          <p:cNvPicPr>
            <a:picLocks noChangeAspect="1"/>
          </p:cNvPicPr>
          <p:nvPr/>
        </p:nvPicPr>
        <p:blipFill>
          <a:blip r:embed="rId4"/>
          <a:stretch>
            <a:fillRect/>
          </a:stretch>
        </p:blipFill>
        <p:spPr>
          <a:xfrm>
            <a:off x="2037783" y="3223750"/>
            <a:ext cx="8116433" cy="3315162"/>
          </a:xfrm>
          <a:prstGeom prst="rect">
            <a:avLst/>
          </a:prstGeom>
          <a:ln w="38100">
            <a:solidFill>
              <a:schemeClr val="tx1"/>
            </a:solidFill>
          </a:ln>
        </p:spPr>
      </p:pic>
      <p:pic>
        <p:nvPicPr>
          <p:cNvPr id="9" name="图片 8">
            <a:extLst>
              <a:ext uri="{FF2B5EF4-FFF2-40B4-BE49-F238E27FC236}">
                <a16:creationId xmlns:a16="http://schemas.microsoft.com/office/drawing/2014/main" id="{000AFE3D-58AC-CEED-2F4E-CF12E54B49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7623" y="2755544"/>
            <a:ext cx="5366385" cy="4034790"/>
          </a:xfrm>
          <a:prstGeom prst="rect">
            <a:avLst/>
          </a:prstGeom>
          <a:ln w="38100">
            <a:solidFill>
              <a:schemeClr val="tx1"/>
            </a:solidFill>
          </a:ln>
        </p:spPr>
      </p:pic>
      <p:pic>
        <p:nvPicPr>
          <p:cNvPr id="7" name="图片 6">
            <a:extLst>
              <a:ext uri="{FF2B5EF4-FFF2-40B4-BE49-F238E27FC236}">
                <a16:creationId xmlns:a16="http://schemas.microsoft.com/office/drawing/2014/main" id="{4C5D69AE-48E1-C5DB-5145-E3FDD59EF4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26600" y="2663152"/>
            <a:ext cx="5927408" cy="4127182"/>
          </a:xfrm>
          <a:prstGeom prst="rect">
            <a:avLst/>
          </a:prstGeom>
          <a:ln w="38100">
            <a:solidFill>
              <a:schemeClr val="tx1"/>
            </a:solidFill>
          </a:ln>
        </p:spPr>
      </p:pic>
    </p:spTree>
    <p:custDataLst>
      <p:tags r:id="rId1"/>
    </p:custDataLst>
    <p:extLst>
      <p:ext uri="{BB962C8B-B14F-4D97-AF65-F5344CB8AC3E}">
        <p14:creationId xmlns:p14="http://schemas.microsoft.com/office/powerpoint/2010/main" val="246586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AC019-E135-5F99-37C6-99C8C6B9D60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C03A450-EA57-82A4-9FFE-7C411CF39CAA}"/>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600">
                <a:latin typeface="Calibri" panose="020F0502020204030204" pitchFamily="34" charset="0"/>
                <a:ea typeface="Calibri" panose="020F0502020204030204" pitchFamily="34" charset="0"/>
                <a:cs typeface="Calibri" panose="020F0502020204030204" pitchFamily="34" charset="0"/>
              </a:rPr>
              <a:t>Our Contribution</a:t>
            </a:r>
            <a:endParaRPr lang="zh-CN" altLang="en-US" sz="36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 name="文本框 1">
            <a:extLst>
              <a:ext uri="{FF2B5EF4-FFF2-40B4-BE49-F238E27FC236}">
                <a16:creationId xmlns:a16="http://schemas.microsoft.com/office/drawing/2014/main" id="{584024F6-99C7-235D-B19C-D57EF834917C}"/>
              </a:ext>
            </a:extLst>
          </p:cNvPr>
          <p:cNvSpPr txBox="1"/>
          <p:nvPr/>
        </p:nvSpPr>
        <p:spPr>
          <a:xfrm>
            <a:off x="434788" y="770385"/>
            <a:ext cx="11322424" cy="1015663"/>
          </a:xfrm>
          <a:prstGeom prst="rect">
            <a:avLst/>
          </a:prstGeom>
          <a:noFill/>
        </p:spPr>
        <p:txBody>
          <a:bodyPr wrap="square" rtlCol="0">
            <a:spAutoFit/>
          </a:bodyPr>
          <a:lstStyle/>
          <a:p>
            <a:pPr fontAlgn="base"/>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To fill this gap, we:</a:t>
            </a:r>
          </a:p>
          <a:p>
            <a:pPr fontAlgn="base"/>
            <a:endPar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75C26ED9-963B-158A-E0BC-E522B84C1786}"/>
              </a:ext>
            </a:extLst>
          </p:cNvPr>
          <p:cNvSpPr txBox="1"/>
          <p:nvPr/>
        </p:nvSpPr>
        <p:spPr>
          <a:xfrm>
            <a:off x="434788" y="1786048"/>
            <a:ext cx="11322424" cy="954107"/>
          </a:xfrm>
          <a:prstGeom prst="rect">
            <a:avLst/>
          </a:prstGeom>
          <a:noFill/>
        </p:spPr>
        <p:txBody>
          <a:bodyPr wrap="square">
            <a:spAutoFit/>
          </a:bodyPr>
          <a:lstStyle/>
          <a:p>
            <a:pPr fontAlgn="base"/>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2800" dirty="0" err="1">
                <a:solidFill>
                  <a:srgbClr val="000000"/>
                </a:solidFill>
                <a:latin typeface="Calibri" panose="020F0502020204030204" pitchFamily="34" charset="0"/>
                <a:ea typeface="Calibri" panose="020F0502020204030204" pitchFamily="34" charset="0"/>
                <a:cs typeface="Calibri" panose="020F0502020204030204" pitchFamily="34" charset="0"/>
              </a:rPr>
              <a:t>i</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Proposed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MetaQA</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a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lightweight</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dependency-free</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hallucination detection method.</a:t>
            </a:r>
          </a:p>
        </p:txBody>
      </p:sp>
      <p:sp>
        <p:nvSpPr>
          <p:cNvPr id="8" name="文本框 7">
            <a:extLst>
              <a:ext uri="{FF2B5EF4-FFF2-40B4-BE49-F238E27FC236}">
                <a16:creationId xmlns:a16="http://schemas.microsoft.com/office/drawing/2014/main" id="{2CA80844-5B48-8693-4A5D-C6AD4C5182E0}"/>
              </a:ext>
            </a:extLst>
          </p:cNvPr>
          <p:cNvSpPr txBox="1"/>
          <p:nvPr/>
        </p:nvSpPr>
        <p:spPr>
          <a:xfrm>
            <a:off x="434787" y="2740155"/>
            <a:ext cx="11322423" cy="954107"/>
          </a:xfrm>
          <a:prstGeom prst="rect">
            <a:avLst/>
          </a:prstGeom>
          <a:noFill/>
        </p:spPr>
        <p:txBody>
          <a:bodyPr wrap="square">
            <a:spAutoFit/>
          </a:bodyPr>
          <a:lstStyle/>
          <a:p>
            <a:pPr fontAlgn="base"/>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(ii) Applied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synonym- and antonym-based metamorphic relations</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to detect hallucination in LLMs responses.</a:t>
            </a:r>
          </a:p>
        </p:txBody>
      </p:sp>
      <p:sp>
        <p:nvSpPr>
          <p:cNvPr id="10" name="文本框 9">
            <a:extLst>
              <a:ext uri="{FF2B5EF4-FFF2-40B4-BE49-F238E27FC236}">
                <a16:creationId xmlns:a16="http://schemas.microsoft.com/office/drawing/2014/main" id="{E8411CEC-5084-9B7B-F2F7-86BDCE097B2B}"/>
              </a:ext>
            </a:extLst>
          </p:cNvPr>
          <p:cNvSpPr txBox="1"/>
          <p:nvPr/>
        </p:nvSpPr>
        <p:spPr>
          <a:xfrm>
            <a:off x="434783" y="3694262"/>
            <a:ext cx="11322423" cy="954107"/>
          </a:xfrm>
          <a:prstGeom prst="rect">
            <a:avLst/>
          </a:prstGeom>
          <a:noFill/>
        </p:spPr>
        <p:txBody>
          <a:bodyPr wrap="square">
            <a:spAutoFit/>
          </a:bodyPr>
          <a:lstStyle/>
          <a:p>
            <a:pPr fontAlgn="base"/>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(iii) Built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TruthfulQA</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-Enhanced</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by updating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238</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questions for </a:t>
            </a:r>
            <a:r>
              <a:rPr lang="en-US" altLang="zh-CN" sz="2800" dirty="0" err="1">
                <a:solidFill>
                  <a:srgbClr val="000000"/>
                </a:solidFill>
                <a:latin typeface="Calibri" panose="020F0502020204030204" pitchFamily="34" charset="0"/>
                <a:ea typeface="Calibri" panose="020F0502020204030204" pitchFamily="34" charset="0"/>
                <a:cs typeface="Calibri" panose="020F0502020204030204" pitchFamily="34" charset="0"/>
              </a:rPr>
              <a:t>TruthfulQA</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dataset.</a:t>
            </a:r>
          </a:p>
        </p:txBody>
      </p:sp>
      <p:sp>
        <p:nvSpPr>
          <p:cNvPr id="12" name="文本框 11">
            <a:extLst>
              <a:ext uri="{FF2B5EF4-FFF2-40B4-BE49-F238E27FC236}">
                <a16:creationId xmlns:a16="http://schemas.microsoft.com/office/drawing/2014/main" id="{50898055-79E2-7623-C4FE-F1CD81E7338C}"/>
              </a:ext>
            </a:extLst>
          </p:cNvPr>
          <p:cNvSpPr txBox="1"/>
          <p:nvPr/>
        </p:nvSpPr>
        <p:spPr>
          <a:xfrm>
            <a:off x="434779" y="4648369"/>
            <a:ext cx="11322423" cy="954107"/>
          </a:xfrm>
          <a:prstGeom prst="rect">
            <a:avLst/>
          </a:prstGeom>
          <a:noFill/>
        </p:spPr>
        <p:txBody>
          <a:bodyPr wrap="square">
            <a:spAutoFit/>
          </a:bodyPr>
          <a:lstStyle/>
          <a:p>
            <a:pPr fontAlgn="base"/>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(iv) Conducted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evaluations</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2800" dirty="0" err="1">
                <a:solidFill>
                  <a:srgbClr val="000000"/>
                </a:solidFill>
                <a:latin typeface="Calibri" panose="020F0502020204030204" pitchFamily="34" charset="0"/>
                <a:ea typeface="Calibri" panose="020F0502020204030204" pitchFamily="34" charset="0"/>
                <a:cs typeface="Calibri" panose="020F0502020204030204" pitchFamily="34" charset="0"/>
              </a:rPr>
              <a:t>MetaQA</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outperforms </a:t>
            </a:r>
            <a:r>
              <a:rPr lang="en-US" altLang="zh-CN" sz="2800" dirty="0">
                <a:latin typeface="Calibri" panose="020F0502020204030204" pitchFamily="34" charset="0"/>
                <a:ea typeface="Calibri" panose="020F0502020204030204" pitchFamily="34" charset="0"/>
                <a:cs typeface="Calibri" panose="020F0502020204030204" pitchFamily="34" charset="0"/>
              </a:rPr>
              <a:t>baseline</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on precision, recall, and F1 score across 3 datasets and 4 LLMs.</a:t>
            </a:r>
          </a:p>
        </p:txBody>
      </p:sp>
      <p:sp>
        <p:nvSpPr>
          <p:cNvPr id="13" name="灯片编号占位符 12">
            <a:extLst>
              <a:ext uri="{FF2B5EF4-FFF2-40B4-BE49-F238E27FC236}">
                <a16:creationId xmlns:a16="http://schemas.microsoft.com/office/drawing/2014/main" id="{013EB632-1A7F-56B4-9577-205AAD5B5135}"/>
              </a:ext>
            </a:extLst>
          </p:cNvPr>
          <p:cNvSpPr>
            <a:spLocks noGrp="1"/>
          </p:cNvSpPr>
          <p:nvPr>
            <p:ph type="sldNum" sz="quarter" idx="12"/>
          </p:nvPr>
        </p:nvSpPr>
        <p:spPr/>
        <p:txBody>
          <a:bodyPr/>
          <a:lstStyle/>
          <a:p>
            <a:fld id="{A330ECBB-EFA0-4B67-A466-676224D8611D}" type="slidenum">
              <a:rPr lang="zh-CN" altLang="en-US" smtClean="0"/>
              <a:t>7</a:t>
            </a:fld>
            <a:endParaRPr lang="zh-CN" altLang="en-US"/>
          </a:p>
        </p:txBody>
      </p:sp>
    </p:spTree>
    <p:custDataLst>
      <p:tags r:id="rId1"/>
    </p:custDataLst>
    <p:extLst>
      <p:ext uri="{BB962C8B-B14F-4D97-AF65-F5344CB8AC3E}">
        <p14:creationId xmlns:p14="http://schemas.microsoft.com/office/powerpoint/2010/main" val="241442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BCF4-7E2B-431F-2ED1-492B50E215CB}"/>
            </a:ext>
          </a:extLst>
        </p:cNvPr>
        <p:cNvGrpSpPr/>
        <p:nvPr/>
      </p:nvGrpSpPr>
      <p:grpSpPr>
        <a:xfrm>
          <a:off x="0" y="0"/>
          <a:ext cx="0" cy="0"/>
          <a:chOff x="0" y="0"/>
          <a:chExt cx="0" cy="0"/>
        </a:xfrm>
      </p:grpSpPr>
      <p:pic>
        <p:nvPicPr>
          <p:cNvPr id="20" name="图片 19">
            <a:extLst>
              <a:ext uri="{FF2B5EF4-FFF2-40B4-BE49-F238E27FC236}">
                <a16:creationId xmlns:a16="http://schemas.microsoft.com/office/drawing/2014/main" id="{A705FD64-6359-FB68-90B1-3B882D276B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46183"/>
            <a:ext cx="12192000" cy="3565633"/>
          </a:xfrm>
          <a:prstGeom prst="rect">
            <a:avLst/>
          </a:prstGeom>
        </p:spPr>
      </p:pic>
      <p:sp>
        <p:nvSpPr>
          <p:cNvPr id="21" name="文本框 20">
            <a:extLst>
              <a:ext uri="{FF2B5EF4-FFF2-40B4-BE49-F238E27FC236}">
                <a16:creationId xmlns:a16="http://schemas.microsoft.com/office/drawing/2014/main" id="{2846F989-1071-48C5-31CD-7CA2B2CBCF39}"/>
              </a:ext>
            </a:extLst>
          </p:cNvPr>
          <p:cNvSpPr txBox="1"/>
          <p:nvPr/>
        </p:nvSpPr>
        <p:spPr>
          <a:xfrm>
            <a:off x="4403914" y="5211816"/>
            <a:ext cx="3384171" cy="461665"/>
          </a:xfrm>
          <a:prstGeom prst="rect">
            <a:avLst/>
          </a:prstGeom>
          <a:noFill/>
        </p:spPr>
        <p:txBody>
          <a:bodyPr wrap="square" rtlCol="0">
            <a:spAutoFit/>
          </a:bodyPr>
          <a:lstStyle/>
          <a:p>
            <a:pPr fontAlgn="base"/>
            <a:r>
              <a:rPr lang="en-US" altLang="zh-CN" sz="2400" dirty="0">
                <a:solidFill>
                  <a:srgbClr val="000000"/>
                </a:solidFill>
                <a:latin typeface="Calibri" panose="020F0502020204030204" pitchFamily="34" charset="0"/>
                <a:ea typeface="Calibri" panose="020F0502020204030204" pitchFamily="34" charset="0"/>
                <a:cs typeface="Calibri" panose="020F0502020204030204" pitchFamily="34" charset="0"/>
              </a:rPr>
              <a:t>The Workflow of </a:t>
            </a:r>
            <a:r>
              <a:rPr lang="en-US" altLang="zh-CN"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MetaQA</a:t>
            </a:r>
            <a:endParaRPr lang="en-US" altLang="zh-CN"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矩形 2">
            <a:extLst>
              <a:ext uri="{FF2B5EF4-FFF2-40B4-BE49-F238E27FC236}">
                <a16:creationId xmlns:a16="http://schemas.microsoft.com/office/drawing/2014/main" id="{D8389E66-365B-30CA-033B-224DC396DC8A}"/>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err="1">
                <a:latin typeface="Calibri" panose="020F0502020204030204" pitchFamily="34" charset="0"/>
                <a:ea typeface="Calibri" panose="020F0502020204030204" pitchFamily="34" charset="0"/>
                <a:cs typeface="Calibri" panose="020F0502020204030204" pitchFamily="34" charset="0"/>
              </a:rPr>
              <a:t>MetaQA</a:t>
            </a:r>
            <a:r>
              <a:rPr lang="en-US" altLang="zh-CN" sz="3200" dirty="0">
                <a:latin typeface="Calibri" panose="020F0502020204030204" pitchFamily="34" charset="0"/>
                <a:ea typeface="Calibri" panose="020F0502020204030204" pitchFamily="34" charset="0"/>
                <a:cs typeface="Calibri" panose="020F0502020204030204" pitchFamily="34" charset="0"/>
              </a:rPr>
              <a:t> Method Overview</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 name="灯片编号占位符 3">
            <a:extLst>
              <a:ext uri="{FF2B5EF4-FFF2-40B4-BE49-F238E27FC236}">
                <a16:creationId xmlns:a16="http://schemas.microsoft.com/office/drawing/2014/main" id="{99C8672B-D4C5-AB23-23A5-2E1A823BA55B}"/>
              </a:ext>
            </a:extLst>
          </p:cNvPr>
          <p:cNvSpPr>
            <a:spLocks noGrp="1"/>
          </p:cNvSpPr>
          <p:nvPr>
            <p:ph type="sldNum" sz="quarter" idx="12"/>
          </p:nvPr>
        </p:nvSpPr>
        <p:spPr/>
        <p:txBody>
          <a:bodyPr/>
          <a:lstStyle/>
          <a:p>
            <a:fld id="{A330ECBB-EFA0-4B67-A466-676224D8611D}" type="slidenum">
              <a:rPr lang="zh-CN" altLang="en-US" smtClean="0"/>
              <a:t>8</a:t>
            </a:fld>
            <a:endParaRPr lang="zh-CN" altLang="en-US"/>
          </a:p>
        </p:txBody>
      </p:sp>
    </p:spTree>
    <p:custDataLst>
      <p:tags r:id="rId1"/>
    </p:custDataLst>
    <p:extLst>
      <p:ext uri="{BB962C8B-B14F-4D97-AF65-F5344CB8AC3E}">
        <p14:creationId xmlns:p14="http://schemas.microsoft.com/office/powerpoint/2010/main" val="10312390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1B8CA-26E3-4FF9-E4C0-1DB19229A13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DC708E8-E70C-AC66-7170-14D316B03AC1}"/>
              </a:ext>
            </a:extLst>
          </p:cNvPr>
          <p:cNvSpPr txBox="1"/>
          <p:nvPr/>
        </p:nvSpPr>
        <p:spPr>
          <a:xfrm>
            <a:off x="434788" y="770385"/>
            <a:ext cx="11322424" cy="1077218"/>
          </a:xfrm>
          <a:prstGeom prst="rect">
            <a:avLst/>
          </a:prstGeom>
          <a:noFill/>
        </p:spPr>
        <p:txBody>
          <a:bodyPr wrap="square" rtlCol="0">
            <a:spAutoFit/>
          </a:bodyPr>
          <a:lstStyle/>
          <a:p>
            <a:pPr marL="571500" indent="-571500" rtl="0" fontAlgn="base">
              <a:spcBef>
                <a:spcPts val="0"/>
              </a:spcBef>
              <a:spcAft>
                <a:spcPts val="0"/>
              </a:spcAft>
              <a:buAutoNum type="romanLcParenBoth"/>
            </a:pPr>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Concise Question-Answering</a:t>
            </a:r>
          </a:p>
          <a:p>
            <a:pPr marL="571500" indent="-571500" rtl="0" fontAlgn="base">
              <a:spcBef>
                <a:spcPts val="0"/>
              </a:spcBef>
              <a:spcAft>
                <a:spcPts val="0"/>
              </a:spcAft>
              <a:buAutoNum type="romanLcParenBoth"/>
            </a:pPr>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2641A996-18FA-C218-9F82-2E8880AF60F0}"/>
              </a:ext>
            </a:extLst>
          </p:cNvPr>
          <p:cNvSpPr txBox="1"/>
          <p:nvPr/>
        </p:nvSpPr>
        <p:spPr>
          <a:xfrm>
            <a:off x="434788" y="1847603"/>
            <a:ext cx="11322424"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Prompts LLMs to generate brief, contextually grounded answers.</a:t>
            </a:r>
          </a:p>
        </p:txBody>
      </p:sp>
      <p:pic>
        <p:nvPicPr>
          <p:cNvPr id="10" name="图片 9">
            <a:extLst>
              <a:ext uri="{FF2B5EF4-FFF2-40B4-BE49-F238E27FC236}">
                <a16:creationId xmlns:a16="http://schemas.microsoft.com/office/drawing/2014/main" id="{2B8774D4-C17A-A83A-AC1F-B4C48D70F0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125" y="2370823"/>
            <a:ext cx="10191750" cy="2981325"/>
          </a:xfrm>
          <a:prstGeom prst="rect">
            <a:avLst/>
          </a:prstGeom>
        </p:spPr>
      </p:pic>
      <p:sp>
        <p:nvSpPr>
          <p:cNvPr id="11" name="矩形 10">
            <a:extLst>
              <a:ext uri="{FF2B5EF4-FFF2-40B4-BE49-F238E27FC236}">
                <a16:creationId xmlns:a16="http://schemas.microsoft.com/office/drawing/2014/main" id="{7F6E6F8E-9D65-58DF-0415-D71C4108E0B7}"/>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err="1">
                <a:latin typeface="Calibri" panose="020F0502020204030204" pitchFamily="34" charset="0"/>
                <a:ea typeface="Calibri" panose="020F0502020204030204" pitchFamily="34" charset="0"/>
                <a:cs typeface="Calibri" panose="020F0502020204030204" pitchFamily="34" charset="0"/>
              </a:rPr>
              <a:t>MetaQA</a:t>
            </a:r>
            <a:r>
              <a:rPr lang="en-US" altLang="zh-CN" sz="3200" dirty="0">
                <a:latin typeface="Calibri" panose="020F0502020204030204" pitchFamily="34" charset="0"/>
                <a:ea typeface="Calibri" panose="020F0502020204030204" pitchFamily="34" charset="0"/>
                <a:cs typeface="Calibri" panose="020F0502020204030204" pitchFamily="34" charset="0"/>
              </a:rPr>
              <a:t> Method Overview</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2" name="灯片编号占位符 11">
            <a:extLst>
              <a:ext uri="{FF2B5EF4-FFF2-40B4-BE49-F238E27FC236}">
                <a16:creationId xmlns:a16="http://schemas.microsoft.com/office/drawing/2014/main" id="{2753AEB7-0706-13D2-9F43-DD8A3ECB5145}"/>
              </a:ext>
            </a:extLst>
          </p:cNvPr>
          <p:cNvSpPr>
            <a:spLocks noGrp="1"/>
          </p:cNvSpPr>
          <p:nvPr>
            <p:ph type="sldNum" sz="quarter" idx="12"/>
          </p:nvPr>
        </p:nvSpPr>
        <p:spPr/>
        <p:txBody>
          <a:bodyPr/>
          <a:lstStyle/>
          <a:p>
            <a:fld id="{A330ECBB-EFA0-4B67-A466-676224D8611D}" type="slidenum">
              <a:rPr lang="zh-CN" altLang="en-US" smtClean="0"/>
              <a:t>9</a:t>
            </a:fld>
            <a:endParaRPr lang="zh-CN" altLang="en-US"/>
          </a:p>
        </p:txBody>
      </p:sp>
    </p:spTree>
    <p:custDataLst>
      <p:tags r:id="rId1"/>
    </p:custDataLst>
    <p:extLst>
      <p:ext uri="{BB962C8B-B14F-4D97-AF65-F5344CB8AC3E}">
        <p14:creationId xmlns:p14="http://schemas.microsoft.com/office/powerpoint/2010/main" val="3746817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613B7-DADD-0FDA-7322-FC52AA6DCB0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0E895B8-9588-416E-9EC6-C6F14E06C41A}"/>
              </a:ext>
            </a:extLst>
          </p:cNvPr>
          <p:cNvSpPr txBox="1"/>
          <p:nvPr/>
        </p:nvSpPr>
        <p:spPr>
          <a:xfrm>
            <a:off x="434788" y="770385"/>
            <a:ext cx="11322424" cy="1077218"/>
          </a:xfrm>
          <a:prstGeom prst="rect">
            <a:avLst/>
          </a:prstGeom>
          <a:noFill/>
        </p:spPr>
        <p:txBody>
          <a:bodyPr wrap="square" rtlCol="0">
            <a:spAutoFit/>
          </a:bodyPr>
          <a:lstStyle/>
          <a:p>
            <a:pPr rtl="0" fontAlgn="base">
              <a:spcBef>
                <a:spcPts val="0"/>
              </a:spcBef>
              <a:spcAft>
                <a:spcPts val="0"/>
              </a:spcAft>
            </a:pPr>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(ii) Mutation Generation</a:t>
            </a:r>
          </a:p>
          <a:p>
            <a:pPr rtl="0" fontAlgn="base">
              <a:spcBef>
                <a:spcPts val="0"/>
              </a:spcBef>
              <a:spcAft>
                <a:spcPts val="0"/>
              </a:spcAft>
            </a:pPr>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1D11E149-8E50-5C60-A3B6-B292B3740104}"/>
              </a:ext>
            </a:extLst>
          </p:cNvPr>
          <p:cNvSpPr txBox="1"/>
          <p:nvPr/>
        </p:nvSpPr>
        <p:spPr>
          <a:xfrm>
            <a:off x="434788" y="1842667"/>
            <a:ext cx="11322424"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Create multiple distinct high-quality mutations to the response.</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F467EE0-396E-A1C7-1E05-00ABE3E63808}"/>
                  </a:ext>
                </a:extLst>
              </p:cNvPr>
              <p:cNvSpPr txBox="1"/>
              <p:nvPr/>
            </p:nvSpPr>
            <p:spPr>
              <a:xfrm>
                <a:off x="3856989" y="2365887"/>
                <a:ext cx="447802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𝑚𝑢𝑡𝑎𝑡𝑖𝑜𝑛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𝑠𝑢𝑏𝑗𝑒𝑐𝑡</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𝑟𝑒𝑙𝑎𝑡𝑖𝑜𝑛</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7" name="文本框 6">
                <a:extLst>
                  <a:ext uri="{FF2B5EF4-FFF2-40B4-BE49-F238E27FC236}">
                    <a16:creationId xmlns:a16="http://schemas.microsoft.com/office/drawing/2014/main" id="{BF467EE0-396E-A1C7-1E05-00ABE3E63808}"/>
                  </a:ext>
                </a:extLst>
              </p:cNvPr>
              <p:cNvSpPr txBox="1">
                <a:spLocks noRot="1" noChangeAspect="1" noMove="1" noResize="1" noEditPoints="1" noAdjustHandles="1" noChangeArrowheads="1" noChangeShapeType="1" noTextEdit="1"/>
              </p:cNvSpPr>
              <p:nvPr/>
            </p:nvSpPr>
            <p:spPr>
              <a:xfrm>
                <a:off x="3856989" y="2365887"/>
                <a:ext cx="4478021" cy="369332"/>
              </a:xfrm>
              <a:prstGeom prst="rect">
                <a:avLst/>
              </a:prstGeom>
              <a:blipFill>
                <a:blip r:embed="rId4"/>
                <a:stretch>
                  <a:fillRect l="-1090" r="-1771" b="-34426"/>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348D0391-7AD2-C466-3336-2FAF1A43CCA1}"/>
              </a:ext>
            </a:extLst>
          </p:cNvPr>
          <p:cNvSpPr txBox="1"/>
          <p:nvPr/>
        </p:nvSpPr>
        <p:spPr>
          <a:xfrm>
            <a:off x="434786" y="3259277"/>
            <a:ext cx="11322424" cy="954107"/>
          </a:xfrm>
          <a:prstGeom prst="rect">
            <a:avLst/>
          </a:prstGeom>
          <a:noFill/>
        </p:spPr>
        <p:txBody>
          <a:bodyPr wrap="square" rtlCol="0">
            <a:spAutoFit/>
          </a:bodyPr>
          <a:lstStyle/>
          <a:p>
            <a:r>
              <a:rPr lang="en-US" altLang="zh-CN" sz="2800" i="1" dirty="0">
                <a:latin typeface="Calibri" panose="020F0502020204030204" pitchFamily="34" charset="0"/>
                <a:ea typeface="Calibri" panose="020F0502020204030204" pitchFamily="34" charset="0"/>
                <a:cs typeface="Calibri" panose="020F0502020204030204" pitchFamily="34" charset="0"/>
              </a:rPr>
              <a:t>Relation 1: Synonymy Relation</a:t>
            </a:r>
          </a:p>
          <a:p>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Synonymous mutation</a:t>
            </a:r>
            <a:r>
              <a:rPr lang="en-US" altLang="zh-CN" sz="2800" dirty="0">
                <a:latin typeface="Calibri" panose="020F0502020204030204" pitchFamily="34" charset="0"/>
                <a:ea typeface="Calibri" panose="020F0502020204030204" pitchFamily="34" charset="0"/>
                <a:cs typeface="Calibri" panose="020F0502020204030204" pitchFamily="34" charset="0"/>
              </a:rPr>
              <a:t>:</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same semantic meaning variation of the origin</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62F1BAB-F2D2-24D9-DADE-3D5C52321C23}"/>
                  </a:ext>
                </a:extLst>
              </p:cNvPr>
              <p:cNvSpPr txBox="1"/>
              <p:nvPr/>
            </p:nvSpPr>
            <p:spPr>
              <a:xfrm>
                <a:off x="3417475" y="5533471"/>
                <a:ext cx="53570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𝑠𝑢𝑏</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𝑣𝑒𝑟𝑏</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𝑜𝑏𝑗</m:t>
                      </m:r>
                      <m:r>
                        <a:rPr lang="en-US" altLang="zh-CN" sz="2400" b="0" i="1" smtClean="0">
                          <a:latin typeface="Cambria Math" panose="02040503050406030204" pitchFamily="18" charset="0"/>
                        </a:rPr>
                        <m:t>)⇒</m:t>
                      </m:r>
                      <m:r>
                        <m:rPr>
                          <m:nor/>
                        </m:rPr>
                        <a:rPr lang="en-US" altLang="zh-CN" sz="2400"/>
                        <m:t>¬</m:t>
                      </m:r>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r>
                        <m:rPr>
                          <m:nor/>
                        </m:rPr>
                        <a:rPr lang="zh-CN" altLang="en-US" sz="2400"/>
                        <m:t>𝑠𝑢𝑏</m:t>
                      </m:r>
                      <m:r>
                        <m:rPr>
                          <m:nor/>
                        </m:rPr>
                        <a:rPr lang="en-US" altLang="zh-CN" sz="2400"/>
                        <m:t>,¬</m:t>
                      </m:r>
                      <m:r>
                        <m:rPr>
                          <m:nor/>
                        </m:rPr>
                        <a:rPr lang="zh-CN" altLang="en-US" sz="2400"/>
                        <m:t>𝑣𝑒𝑟𝑏</m:t>
                      </m:r>
                      <m:r>
                        <m:rPr>
                          <m:nor/>
                        </m:rPr>
                        <a:rPr lang="en-US" altLang="zh-CN" sz="2400"/>
                        <m:t>,</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𝑜𝑏𝑗</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9" name="文本框 8">
                <a:extLst>
                  <a:ext uri="{FF2B5EF4-FFF2-40B4-BE49-F238E27FC236}">
                    <a16:creationId xmlns:a16="http://schemas.microsoft.com/office/drawing/2014/main" id="{B62F1BAB-F2D2-24D9-DADE-3D5C52321C23}"/>
                  </a:ext>
                </a:extLst>
              </p:cNvPr>
              <p:cNvSpPr txBox="1">
                <a:spLocks noRot="1" noChangeAspect="1" noMove="1" noResize="1" noEditPoints="1" noAdjustHandles="1" noChangeArrowheads="1" noChangeShapeType="1" noTextEdit="1"/>
              </p:cNvSpPr>
              <p:nvPr/>
            </p:nvSpPr>
            <p:spPr>
              <a:xfrm>
                <a:off x="3417475" y="5533471"/>
                <a:ext cx="5357044" cy="369332"/>
              </a:xfrm>
              <a:prstGeom prst="rect">
                <a:avLst/>
              </a:prstGeom>
              <a:blipFill>
                <a:blip r:embed="rId5"/>
                <a:stretch>
                  <a:fillRect l="-683" r="-1367" b="-38333"/>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AD63AE70-44FD-93A8-0A3A-74FDE19C31E4}"/>
              </a:ext>
            </a:extLst>
          </p:cNvPr>
          <p:cNvSpPr txBox="1"/>
          <p:nvPr/>
        </p:nvSpPr>
        <p:spPr>
          <a:xfrm>
            <a:off x="434786" y="4581040"/>
            <a:ext cx="11322424" cy="954107"/>
          </a:xfrm>
          <a:prstGeom prst="rect">
            <a:avLst/>
          </a:prstGeom>
          <a:noFill/>
        </p:spPr>
        <p:txBody>
          <a:bodyPr wrap="square" rtlCol="0">
            <a:spAutoFit/>
          </a:bodyPr>
          <a:lstStyle/>
          <a:p>
            <a:r>
              <a:rPr lang="en-US" altLang="zh-CN" sz="2800" i="1" dirty="0">
                <a:latin typeface="Calibri" panose="020F0502020204030204" pitchFamily="34" charset="0"/>
                <a:ea typeface="Calibri" panose="020F0502020204030204" pitchFamily="34" charset="0"/>
                <a:cs typeface="Calibri" panose="020F0502020204030204" pitchFamily="34" charset="0"/>
              </a:rPr>
              <a:t>Relation 2: Antonymy Relation</a:t>
            </a:r>
          </a:p>
          <a:p>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Antonym mutation</a:t>
            </a:r>
            <a:r>
              <a:rPr lang="en-US" altLang="zh-CN" sz="2800" dirty="0">
                <a:latin typeface="Calibri" panose="020F0502020204030204" pitchFamily="34" charset="0"/>
                <a:ea typeface="Calibri" panose="020F0502020204030204" pitchFamily="34" charset="0"/>
                <a:cs typeface="Calibri" panose="020F0502020204030204" pitchFamily="34" charset="0"/>
              </a:rPr>
              <a:t>: opposite meaning to origin.</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9E924BC-10A8-D843-DD60-2ECC889993F0}"/>
                  </a:ext>
                </a:extLst>
              </p:cNvPr>
              <p:cNvSpPr txBox="1"/>
              <p:nvPr/>
            </p:nvSpPr>
            <p:spPr>
              <a:xfrm>
                <a:off x="1003737" y="4211708"/>
                <a:ext cx="10184521" cy="369332"/>
              </a:xfrm>
              <a:prstGeom prst="rect">
                <a:avLst/>
              </a:prstGeom>
              <a:noFill/>
            </p:spPr>
            <p:txBody>
              <a:bodyPr wrap="square" lIns="0" tIns="0" rIns="0" bIns="0" rtlCol="0">
                <a:spAutoFit/>
              </a:bodyPr>
              <a:lstStyle/>
              <a:p>
                <a14:m>
                  <m:oMath xmlns:m="http://schemas.openxmlformats.org/officeDocument/2006/math">
                    <m:r>
                      <a:rPr lang="en-US" altLang="zh-CN" sz="2400" i="1" smtClean="0">
                        <a:latin typeface="Cambria Math" panose="02040503050406030204" pitchFamily="18" charset="0"/>
                      </a:rPr>
                      <m:t>𝑅</m:t>
                    </m:r>
                    <m:r>
                      <a:rPr lang="en-US" altLang="zh-CN" sz="2400" i="1" smtClean="0">
                        <a:latin typeface="Cambria Math" panose="02040503050406030204" pitchFamily="18" charset="0"/>
                      </a:rPr>
                      <m:t>(</m:t>
                    </m:r>
                    <m:r>
                      <a:rPr lang="en-US" altLang="zh-CN" sz="2400" i="1" smtClean="0">
                        <a:latin typeface="Cambria Math" panose="02040503050406030204" pitchFamily="18" charset="0"/>
                      </a:rPr>
                      <m:t>𝑠𝑢𝑏</m:t>
                    </m:r>
                    <m:r>
                      <a:rPr lang="en-US" altLang="zh-CN" sz="2400" i="1" smtClean="0">
                        <a:latin typeface="Cambria Math" panose="02040503050406030204" pitchFamily="18" charset="0"/>
                      </a:rPr>
                      <m:t>, </m:t>
                    </m:r>
                    <m:r>
                      <a:rPr lang="en-US" altLang="zh-CN" sz="2400" i="1" smtClean="0">
                        <a:latin typeface="Cambria Math" panose="02040503050406030204" pitchFamily="18" charset="0"/>
                      </a:rPr>
                      <m:t>𝑣𝑒𝑟𝑏</m:t>
                    </m:r>
                    <m:r>
                      <a:rPr lang="en-US" altLang="zh-CN" sz="2400" i="1">
                        <a:latin typeface="Cambria Math" panose="02040503050406030204" pitchFamily="18" charset="0"/>
                      </a:rPr>
                      <m:t>, </m:t>
                    </m:r>
                    <m:r>
                      <a:rPr lang="en-US" altLang="zh-CN" sz="2400" i="1">
                        <a:latin typeface="Cambria Math" panose="02040503050406030204" pitchFamily="18" charset="0"/>
                      </a:rPr>
                      <m:t>𝑜𝑏𝑗</m:t>
                    </m:r>
                    <m:r>
                      <a:rPr lang="en-US" altLang="zh-CN" sz="2400" i="1">
                        <a:latin typeface="Cambria Math" panose="02040503050406030204" pitchFamily="18" charset="0"/>
                      </a:rPr>
                      <m:t>)⇒</m:t>
                    </m:r>
                    <m:r>
                      <a:rPr lang="en-US" altLang="zh-CN" sz="2400" i="1">
                        <a:latin typeface="Cambria Math" panose="02040503050406030204" pitchFamily="18" charset="0"/>
                      </a:rPr>
                      <m:t>𝑅</m:t>
                    </m:r>
                    <m:r>
                      <a:rPr lang="en-US" altLang="zh-CN" sz="2400" b="0" i="1" smtClean="0">
                        <a:latin typeface="Cambria Math" panose="02040503050406030204" pitchFamily="18" charset="0"/>
                      </a:rPr>
                      <m:t>′</m:t>
                    </m:r>
                    <m:r>
                      <a:rPr lang="en-US" altLang="zh-CN" sz="2400" i="1">
                        <a:latin typeface="Cambria Math" panose="02040503050406030204" pitchFamily="18" charset="0"/>
                      </a:rPr>
                      <m:t>(</m:t>
                    </m:r>
                    <m:r>
                      <m:rPr>
                        <m:nor/>
                      </m:rPr>
                      <a:rPr lang="zh-CN" altLang="en-US" sz="2400"/>
                      <m:t>𝑠𝑢𝑏</m:t>
                    </m:r>
                    <m:r>
                      <m:rPr>
                        <m:nor/>
                      </m:rPr>
                      <a:rPr lang="en-US" altLang="zh-CN" sz="2400"/>
                      <m:t>,</m:t>
                    </m:r>
                    <m:r>
                      <m:rPr>
                        <m:nor/>
                      </m:rPr>
                      <a:rPr lang="zh-CN" altLang="en-US" sz="2400"/>
                      <m:t>𝑣𝑒𝑟𝑏</m:t>
                    </m:r>
                    <m:r>
                      <m:rPr>
                        <m:nor/>
                      </m:rPr>
                      <a:rPr lang="en-US" altLang="zh-CN" sz="2400" b="0" i="0" smtClean="0"/>
                      <m:t>′</m:t>
                    </m:r>
                    <m:r>
                      <m:rPr>
                        <m:nor/>
                      </m:rPr>
                      <a:rPr lang="en-US" altLang="zh-CN" sz="2400"/>
                      <m:t>,</m:t>
                    </m:r>
                    <m:r>
                      <a:rPr lang="en-US" altLang="zh-CN" sz="2400" i="1">
                        <a:latin typeface="Cambria Math" panose="02040503050406030204" pitchFamily="18" charset="0"/>
                      </a:rPr>
                      <m:t> </m:t>
                    </m:r>
                    <m:r>
                      <a:rPr lang="en-US" altLang="zh-CN" sz="2400" i="1">
                        <a:latin typeface="Cambria Math" panose="02040503050406030204" pitchFamily="18" charset="0"/>
                      </a:rPr>
                      <m:t>𝑜𝑏𝑗</m:t>
                    </m:r>
                    <m:r>
                      <a:rPr lang="en-US" altLang="zh-CN" sz="2400" i="1">
                        <a:latin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rPr>
                      <m:t>𝑅</m:t>
                    </m:r>
                    <m:r>
                      <a:rPr lang="en-US" altLang="zh-CN" sz="2400" i="1">
                        <a:latin typeface="Cambria Math" panose="02040503050406030204" pitchFamily="18" charset="0"/>
                      </a:rPr>
                      <m:t>(</m:t>
                    </m:r>
                    <m:r>
                      <a:rPr lang="en-US" altLang="zh-CN" sz="2400" i="1">
                        <a:latin typeface="Cambria Math" panose="02040503050406030204" pitchFamily="18" charset="0"/>
                      </a:rPr>
                      <m:t>𝑠𝑢𝑏</m:t>
                    </m:r>
                    <m:r>
                      <a:rPr lang="en-US" altLang="zh-CN" sz="2400" i="1">
                        <a:latin typeface="Cambria Math" panose="02040503050406030204" pitchFamily="18" charset="0"/>
                      </a:rPr>
                      <m:t>, </m:t>
                    </m:r>
                    <m:r>
                      <a:rPr lang="en-US" altLang="zh-CN" sz="2400" i="1">
                        <a:latin typeface="Cambria Math" panose="02040503050406030204" pitchFamily="18" charset="0"/>
                      </a:rPr>
                      <m:t>𝑣𝑒𝑟𝑏</m:t>
                    </m:r>
                    <m:r>
                      <a:rPr lang="en-US" altLang="zh-CN" sz="2400" i="1">
                        <a:latin typeface="Cambria Math" panose="02040503050406030204" pitchFamily="18" charset="0"/>
                      </a:rPr>
                      <m:t>, </m:t>
                    </m:r>
                    <m:r>
                      <a:rPr lang="en-US" altLang="zh-CN" sz="2400" i="1">
                        <a:latin typeface="Cambria Math" panose="02040503050406030204" pitchFamily="18" charset="0"/>
                      </a:rPr>
                      <m:t>𝑜𝑏𝑗</m:t>
                    </m:r>
                    <m:r>
                      <a:rPr lang="en-US" altLang="zh-CN" sz="2400" i="1">
                        <a:latin typeface="Cambria Math" panose="02040503050406030204" pitchFamily="18" charset="0"/>
                      </a:rPr>
                      <m:t>)⇒</m:t>
                    </m:r>
                    <m:r>
                      <a:rPr lang="en-US" altLang="zh-CN" sz="2400" i="1">
                        <a:latin typeface="Cambria Math" panose="02040503050406030204" pitchFamily="18" charset="0"/>
                      </a:rPr>
                      <m:t>𝑅</m:t>
                    </m:r>
                    <m:r>
                      <a:rPr lang="en-US" altLang="zh-CN" sz="2400" i="1">
                        <a:latin typeface="Cambria Math" panose="02040503050406030204" pitchFamily="18" charset="0"/>
                      </a:rPr>
                      <m:t>′(</m:t>
                    </m:r>
                    <m:r>
                      <a:rPr lang="en-US" altLang="zh-CN" sz="2400" i="1">
                        <a:latin typeface="Cambria Math" panose="02040503050406030204" pitchFamily="18" charset="0"/>
                      </a:rPr>
                      <m:t>𝑜𝑏𝑗</m:t>
                    </m:r>
                    <m:r>
                      <m:rPr>
                        <m:nor/>
                      </m:rPr>
                      <a:rPr lang="en-US" altLang="zh-CN" sz="2400"/>
                      <m:t>,</m:t>
                    </m:r>
                    <m:r>
                      <m:rPr>
                        <m:nor/>
                      </m:rPr>
                      <a:rPr lang="zh-CN" altLang="en-US" sz="2400"/>
                      <m:t>𝑣𝑒𝑟𝑏</m:t>
                    </m:r>
                    <m:r>
                      <m:rPr>
                        <m:nor/>
                      </m:rPr>
                      <a:rPr lang="en-US" altLang="zh-CN" sz="2400"/>
                      <m:t>′,</m:t>
                    </m:r>
                    <m:r>
                      <m:rPr>
                        <m:nor/>
                      </m:rPr>
                      <a:rPr lang="zh-CN" altLang="en-US" sz="2400"/>
                      <m:t>𝑠𝑢𝑏</m:t>
                    </m:r>
                    <m:r>
                      <a:rPr lang="en-US" altLang="zh-CN" sz="2400" i="1" smtClean="0">
                        <a:latin typeface="Cambria Math" panose="02040503050406030204" pitchFamily="18" charset="0"/>
                      </a:rPr>
                      <m:t>)</m:t>
                    </m:r>
                  </m:oMath>
                </a14:m>
                <a:endParaRPr lang="zh-CN" altLang="en-US" sz="2400" dirty="0"/>
              </a:p>
            </p:txBody>
          </p:sp>
        </mc:Choice>
        <mc:Fallback xmlns="">
          <p:sp>
            <p:nvSpPr>
              <p:cNvPr id="11" name="文本框 10">
                <a:extLst>
                  <a:ext uri="{FF2B5EF4-FFF2-40B4-BE49-F238E27FC236}">
                    <a16:creationId xmlns:a16="http://schemas.microsoft.com/office/drawing/2014/main" id="{D9E924BC-10A8-D843-DD60-2ECC889993F0}"/>
                  </a:ext>
                </a:extLst>
              </p:cNvPr>
              <p:cNvSpPr txBox="1">
                <a:spLocks noRot="1" noChangeAspect="1" noMove="1" noResize="1" noEditPoints="1" noAdjustHandles="1" noChangeArrowheads="1" noChangeShapeType="1" noTextEdit="1"/>
              </p:cNvSpPr>
              <p:nvPr/>
            </p:nvSpPr>
            <p:spPr>
              <a:xfrm>
                <a:off x="1003737" y="4211708"/>
                <a:ext cx="10184521" cy="369332"/>
              </a:xfrm>
              <a:prstGeom prst="rect">
                <a:avLst/>
              </a:prstGeom>
              <a:blipFill>
                <a:blip r:embed="rId6"/>
                <a:stretch>
                  <a:fillRect l="-1078" t="-25000" r="-838" b="-51667"/>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5601C208-3C58-9A26-B514-A8F976C73ED1}"/>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err="1">
                <a:latin typeface="Calibri" panose="020F0502020204030204" pitchFamily="34" charset="0"/>
                <a:ea typeface="Calibri" panose="020F0502020204030204" pitchFamily="34" charset="0"/>
                <a:cs typeface="Calibri" panose="020F0502020204030204" pitchFamily="34" charset="0"/>
              </a:rPr>
              <a:t>MetaQA</a:t>
            </a:r>
            <a:r>
              <a:rPr lang="en-US" altLang="zh-CN" sz="3200" dirty="0">
                <a:latin typeface="Calibri" panose="020F0502020204030204" pitchFamily="34" charset="0"/>
                <a:ea typeface="Calibri" panose="020F0502020204030204" pitchFamily="34" charset="0"/>
                <a:cs typeface="Calibri" panose="020F0502020204030204" pitchFamily="34" charset="0"/>
              </a:rPr>
              <a:t> Method Overview</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4" name="文本框 13">
            <a:extLst>
              <a:ext uri="{FF2B5EF4-FFF2-40B4-BE49-F238E27FC236}">
                <a16:creationId xmlns:a16="http://schemas.microsoft.com/office/drawing/2014/main" id="{4424A1D5-E107-7002-EE50-8F93CF983BA9}"/>
              </a:ext>
            </a:extLst>
          </p:cNvPr>
          <p:cNvSpPr txBox="1"/>
          <p:nvPr/>
        </p:nvSpPr>
        <p:spPr>
          <a:xfrm>
            <a:off x="434787" y="2735219"/>
            <a:ext cx="11322423" cy="523220"/>
          </a:xfrm>
          <a:prstGeom prst="rect">
            <a:avLst/>
          </a:prstGeom>
          <a:noFill/>
        </p:spPr>
        <p:txBody>
          <a:bodyPr wrap="square">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Two types of metamorphic relations are deployed:</a:t>
            </a:r>
          </a:p>
        </p:txBody>
      </p:sp>
      <p:sp>
        <p:nvSpPr>
          <p:cNvPr id="15" name="灯片编号占位符 14">
            <a:extLst>
              <a:ext uri="{FF2B5EF4-FFF2-40B4-BE49-F238E27FC236}">
                <a16:creationId xmlns:a16="http://schemas.microsoft.com/office/drawing/2014/main" id="{4D861E4C-1FDC-BF5D-5967-310F1F213452}"/>
              </a:ext>
            </a:extLst>
          </p:cNvPr>
          <p:cNvSpPr>
            <a:spLocks noGrp="1"/>
          </p:cNvSpPr>
          <p:nvPr>
            <p:ph type="sldNum" sz="quarter" idx="12"/>
          </p:nvPr>
        </p:nvSpPr>
        <p:spPr/>
        <p:txBody>
          <a:bodyPr/>
          <a:lstStyle/>
          <a:p>
            <a:fld id="{A330ECBB-EFA0-4B67-A466-676224D8611D}" type="slidenum">
              <a:rPr lang="zh-CN" altLang="en-US" smtClean="0"/>
              <a:t>10</a:t>
            </a:fld>
            <a:endParaRPr lang="zh-CN" altLang="en-US"/>
          </a:p>
        </p:txBody>
      </p:sp>
    </p:spTree>
    <p:custDataLst>
      <p:tags r:id="rId1"/>
    </p:custDataLst>
    <p:extLst>
      <p:ext uri="{BB962C8B-B14F-4D97-AF65-F5344CB8AC3E}">
        <p14:creationId xmlns:p14="http://schemas.microsoft.com/office/powerpoint/2010/main" val="18500813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02D18-886A-60C5-6E7E-0436602CA63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69A3A92-D922-8C6A-7390-16AF8D9D04D4}"/>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err="1">
                <a:latin typeface="Calibri" panose="020F0502020204030204" pitchFamily="34" charset="0"/>
                <a:ea typeface="Calibri" panose="020F0502020204030204" pitchFamily="34" charset="0"/>
                <a:cs typeface="Calibri" panose="020F0502020204030204" pitchFamily="34" charset="0"/>
              </a:rPr>
              <a:t>MetaQA</a:t>
            </a:r>
            <a:r>
              <a:rPr lang="en-US" altLang="zh-CN" sz="3200" dirty="0">
                <a:latin typeface="Calibri" panose="020F0502020204030204" pitchFamily="34" charset="0"/>
                <a:ea typeface="Calibri" panose="020F0502020204030204" pitchFamily="34" charset="0"/>
                <a:cs typeface="Calibri" panose="020F0502020204030204" pitchFamily="34" charset="0"/>
              </a:rPr>
              <a:t> Method Overview</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灯片编号占位符 7">
            <a:extLst>
              <a:ext uri="{FF2B5EF4-FFF2-40B4-BE49-F238E27FC236}">
                <a16:creationId xmlns:a16="http://schemas.microsoft.com/office/drawing/2014/main" id="{4EAE0DDC-478A-B526-986F-3240D6628B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30ECBB-EFA0-4B67-A466-676224D8611D}" type="slidenum">
              <a:rPr kumimoji="0" lang="zh-CN" altLang="en-US" sz="1200" b="1" i="0" u="none" strike="noStrike" kern="1200" cap="none" spc="0" normalizeH="0" baseline="0" noProof="0" smtClean="0">
                <a:ln>
                  <a:noFill/>
                </a:ln>
                <a:solidFill>
                  <a:prstClr val="black">
                    <a:tint val="75000"/>
                  </a:prstClr>
                </a:solidFill>
                <a:effectLst/>
                <a:uLnTx/>
                <a:uFillTx/>
                <a:latin typeface="Arial"/>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1" i="0" u="none" strike="noStrike" kern="1200" cap="none" spc="0" normalizeH="0" baseline="0" noProof="0">
              <a:ln>
                <a:noFill/>
              </a:ln>
              <a:solidFill>
                <a:prstClr val="black">
                  <a:tint val="75000"/>
                </a:prstClr>
              </a:solidFill>
              <a:effectLst/>
              <a:uLnTx/>
              <a:uFillTx/>
              <a:latin typeface="Arial"/>
              <a:ea typeface="微软雅黑" panose="020B0503020204020204" pitchFamily="34" charset="-122"/>
              <a:cs typeface="+mn-cs"/>
            </a:endParaRPr>
          </a:p>
        </p:txBody>
      </p:sp>
      <p:pic>
        <p:nvPicPr>
          <p:cNvPr id="13" name="图片 12">
            <a:extLst>
              <a:ext uri="{FF2B5EF4-FFF2-40B4-BE49-F238E27FC236}">
                <a16:creationId xmlns:a16="http://schemas.microsoft.com/office/drawing/2014/main" id="{B127FCD5-AEFD-2A40-CBF9-4B1C4899BF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0225" y="1681162"/>
            <a:ext cx="8591550" cy="3495675"/>
          </a:xfrm>
          <a:prstGeom prst="rect">
            <a:avLst/>
          </a:prstGeom>
        </p:spPr>
      </p:pic>
    </p:spTree>
    <p:custDataLst>
      <p:tags r:id="rId1"/>
    </p:custDataLst>
    <p:extLst>
      <p:ext uri="{BB962C8B-B14F-4D97-AF65-F5344CB8AC3E}">
        <p14:creationId xmlns:p14="http://schemas.microsoft.com/office/powerpoint/2010/main" val="4010158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7B63A-8FAF-D43B-EDA1-DBFC61E522A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5B08359-301D-42E2-71BD-2FF871FDF3ED}"/>
              </a:ext>
            </a:extLst>
          </p:cNvPr>
          <p:cNvSpPr txBox="1"/>
          <p:nvPr/>
        </p:nvSpPr>
        <p:spPr>
          <a:xfrm>
            <a:off x="434788" y="770385"/>
            <a:ext cx="11322424" cy="1077218"/>
          </a:xfrm>
          <a:prstGeom prst="rect">
            <a:avLst/>
          </a:prstGeom>
          <a:noFill/>
        </p:spPr>
        <p:txBody>
          <a:bodyPr wrap="square" rtlCol="0">
            <a:spAutoFit/>
          </a:bodyPr>
          <a:lstStyle/>
          <a:p>
            <a:pPr rtl="0" fontAlgn="base">
              <a:spcBef>
                <a:spcPts val="0"/>
              </a:spcBef>
              <a:spcAft>
                <a:spcPts val="0"/>
              </a:spcAft>
            </a:pPr>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(iii) Mutation Verification</a:t>
            </a:r>
          </a:p>
          <a:p>
            <a:pPr rtl="0" fontAlgn="base">
              <a:spcBef>
                <a:spcPts val="0"/>
              </a:spcBef>
              <a:spcAft>
                <a:spcPts val="0"/>
              </a:spcAft>
            </a:pPr>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1453501A-8070-383F-2B16-F8A26558D40D}"/>
              </a:ext>
            </a:extLst>
          </p:cNvPr>
          <p:cNvSpPr txBox="1"/>
          <p:nvPr/>
        </p:nvSpPr>
        <p:spPr>
          <a:xfrm>
            <a:off x="434787" y="1846938"/>
            <a:ext cx="11322424" cy="138499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Verify mutations are ground truth or not.</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Prevent LLMs from associating with myths, fairy tales, or other fictional contexts.</a:t>
            </a:r>
          </a:p>
        </p:txBody>
      </p:sp>
      <p:pic>
        <p:nvPicPr>
          <p:cNvPr id="8" name="图片 7">
            <a:extLst>
              <a:ext uri="{FF2B5EF4-FFF2-40B4-BE49-F238E27FC236}">
                <a16:creationId xmlns:a16="http://schemas.microsoft.com/office/drawing/2014/main" id="{B014D4F0-4C9D-5380-D9E1-CC8BC15179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4309" y="3752300"/>
            <a:ext cx="8643379" cy="2585334"/>
          </a:xfrm>
          <a:prstGeom prst="rect">
            <a:avLst/>
          </a:prstGeom>
        </p:spPr>
      </p:pic>
      <p:sp>
        <p:nvSpPr>
          <p:cNvPr id="9" name="矩形 8">
            <a:extLst>
              <a:ext uri="{FF2B5EF4-FFF2-40B4-BE49-F238E27FC236}">
                <a16:creationId xmlns:a16="http://schemas.microsoft.com/office/drawing/2014/main" id="{9CF743A6-9D08-B6B2-89A3-0FFD767BC86A}"/>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err="1">
                <a:latin typeface="Calibri" panose="020F0502020204030204" pitchFamily="34" charset="0"/>
                <a:ea typeface="Calibri" panose="020F0502020204030204" pitchFamily="34" charset="0"/>
                <a:cs typeface="Calibri" panose="020F0502020204030204" pitchFamily="34" charset="0"/>
              </a:rPr>
              <a:t>MetaQA</a:t>
            </a:r>
            <a:r>
              <a:rPr lang="en-US" altLang="zh-CN" sz="3200" dirty="0">
                <a:latin typeface="Calibri" panose="020F0502020204030204" pitchFamily="34" charset="0"/>
                <a:ea typeface="Calibri" panose="020F0502020204030204" pitchFamily="34" charset="0"/>
                <a:cs typeface="Calibri" panose="020F0502020204030204" pitchFamily="34" charset="0"/>
              </a:rPr>
              <a:t> Method Overview</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1" name="文本框 10">
            <a:extLst>
              <a:ext uri="{FF2B5EF4-FFF2-40B4-BE49-F238E27FC236}">
                <a16:creationId xmlns:a16="http://schemas.microsoft.com/office/drawing/2014/main" id="{5185EB39-F636-0DEE-277A-6754C365D408}"/>
              </a:ext>
            </a:extLst>
          </p:cNvPr>
          <p:cNvSpPr txBox="1"/>
          <p:nvPr/>
        </p:nvSpPr>
        <p:spPr>
          <a:xfrm>
            <a:off x="434787" y="3231933"/>
            <a:ext cx="11322424" cy="523220"/>
          </a:xfrm>
          <a:prstGeom prst="rect">
            <a:avLst/>
          </a:prstGeom>
          <a:noFill/>
        </p:spPr>
        <p:txBody>
          <a:bodyPr wrap="square">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The checking results should follow the rules below:</a:t>
            </a:r>
          </a:p>
        </p:txBody>
      </p:sp>
      <p:sp>
        <p:nvSpPr>
          <p:cNvPr id="13" name="灯片编号占位符 12">
            <a:extLst>
              <a:ext uri="{FF2B5EF4-FFF2-40B4-BE49-F238E27FC236}">
                <a16:creationId xmlns:a16="http://schemas.microsoft.com/office/drawing/2014/main" id="{7E80E4FA-B79C-227A-43D8-5FD04480D90E}"/>
              </a:ext>
            </a:extLst>
          </p:cNvPr>
          <p:cNvSpPr>
            <a:spLocks noGrp="1"/>
          </p:cNvSpPr>
          <p:nvPr>
            <p:ph type="sldNum" sz="quarter" idx="12"/>
          </p:nvPr>
        </p:nvSpPr>
        <p:spPr/>
        <p:txBody>
          <a:bodyPr/>
          <a:lstStyle/>
          <a:p>
            <a:fld id="{A330ECBB-EFA0-4B67-A466-676224D8611D}" type="slidenum">
              <a:rPr lang="zh-CN" altLang="en-US" smtClean="0"/>
              <a:t>12</a:t>
            </a:fld>
            <a:endParaRPr lang="zh-CN" altLang="en-US"/>
          </a:p>
        </p:txBody>
      </p:sp>
    </p:spTree>
    <p:custDataLst>
      <p:tags r:id="rId1"/>
    </p:custDataLst>
    <p:extLst>
      <p:ext uri="{BB962C8B-B14F-4D97-AF65-F5344CB8AC3E}">
        <p14:creationId xmlns:p14="http://schemas.microsoft.com/office/powerpoint/2010/main" val="2853646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5975-B5C5-08E0-72F7-504528C40DA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EF65C2C-767B-CF78-848F-BBBE0527966F}"/>
              </a:ext>
            </a:extLst>
          </p:cNvPr>
          <p:cNvSpPr txBox="1"/>
          <p:nvPr/>
        </p:nvSpPr>
        <p:spPr>
          <a:xfrm>
            <a:off x="434788" y="770385"/>
            <a:ext cx="11322424" cy="1077218"/>
          </a:xfrm>
          <a:prstGeom prst="rect">
            <a:avLst/>
          </a:prstGeom>
          <a:noFill/>
        </p:spPr>
        <p:txBody>
          <a:bodyPr wrap="square" rtlCol="0">
            <a:spAutoFit/>
          </a:bodyPr>
          <a:lstStyle/>
          <a:p>
            <a:pPr rtl="0" fontAlgn="base">
              <a:spcBef>
                <a:spcPts val="0"/>
              </a:spcBef>
              <a:spcAft>
                <a:spcPts val="0"/>
              </a:spcAft>
            </a:pPr>
            <a:r>
              <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rPr>
              <a:t>(iv) Hallucination Evaluation</a:t>
            </a:r>
          </a:p>
          <a:p>
            <a:pPr rtl="0" fontAlgn="base">
              <a:spcBef>
                <a:spcPts val="0"/>
              </a:spcBef>
              <a:spcAft>
                <a:spcPts val="0"/>
              </a:spcAft>
            </a:pPr>
            <a:endParaRPr lang="en-US" altLang="zh-CN" sz="3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B82CD1B1-130A-12BC-9216-A8491F2AE385}"/>
              </a:ext>
            </a:extLst>
          </p:cNvPr>
          <p:cNvSpPr txBox="1"/>
          <p:nvPr/>
        </p:nvSpPr>
        <p:spPr>
          <a:xfrm>
            <a:off x="434788" y="1847603"/>
            <a:ext cx="11322424" cy="954107"/>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Calculate a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hallucination score </a:t>
            </a:r>
            <a:r>
              <a:rPr lang="en-US" altLang="zh-CN" sz="2800" dirty="0">
                <a:latin typeface="Calibri" panose="020F0502020204030204" pitchFamily="34" charset="0"/>
                <a:ea typeface="Calibri" panose="020F0502020204030204" pitchFamily="34" charset="0"/>
                <a:cs typeface="Calibri" panose="020F0502020204030204" pitchFamily="34" charset="0"/>
              </a:rPr>
              <a:t>based on the verification results representing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the likelihood of hallucination</a:t>
            </a:r>
            <a:r>
              <a:rPr lang="en-US" altLang="zh-CN" sz="2800" dirty="0">
                <a:latin typeface="Calibri" panose="020F0502020204030204" pitchFamily="34" charset="0"/>
                <a:ea typeface="Calibri" panose="020F0502020204030204" pitchFamily="34" charset="0"/>
                <a:cs typeface="Calibri" panose="020F0502020204030204" pitchFamily="34" charset="0"/>
              </a:rPr>
              <a:t> in the base LLM response.</a:t>
            </a:r>
          </a:p>
        </p:txBody>
      </p:sp>
      <p:pic>
        <p:nvPicPr>
          <p:cNvPr id="5" name="图片 4">
            <a:extLst>
              <a:ext uri="{FF2B5EF4-FFF2-40B4-BE49-F238E27FC236}">
                <a16:creationId xmlns:a16="http://schemas.microsoft.com/office/drawing/2014/main" id="{A337DE27-D595-E0F0-80FD-EF9221AFA081}"/>
              </a:ext>
            </a:extLst>
          </p:cNvPr>
          <p:cNvPicPr>
            <a:picLocks noChangeAspect="1"/>
          </p:cNvPicPr>
          <p:nvPr/>
        </p:nvPicPr>
        <p:blipFill>
          <a:blip r:embed="rId4"/>
          <a:stretch>
            <a:fillRect/>
          </a:stretch>
        </p:blipFill>
        <p:spPr>
          <a:xfrm>
            <a:off x="434788" y="2801710"/>
            <a:ext cx="11322424" cy="192835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F8AA169-A5B6-36EA-46D4-7ED752FFBBA3}"/>
                  </a:ext>
                </a:extLst>
              </p:cNvPr>
              <p:cNvSpPr txBox="1"/>
              <p:nvPr/>
            </p:nvSpPr>
            <p:spPr>
              <a:xfrm>
                <a:off x="434788" y="4730060"/>
                <a:ext cx="11322424" cy="984500"/>
              </a:xfrm>
              <a:prstGeom prst="rect">
                <a:avLst/>
              </a:prstGeom>
              <a:noFill/>
            </p:spPr>
            <p:txBody>
              <a:bodyPr wrap="square" rtlCol="0">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The total hallucination score </a:t>
                </a:r>
                <a14:m>
                  <m:oMath xmlns:m="http://schemas.openxmlformats.org/officeDocument/2006/math">
                    <m:sSub>
                      <m:sSubPr>
                        <m:ctrlPr>
                          <a:rPr lang="en-US" altLang="zh-CN" sz="2800" b="0" i="1" smtClean="0">
                            <a:latin typeface="Cambria Math" panose="02040503050406030204" pitchFamily="18" charset="0"/>
                            <a:ea typeface="Calibri" panose="020F0502020204030204" pitchFamily="34" charset="0"/>
                            <a:cs typeface="Calibri" panose="020F0502020204030204" pitchFamily="34" charset="0"/>
                          </a:rPr>
                        </m:ctrlPr>
                      </m:sSubPr>
                      <m:e>
                        <m:r>
                          <a:rPr lang="en-US" altLang="zh-CN" sz="2800" b="0" i="1" smtClean="0">
                            <a:latin typeface="Cambria Math" panose="02040503050406030204" pitchFamily="18" charset="0"/>
                            <a:ea typeface="Calibri" panose="020F0502020204030204" pitchFamily="34" charset="0"/>
                            <a:cs typeface="Calibri" panose="020F0502020204030204" pitchFamily="34" charset="0"/>
                          </a:rPr>
                          <m:t>𝑆</m:t>
                        </m:r>
                      </m:e>
                      <m:sub>
                        <m:r>
                          <a:rPr lang="en-US" altLang="zh-CN" sz="2800" b="0" i="1" smtClean="0">
                            <a:latin typeface="Cambria Math" panose="02040503050406030204" pitchFamily="18" charset="0"/>
                            <a:ea typeface="Calibri" panose="020F0502020204030204" pitchFamily="34" charset="0"/>
                            <a:cs typeface="Calibri" panose="020F0502020204030204" pitchFamily="34" charset="0"/>
                          </a:rPr>
                          <m:t>𝑄𝐵</m:t>
                        </m:r>
                      </m:sub>
                    </m:sSub>
                  </m:oMath>
                </a14:m>
                <a:r>
                  <a:rPr lang="en-US" altLang="zh-CN" sz="2800" dirty="0">
                    <a:latin typeface="Calibri" panose="020F0502020204030204" pitchFamily="34" charset="0"/>
                    <a:ea typeface="Calibri" panose="020F0502020204030204" pitchFamily="34" charset="0"/>
                    <a:cs typeface="Calibri" panose="020F0502020204030204" pitchFamily="34" charset="0"/>
                  </a:rPr>
                  <a:t> for a question Q and base response B, is calculated as:</a:t>
                </a:r>
              </a:p>
            </p:txBody>
          </p:sp>
        </mc:Choice>
        <mc:Fallback xmlns="">
          <p:sp>
            <p:nvSpPr>
              <p:cNvPr id="7" name="文本框 6">
                <a:extLst>
                  <a:ext uri="{FF2B5EF4-FFF2-40B4-BE49-F238E27FC236}">
                    <a16:creationId xmlns:a16="http://schemas.microsoft.com/office/drawing/2014/main" id="{CF8AA169-A5B6-36EA-46D4-7ED752FFBBA3}"/>
                  </a:ext>
                </a:extLst>
              </p:cNvPr>
              <p:cNvSpPr txBox="1">
                <a:spLocks noRot="1" noChangeAspect="1" noMove="1" noResize="1" noEditPoints="1" noAdjustHandles="1" noChangeArrowheads="1" noChangeShapeType="1" noTextEdit="1"/>
              </p:cNvSpPr>
              <p:nvPr/>
            </p:nvSpPr>
            <p:spPr>
              <a:xfrm>
                <a:off x="434788" y="4730060"/>
                <a:ext cx="11322424" cy="984500"/>
              </a:xfrm>
              <a:prstGeom prst="rect">
                <a:avLst/>
              </a:prstGeom>
              <a:blipFill>
                <a:blip r:embed="rId5"/>
                <a:stretch>
                  <a:fillRect l="-1076" t="-6211" b="-17391"/>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0CD2944D-1328-46FB-33C2-6DEDEBCAAB99}"/>
              </a:ext>
            </a:extLst>
          </p:cNvPr>
          <p:cNvPicPr>
            <a:picLocks noChangeAspect="1"/>
          </p:cNvPicPr>
          <p:nvPr/>
        </p:nvPicPr>
        <p:blipFill>
          <a:blip r:embed="rId6"/>
          <a:stretch>
            <a:fillRect/>
          </a:stretch>
        </p:blipFill>
        <p:spPr>
          <a:xfrm>
            <a:off x="3085680" y="5714560"/>
            <a:ext cx="6020640" cy="828791"/>
          </a:xfrm>
          <a:prstGeom prst="rect">
            <a:avLst/>
          </a:prstGeom>
        </p:spPr>
      </p:pic>
      <p:sp>
        <p:nvSpPr>
          <p:cNvPr id="3" name="矩形 2">
            <a:extLst>
              <a:ext uri="{FF2B5EF4-FFF2-40B4-BE49-F238E27FC236}">
                <a16:creationId xmlns:a16="http://schemas.microsoft.com/office/drawing/2014/main" id="{A8567EA3-22A9-8B1D-32F7-47377585B329}"/>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err="1">
                <a:latin typeface="Calibri" panose="020F0502020204030204" pitchFamily="34" charset="0"/>
                <a:ea typeface="Calibri" panose="020F0502020204030204" pitchFamily="34" charset="0"/>
                <a:cs typeface="Calibri" panose="020F0502020204030204" pitchFamily="34" charset="0"/>
              </a:rPr>
              <a:t>MetaQA</a:t>
            </a:r>
            <a:r>
              <a:rPr lang="en-US" altLang="zh-CN" sz="3200" dirty="0">
                <a:latin typeface="Calibri" panose="020F0502020204030204" pitchFamily="34" charset="0"/>
                <a:ea typeface="Calibri" panose="020F0502020204030204" pitchFamily="34" charset="0"/>
                <a:cs typeface="Calibri" panose="020F0502020204030204" pitchFamily="34" charset="0"/>
              </a:rPr>
              <a:t> Method Overview</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灯片编号占位符 7">
            <a:extLst>
              <a:ext uri="{FF2B5EF4-FFF2-40B4-BE49-F238E27FC236}">
                <a16:creationId xmlns:a16="http://schemas.microsoft.com/office/drawing/2014/main" id="{91E5EDFD-862A-737D-4A2B-A5394919872E}"/>
              </a:ext>
            </a:extLst>
          </p:cNvPr>
          <p:cNvSpPr>
            <a:spLocks noGrp="1"/>
          </p:cNvSpPr>
          <p:nvPr>
            <p:ph type="sldNum" sz="quarter" idx="12"/>
          </p:nvPr>
        </p:nvSpPr>
        <p:spPr/>
        <p:txBody>
          <a:bodyPr/>
          <a:lstStyle/>
          <a:p>
            <a:fld id="{A330ECBB-EFA0-4B67-A466-676224D8611D}" type="slidenum">
              <a:rPr lang="zh-CN" altLang="en-US" smtClean="0"/>
              <a:t>13</a:t>
            </a:fld>
            <a:endParaRPr lang="zh-CN" altLang="en-US"/>
          </a:p>
        </p:txBody>
      </p:sp>
    </p:spTree>
    <p:custDataLst>
      <p:tags r:id="rId1"/>
    </p:custDataLst>
    <p:extLst>
      <p:ext uri="{BB962C8B-B14F-4D97-AF65-F5344CB8AC3E}">
        <p14:creationId xmlns:p14="http://schemas.microsoft.com/office/powerpoint/2010/main" val="5723190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0AAF7-8196-A57D-DEE8-1F90C411678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4B118DF-60F8-F8D1-8CA7-1E21E6DD7F09}"/>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 name="文本框 1">
            <a:extLst>
              <a:ext uri="{FF2B5EF4-FFF2-40B4-BE49-F238E27FC236}">
                <a16:creationId xmlns:a16="http://schemas.microsoft.com/office/drawing/2014/main" id="{7CBA2BA7-FF1D-3ED6-9237-85F2ED9DC925}"/>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a:t>
            </a:r>
            <a:r>
              <a:rPr lang="en-US" altLang="zh-CN" sz="3600" dirty="0" err="1">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 Research Questions</a:t>
            </a:r>
          </a:p>
          <a:p>
            <a:pPr marL="857250" indent="-857250" rtl="0" fontAlgn="base">
              <a:spcBef>
                <a:spcPts val="0"/>
              </a:spcBef>
              <a:spcAft>
                <a:spcPts val="0"/>
              </a:spcAft>
              <a:buAutoNum type="romanLcParenBoth"/>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B7C66E77-FE28-9D44-F3FB-3B813059EDE2}"/>
              </a:ext>
            </a:extLst>
          </p:cNvPr>
          <p:cNvSpPr txBox="1"/>
          <p:nvPr/>
        </p:nvSpPr>
        <p:spPr>
          <a:xfrm>
            <a:off x="434788" y="1970714"/>
            <a:ext cx="11322424" cy="4401205"/>
          </a:xfrm>
          <a:prstGeom prst="rect">
            <a:avLst/>
          </a:prstGeom>
          <a:noFill/>
        </p:spPr>
        <p:txBody>
          <a:bodyPr wrap="square" rtlCol="0">
            <a:spAutoFit/>
          </a:bodyPr>
          <a:lstStyle/>
          <a:p>
            <a:r>
              <a:rPr lang="en-US" altLang="zh-CN" sz="2800" b="1" dirty="0">
                <a:latin typeface="Calibri" panose="020F0502020204030204" pitchFamily="34" charset="0"/>
                <a:ea typeface="Calibri" panose="020F0502020204030204" pitchFamily="34" charset="0"/>
                <a:cs typeface="Calibri" panose="020F0502020204030204" pitchFamily="34" charset="0"/>
              </a:rPr>
              <a:t>RQ1. </a:t>
            </a:r>
            <a:r>
              <a:rPr lang="en-US" altLang="zh-C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Effectiveness</a:t>
            </a:r>
            <a:r>
              <a:rPr lang="en-US" altLang="zh-CN" sz="2800" dirty="0">
                <a:latin typeface="Calibri" panose="020F0502020204030204" pitchFamily="34" charset="0"/>
                <a:ea typeface="Calibri" panose="020F0502020204030204" pitchFamily="34" charset="0"/>
                <a:cs typeface="Calibri" panose="020F0502020204030204" pitchFamily="34" charset="0"/>
              </a:rPr>
              <a:t>: How effective is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in detecting hallucination in LLMs? </a:t>
            </a:r>
          </a:p>
          <a:p>
            <a:r>
              <a:rPr lang="en-US" altLang="zh-CN" sz="2800" b="1" dirty="0">
                <a:latin typeface="Calibri" panose="020F0502020204030204" pitchFamily="34" charset="0"/>
                <a:ea typeface="Calibri" panose="020F0502020204030204" pitchFamily="34" charset="0"/>
                <a:cs typeface="Calibri" panose="020F0502020204030204" pitchFamily="34" charset="0"/>
              </a:rPr>
              <a:t>RQ2. </a:t>
            </a:r>
            <a:r>
              <a:rPr lang="en-US" altLang="zh-C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Generalization</a:t>
            </a:r>
            <a:r>
              <a:rPr lang="en-US" altLang="zh-CN" sz="2800" b="1" dirty="0">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How does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perform on questions from various categories?</a:t>
            </a:r>
          </a:p>
          <a:p>
            <a:r>
              <a:rPr lang="en-US" altLang="zh-CN" sz="2800" b="1" dirty="0">
                <a:latin typeface="Calibri" panose="020F0502020204030204" pitchFamily="34" charset="0"/>
                <a:ea typeface="Calibri" panose="020F0502020204030204" pitchFamily="34" charset="0"/>
                <a:cs typeface="Calibri" panose="020F0502020204030204" pitchFamily="34" charset="0"/>
              </a:rPr>
              <a:t>RQ3. </a:t>
            </a:r>
            <a:r>
              <a:rPr lang="en-US" altLang="zh-C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Stability</a:t>
            </a:r>
            <a:r>
              <a:rPr lang="en-US" altLang="zh-CN" sz="2800" b="1" dirty="0">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How stable is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in its hallucination detection performance?</a:t>
            </a:r>
          </a:p>
          <a:p>
            <a:r>
              <a:rPr lang="en-US" altLang="zh-CN" sz="2800" b="1" dirty="0">
                <a:latin typeface="Calibri" panose="020F0502020204030204" pitchFamily="34" charset="0"/>
                <a:ea typeface="Calibri" panose="020F0502020204030204" pitchFamily="34" charset="0"/>
                <a:cs typeface="Calibri" panose="020F0502020204030204" pitchFamily="34" charset="0"/>
              </a:rPr>
              <a:t>RQ4. </a:t>
            </a:r>
            <a:r>
              <a:rPr lang="en-US" altLang="zh-C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Sensitivity to mutants</a:t>
            </a:r>
            <a:r>
              <a:rPr lang="en-US" altLang="zh-CN" sz="2800" b="1" dirty="0">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How do the categories and number of mutations impact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MetaQA’s</a:t>
            </a:r>
            <a:r>
              <a:rPr lang="en-US" altLang="zh-CN" sz="2800" dirty="0">
                <a:latin typeface="Calibri" panose="020F0502020204030204" pitchFamily="34" charset="0"/>
                <a:ea typeface="Calibri" panose="020F0502020204030204" pitchFamily="34" charset="0"/>
                <a:cs typeface="Calibri" panose="020F0502020204030204" pitchFamily="34" charset="0"/>
              </a:rPr>
              <a:t> overall performance?</a:t>
            </a:r>
          </a:p>
          <a:p>
            <a:r>
              <a:rPr lang="en-US" altLang="zh-CN" sz="2800" b="1" dirty="0">
                <a:latin typeface="Calibri" panose="020F0502020204030204" pitchFamily="34" charset="0"/>
                <a:ea typeface="Calibri" panose="020F0502020204030204" pitchFamily="34" charset="0"/>
                <a:cs typeface="Calibri" panose="020F0502020204030204" pitchFamily="34" charset="0"/>
              </a:rPr>
              <a:t>RQ5. </a:t>
            </a:r>
            <a:r>
              <a:rPr lang="en-US" altLang="zh-CN" sz="2800" b="1" dirty="0">
                <a:solidFill>
                  <a:srgbClr val="FF0000"/>
                </a:solidFill>
                <a:latin typeface="Calibri" panose="020F0502020204030204" pitchFamily="34" charset="0"/>
                <a:ea typeface="Calibri" panose="020F0502020204030204" pitchFamily="34" charset="0"/>
                <a:cs typeface="Calibri" panose="020F0502020204030204" pitchFamily="34" charset="0"/>
              </a:rPr>
              <a:t>Sensitivity to threshold</a:t>
            </a:r>
            <a:r>
              <a:rPr lang="en-US" altLang="zh-CN" sz="2800" b="1" dirty="0">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How does the performance of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and </a:t>
            </a:r>
            <a:r>
              <a:rPr lang="en-US" altLang="zh-CN" sz="2800" dirty="0" err="1">
                <a:latin typeface="Calibri" panose="020F0502020204030204" pitchFamily="34" charset="0"/>
                <a:ea typeface="Calibri" panose="020F0502020204030204" pitchFamily="34" charset="0"/>
                <a:cs typeface="Calibri" panose="020F0502020204030204" pitchFamily="34" charset="0"/>
              </a:rPr>
              <a:t>SelfCheckGPT</a:t>
            </a:r>
            <a:r>
              <a:rPr lang="en-US" altLang="zh-CN" sz="2800" dirty="0">
                <a:latin typeface="Calibri" panose="020F0502020204030204" pitchFamily="34" charset="0"/>
                <a:ea typeface="Calibri" panose="020F0502020204030204" pitchFamily="34" charset="0"/>
                <a:cs typeface="Calibri" panose="020F0502020204030204" pitchFamily="34" charset="0"/>
              </a:rPr>
              <a:t> vary across different threshold settings?</a:t>
            </a:r>
          </a:p>
        </p:txBody>
      </p:sp>
      <p:sp>
        <p:nvSpPr>
          <p:cNvPr id="3" name="灯片编号占位符 2">
            <a:extLst>
              <a:ext uri="{FF2B5EF4-FFF2-40B4-BE49-F238E27FC236}">
                <a16:creationId xmlns:a16="http://schemas.microsoft.com/office/drawing/2014/main" id="{67E0E9CE-BF51-640E-1DB7-7DB09BCC24B7}"/>
              </a:ext>
            </a:extLst>
          </p:cNvPr>
          <p:cNvSpPr>
            <a:spLocks noGrp="1"/>
          </p:cNvSpPr>
          <p:nvPr>
            <p:ph type="sldNum" sz="quarter" idx="12"/>
          </p:nvPr>
        </p:nvSpPr>
        <p:spPr/>
        <p:txBody>
          <a:bodyPr/>
          <a:lstStyle/>
          <a:p>
            <a:fld id="{A330ECBB-EFA0-4B67-A466-676224D8611D}" type="slidenum">
              <a:rPr lang="zh-CN" altLang="en-US" smtClean="0"/>
              <a:t>14</a:t>
            </a:fld>
            <a:endParaRPr lang="zh-CN" altLang="en-US"/>
          </a:p>
        </p:txBody>
      </p:sp>
    </p:spTree>
    <p:custDataLst>
      <p:tags r:id="rId1"/>
    </p:custDataLst>
    <p:extLst>
      <p:ext uri="{BB962C8B-B14F-4D97-AF65-F5344CB8AC3E}">
        <p14:creationId xmlns:p14="http://schemas.microsoft.com/office/powerpoint/2010/main" val="15303540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ABFAE-00E7-FE2A-C1EB-57EF124AA2D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DBE41F2-C5EF-28C6-DDD0-1CB4728681DA}"/>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(ii) Experimental Setup</a:t>
            </a:r>
          </a:p>
          <a:p>
            <a:pPr rtl="0" fontAlgn="base">
              <a:spcBef>
                <a:spcPts val="0"/>
              </a:spcBef>
              <a:spcAft>
                <a:spcPts val="0"/>
              </a:spcAft>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86C3CAD5-811C-2E01-9FB5-7F7ED57F9290}"/>
              </a:ext>
            </a:extLst>
          </p:cNvPr>
          <p:cNvSpPr txBox="1"/>
          <p:nvPr/>
        </p:nvSpPr>
        <p:spPr>
          <a:xfrm>
            <a:off x="434788" y="1970714"/>
            <a:ext cx="11322424" cy="2677656"/>
          </a:xfrm>
          <a:prstGeom prst="rect">
            <a:avLst/>
          </a:prstGeom>
          <a:noFill/>
        </p:spPr>
        <p:txBody>
          <a:bodyPr wrap="square" rtlCol="0">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a) </a:t>
            </a:r>
            <a:r>
              <a:rPr lang="en-US" altLang="zh-CN" sz="2800" b="1" dirty="0">
                <a:latin typeface="Calibri" panose="020F0502020204030204" pitchFamily="34" charset="0"/>
                <a:ea typeface="Calibri" panose="020F0502020204030204" pitchFamily="34" charset="0"/>
                <a:cs typeface="Calibri" panose="020F0502020204030204" pitchFamily="34" charset="0"/>
              </a:rPr>
              <a:t>Baseline</a:t>
            </a:r>
            <a:r>
              <a:rPr lang="en-US" altLang="zh-CN" sz="2800" dirty="0">
                <a:latin typeface="Calibri" panose="020F0502020204030204" pitchFamily="34" charset="0"/>
                <a:ea typeface="Calibri" panose="020F0502020204030204" pitchFamily="34" charset="0"/>
                <a:cs typeface="Calibri" panose="020F0502020204030204" pitchFamily="34" charset="0"/>
              </a:rPr>
              <a:t>: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SelfCheckGPT</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 (the most and the only similar method to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MetaQA</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 also state-of-art method)</a:t>
            </a:r>
          </a:p>
          <a:p>
            <a:endPar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en-US" altLang="zh-CN" sz="2800" dirty="0">
                <a:latin typeface="Calibri" panose="020F0502020204030204" pitchFamily="34" charset="0"/>
                <a:ea typeface="Calibri" panose="020F0502020204030204" pitchFamily="34" charset="0"/>
                <a:cs typeface="Calibri" panose="020F0502020204030204" pitchFamily="34" charset="0"/>
              </a:rPr>
              <a:t>b) </a:t>
            </a:r>
            <a:r>
              <a:rPr lang="en-US" altLang="zh-CN" sz="2800" b="1" dirty="0">
                <a:latin typeface="Calibri" panose="020F0502020204030204" pitchFamily="34" charset="0"/>
                <a:ea typeface="Calibri" panose="020F0502020204030204" pitchFamily="34" charset="0"/>
                <a:cs typeface="Calibri" panose="020F0502020204030204" pitchFamily="34" charset="0"/>
              </a:rPr>
              <a:t>Datasets</a:t>
            </a:r>
            <a:r>
              <a:rPr lang="en-US" altLang="zh-CN" sz="2800" dirty="0">
                <a:latin typeface="Calibri" panose="020F0502020204030204" pitchFamily="34" charset="0"/>
                <a:ea typeface="Calibri" panose="020F0502020204030204" pitchFamily="34" charset="0"/>
                <a:cs typeface="Calibri" panose="020F0502020204030204" pitchFamily="34" charset="0"/>
              </a:rPr>
              <a:t>: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TruthfulQA</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(resistance to false narratives),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HotpotQA</a:t>
            </a:r>
            <a:r>
              <a:rPr lang="en-US" altLang="zh-CN" sz="2800" dirty="0">
                <a:latin typeface="Calibri" panose="020F0502020204030204" pitchFamily="34" charset="0"/>
                <a:ea typeface="Calibri" panose="020F0502020204030204" pitchFamily="34" charset="0"/>
                <a:cs typeface="Calibri" panose="020F0502020204030204" pitchFamily="34" charset="0"/>
              </a:rPr>
              <a:t> (multi-hop reasoning and evidence-based questions), and </a:t>
            </a:r>
            <a:r>
              <a:rPr lang="en-US" altLang="zh-CN" sz="2800" dirty="0" err="1">
                <a:solidFill>
                  <a:srgbClr val="FF0000"/>
                </a:solidFill>
                <a:latin typeface="Calibri" panose="020F0502020204030204" pitchFamily="34" charset="0"/>
                <a:ea typeface="Calibri" panose="020F0502020204030204" pitchFamily="34" charset="0"/>
                <a:cs typeface="Calibri" panose="020F0502020204030204" pitchFamily="34" charset="0"/>
              </a:rPr>
              <a:t>FreshQA</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(on-time questions)</a:t>
            </a:r>
          </a:p>
          <a:p>
            <a:endParaRPr lang="en-US" altLang="zh-CN" sz="2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图片 4">
            <a:extLst>
              <a:ext uri="{FF2B5EF4-FFF2-40B4-BE49-F238E27FC236}">
                <a16:creationId xmlns:a16="http://schemas.microsoft.com/office/drawing/2014/main" id="{2412308E-9D64-F667-9407-8800E3C69940}"/>
              </a:ext>
            </a:extLst>
          </p:cNvPr>
          <p:cNvPicPr>
            <a:picLocks noChangeAspect="1"/>
          </p:cNvPicPr>
          <p:nvPr/>
        </p:nvPicPr>
        <p:blipFill>
          <a:blip r:embed="rId4"/>
          <a:stretch>
            <a:fillRect/>
          </a:stretch>
        </p:blipFill>
        <p:spPr>
          <a:xfrm>
            <a:off x="5961529" y="3762409"/>
            <a:ext cx="5526741" cy="2880499"/>
          </a:xfrm>
          <a:prstGeom prst="rect">
            <a:avLst/>
          </a:prstGeom>
          <a:ln w="38100">
            <a:solidFill>
              <a:schemeClr val="tx1"/>
            </a:solidFill>
          </a:ln>
        </p:spPr>
      </p:pic>
      <p:sp>
        <p:nvSpPr>
          <p:cNvPr id="8" name="文本框 7">
            <a:extLst>
              <a:ext uri="{FF2B5EF4-FFF2-40B4-BE49-F238E27FC236}">
                <a16:creationId xmlns:a16="http://schemas.microsoft.com/office/drawing/2014/main" id="{EC66016A-429D-EA35-190C-AD0AD864229D}"/>
              </a:ext>
            </a:extLst>
          </p:cNvPr>
          <p:cNvSpPr txBox="1"/>
          <p:nvPr/>
        </p:nvSpPr>
        <p:spPr>
          <a:xfrm>
            <a:off x="434788" y="4648370"/>
            <a:ext cx="5526741" cy="1384995"/>
          </a:xfrm>
          <a:prstGeom prst="rect">
            <a:avLst/>
          </a:prstGeom>
          <a:noFill/>
        </p:spPr>
        <p:txBody>
          <a:bodyPr wrap="square">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c) </a:t>
            </a:r>
            <a:r>
              <a:rPr lang="en-US" altLang="zh-CN" sz="2800" b="1" dirty="0">
                <a:latin typeface="Calibri" panose="020F0502020204030204" pitchFamily="34" charset="0"/>
                <a:ea typeface="Calibri" panose="020F0502020204030204" pitchFamily="34" charset="0"/>
                <a:cs typeface="Calibri" panose="020F0502020204030204" pitchFamily="34" charset="0"/>
              </a:rPr>
              <a:t>Studied LLMs</a:t>
            </a:r>
            <a:r>
              <a:rPr lang="en-US" altLang="zh-CN" sz="2800" dirty="0">
                <a:latin typeface="Calibri" panose="020F0502020204030204" pitchFamily="34" charset="0"/>
                <a:ea typeface="Calibri" panose="020F0502020204030204" pitchFamily="34" charset="0"/>
                <a:cs typeface="Calibri" panose="020F0502020204030204" pitchFamily="34" charset="0"/>
              </a:rPr>
              <a:t>: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GPT-4</a:t>
            </a:r>
            <a:r>
              <a:rPr lang="en-US" altLang="zh-CN" sz="2800" dirty="0">
                <a:latin typeface="Calibri" panose="020F0502020204030204" pitchFamily="34" charset="0"/>
                <a:ea typeface="Calibri" panose="020F0502020204030204" pitchFamily="34" charset="0"/>
                <a:cs typeface="Calibri" panose="020F0502020204030204" pitchFamily="34" charset="0"/>
              </a:rPr>
              <a:t> and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GPT-3.5</a:t>
            </a:r>
            <a:r>
              <a:rPr lang="en-US" altLang="zh-CN" sz="2800" dirty="0">
                <a:latin typeface="Calibri" panose="020F0502020204030204" pitchFamily="34" charset="0"/>
                <a:ea typeface="Calibri" panose="020F0502020204030204" pitchFamily="34" charset="0"/>
                <a:cs typeface="Calibri" panose="020F0502020204030204" pitchFamily="34" charset="0"/>
              </a:rPr>
              <a:t> (closed-source models),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Llama3</a:t>
            </a:r>
            <a:r>
              <a:rPr lang="en-US" altLang="zh-CN" sz="2800" dirty="0">
                <a:latin typeface="Calibri" panose="020F0502020204030204" pitchFamily="34" charset="0"/>
                <a:ea typeface="Calibri" panose="020F0502020204030204" pitchFamily="34" charset="0"/>
                <a:cs typeface="Calibri" panose="020F0502020204030204" pitchFamily="34" charset="0"/>
              </a:rPr>
              <a:t> and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Mistral</a:t>
            </a:r>
            <a:r>
              <a:rPr lang="en-US" altLang="zh-CN" sz="2800" dirty="0">
                <a:latin typeface="Calibri" panose="020F0502020204030204" pitchFamily="34" charset="0"/>
                <a:ea typeface="Calibri" panose="020F0502020204030204" pitchFamily="34" charset="0"/>
                <a:cs typeface="Calibri" panose="020F0502020204030204" pitchFamily="34" charset="0"/>
              </a:rPr>
              <a:t> (open-source models)</a:t>
            </a:r>
          </a:p>
        </p:txBody>
      </p:sp>
      <p:sp>
        <p:nvSpPr>
          <p:cNvPr id="10" name="矩形 9">
            <a:extLst>
              <a:ext uri="{FF2B5EF4-FFF2-40B4-BE49-F238E27FC236}">
                <a16:creationId xmlns:a16="http://schemas.microsoft.com/office/drawing/2014/main" id="{562B8B39-4D15-3E14-6E0F-E620C9377508}"/>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1" name="灯片编号占位符 10">
            <a:extLst>
              <a:ext uri="{FF2B5EF4-FFF2-40B4-BE49-F238E27FC236}">
                <a16:creationId xmlns:a16="http://schemas.microsoft.com/office/drawing/2014/main" id="{F8AE69FC-3983-FD47-CE8C-2AB477B85409}"/>
              </a:ext>
            </a:extLst>
          </p:cNvPr>
          <p:cNvSpPr>
            <a:spLocks noGrp="1"/>
          </p:cNvSpPr>
          <p:nvPr>
            <p:ph type="sldNum" sz="quarter" idx="12"/>
          </p:nvPr>
        </p:nvSpPr>
        <p:spPr/>
        <p:txBody>
          <a:bodyPr/>
          <a:lstStyle/>
          <a:p>
            <a:fld id="{A330ECBB-EFA0-4B67-A466-676224D8611D}" type="slidenum">
              <a:rPr lang="zh-CN" altLang="en-US" smtClean="0"/>
              <a:t>15</a:t>
            </a:fld>
            <a:endParaRPr lang="zh-CN" altLang="en-US"/>
          </a:p>
        </p:txBody>
      </p:sp>
    </p:spTree>
    <p:custDataLst>
      <p:tags r:id="rId1"/>
    </p:custDataLst>
    <p:extLst>
      <p:ext uri="{BB962C8B-B14F-4D97-AF65-F5344CB8AC3E}">
        <p14:creationId xmlns:p14="http://schemas.microsoft.com/office/powerpoint/2010/main" val="2443047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7EE1-6351-E061-5BF8-B57639C31D4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8A06C8B-A17B-4657-9015-B21359525FCF}"/>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(iii) RQ1: Effectiveness</a:t>
            </a:r>
          </a:p>
          <a:p>
            <a:pPr rtl="0" fontAlgn="base">
              <a:spcBef>
                <a:spcPts val="0"/>
              </a:spcBef>
              <a:spcAft>
                <a:spcPts val="0"/>
              </a:spcAft>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5" name="矩形 4">
            <a:extLst>
              <a:ext uri="{FF2B5EF4-FFF2-40B4-BE49-F238E27FC236}">
                <a16:creationId xmlns:a16="http://schemas.microsoft.com/office/drawing/2014/main" id="{9574970D-09BB-090B-D50A-650264DCEB3C}"/>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pic>
        <p:nvPicPr>
          <p:cNvPr id="8" name="图片 7">
            <a:extLst>
              <a:ext uri="{FF2B5EF4-FFF2-40B4-BE49-F238E27FC236}">
                <a16:creationId xmlns:a16="http://schemas.microsoft.com/office/drawing/2014/main" id="{F85A7487-A2F5-F837-6FAA-D223E70D0E92}"/>
              </a:ext>
            </a:extLst>
          </p:cNvPr>
          <p:cNvPicPr>
            <a:picLocks noChangeAspect="1"/>
          </p:cNvPicPr>
          <p:nvPr/>
        </p:nvPicPr>
        <p:blipFill>
          <a:blip r:embed="rId4"/>
          <a:stretch>
            <a:fillRect/>
          </a:stretch>
        </p:blipFill>
        <p:spPr>
          <a:xfrm>
            <a:off x="434786" y="2493934"/>
            <a:ext cx="11322424" cy="2768662"/>
          </a:xfrm>
          <a:prstGeom prst="rect">
            <a:avLst/>
          </a:prstGeom>
        </p:spPr>
      </p:pic>
      <p:sp>
        <p:nvSpPr>
          <p:cNvPr id="12" name="文本框 11">
            <a:extLst>
              <a:ext uri="{FF2B5EF4-FFF2-40B4-BE49-F238E27FC236}">
                <a16:creationId xmlns:a16="http://schemas.microsoft.com/office/drawing/2014/main" id="{3C323EF0-DFF9-640B-57DE-AEA6DFCBF660}"/>
              </a:ext>
            </a:extLst>
          </p:cNvPr>
          <p:cNvSpPr txBox="1"/>
          <p:nvPr/>
        </p:nvSpPr>
        <p:spPr>
          <a:xfrm>
            <a:off x="434787" y="1970714"/>
            <a:ext cx="11322423" cy="523220"/>
          </a:xfrm>
          <a:prstGeom prst="rect">
            <a:avLst/>
          </a:prstGeom>
          <a:noFill/>
        </p:spPr>
        <p:txBody>
          <a:bodyPr wrap="square">
            <a:spAutoFit/>
          </a:bodyPr>
          <a:lstStyle/>
          <a:p>
            <a:pPr marL="457200" indent="-457200" fontAlgn="base">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Comparison on various datasets and LLMs with the threshold </a:t>
            </a:r>
            <a:r>
              <a:rPr lang="zh-CN" altLang="en-US" sz="2800" dirty="0">
                <a:latin typeface="Calibri" panose="020F0502020204030204" pitchFamily="34" charset="0"/>
                <a:ea typeface="Calibri" panose="020F0502020204030204" pitchFamily="34" charset="0"/>
                <a:cs typeface="Calibri" panose="020F0502020204030204" pitchFamily="34" charset="0"/>
              </a:rPr>
              <a:t>𝜃</a:t>
            </a:r>
            <a:r>
              <a:rPr lang="en-US" altLang="zh-CN" sz="2800" dirty="0">
                <a:latin typeface="Calibri" panose="020F0502020204030204" pitchFamily="34" charset="0"/>
                <a:ea typeface="Calibri" panose="020F0502020204030204" pitchFamily="34" charset="0"/>
                <a:cs typeface="Calibri" panose="020F0502020204030204" pitchFamily="34" charset="0"/>
              </a:rPr>
              <a:t>= 0.5:</a:t>
            </a:r>
            <a:endParaRPr lang="zh-CN" altLang="en-US" sz="2800" dirty="0">
              <a:latin typeface="Calibri" panose="020F0502020204030204" pitchFamily="34" charset="0"/>
              <a:cs typeface="Calibri" panose="020F0502020204030204" pitchFamily="34" charset="0"/>
            </a:endParaRPr>
          </a:p>
        </p:txBody>
      </p:sp>
      <p:sp>
        <p:nvSpPr>
          <p:cNvPr id="13" name="灯片编号占位符 12">
            <a:extLst>
              <a:ext uri="{FF2B5EF4-FFF2-40B4-BE49-F238E27FC236}">
                <a16:creationId xmlns:a16="http://schemas.microsoft.com/office/drawing/2014/main" id="{FC45F6E5-BF50-9168-4D9D-DEC6AF73B6E7}"/>
              </a:ext>
            </a:extLst>
          </p:cNvPr>
          <p:cNvSpPr>
            <a:spLocks noGrp="1"/>
          </p:cNvSpPr>
          <p:nvPr>
            <p:ph type="sldNum" sz="quarter" idx="12"/>
          </p:nvPr>
        </p:nvSpPr>
        <p:spPr/>
        <p:txBody>
          <a:bodyPr/>
          <a:lstStyle/>
          <a:p>
            <a:fld id="{A330ECBB-EFA0-4B67-A466-676224D8611D}" type="slidenum">
              <a:rPr lang="zh-CN" altLang="en-US" smtClean="0"/>
              <a:t>16</a:t>
            </a:fld>
            <a:endParaRPr lang="zh-CN" altLang="en-US"/>
          </a:p>
        </p:txBody>
      </p:sp>
    </p:spTree>
    <p:custDataLst>
      <p:tags r:id="rId1"/>
    </p:custDataLst>
    <p:extLst>
      <p:ext uri="{BB962C8B-B14F-4D97-AF65-F5344CB8AC3E}">
        <p14:creationId xmlns:p14="http://schemas.microsoft.com/office/powerpoint/2010/main" val="4039472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110E2-8BC7-ED33-91AA-5EDB2AFEAAF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4925DA1-8A00-38C4-5FAA-78FFFC1BF9F6}"/>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(iv) RQ2: Generalization</a:t>
            </a:r>
          </a:p>
          <a:p>
            <a:pPr rtl="0" fontAlgn="base">
              <a:spcBef>
                <a:spcPts val="0"/>
              </a:spcBef>
              <a:spcAft>
                <a:spcPts val="0"/>
              </a:spcAft>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6BBCE8E1-5183-4C80-055B-B0822E79D226}"/>
              </a:ext>
            </a:extLst>
          </p:cNvPr>
          <p:cNvSpPr txBox="1"/>
          <p:nvPr/>
        </p:nvSpPr>
        <p:spPr>
          <a:xfrm>
            <a:off x="434788" y="1970714"/>
            <a:ext cx="11322424" cy="954107"/>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Overall Hallucination Rate of Specific Domains and Detected Proportion Comparison at threshold </a:t>
            </a:r>
            <a:r>
              <a:rPr lang="zh-CN" altLang="en-US" sz="2800" dirty="0">
                <a:latin typeface="Calibri" panose="020F0502020204030204" pitchFamily="34" charset="0"/>
                <a:ea typeface="Calibri" panose="020F0502020204030204" pitchFamily="34" charset="0"/>
                <a:cs typeface="Calibri" panose="020F0502020204030204" pitchFamily="34" charset="0"/>
              </a:rPr>
              <a:t>𝜃 </a:t>
            </a:r>
            <a:r>
              <a:rPr lang="en-US" altLang="zh-CN" sz="2800" dirty="0">
                <a:latin typeface="Calibri" panose="020F0502020204030204" pitchFamily="34" charset="0"/>
                <a:ea typeface="Calibri" panose="020F0502020204030204" pitchFamily="34" charset="0"/>
                <a:cs typeface="Calibri" panose="020F0502020204030204" pitchFamily="34" charset="0"/>
              </a:rPr>
              <a:t>= 0.5.</a:t>
            </a:r>
          </a:p>
        </p:txBody>
      </p:sp>
      <p:sp>
        <p:nvSpPr>
          <p:cNvPr id="5" name="矩形 4">
            <a:extLst>
              <a:ext uri="{FF2B5EF4-FFF2-40B4-BE49-F238E27FC236}">
                <a16:creationId xmlns:a16="http://schemas.microsoft.com/office/drawing/2014/main" id="{AF0C8091-904D-BCDE-B98B-FE8769B3CFCC}"/>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0" name="灯片编号占位符 9">
            <a:extLst>
              <a:ext uri="{FF2B5EF4-FFF2-40B4-BE49-F238E27FC236}">
                <a16:creationId xmlns:a16="http://schemas.microsoft.com/office/drawing/2014/main" id="{640FFFA9-00D6-5B86-A142-F0BBB3E832E9}"/>
              </a:ext>
            </a:extLst>
          </p:cNvPr>
          <p:cNvSpPr>
            <a:spLocks noGrp="1"/>
          </p:cNvSpPr>
          <p:nvPr>
            <p:ph type="sldNum" sz="quarter" idx="12"/>
          </p:nvPr>
        </p:nvSpPr>
        <p:spPr/>
        <p:txBody>
          <a:bodyPr/>
          <a:lstStyle/>
          <a:p>
            <a:fld id="{A330ECBB-EFA0-4B67-A466-676224D8611D}" type="slidenum">
              <a:rPr lang="zh-CN" altLang="en-US" smtClean="0"/>
              <a:t>17</a:t>
            </a:fld>
            <a:endParaRPr lang="zh-CN" altLang="en-US"/>
          </a:p>
        </p:txBody>
      </p:sp>
      <p:pic>
        <p:nvPicPr>
          <p:cNvPr id="4" name="图片 3">
            <a:extLst>
              <a:ext uri="{FF2B5EF4-FFF2-40B4-BE49-F238E27FC236}">
                <a16:creationId xmlns:a16="http://schemas.microsoft.com/office/drawing/2014/main" id="{3A404656-D36B-18C3-8512-180E591738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5437" y="2924821"/>
            <a:ext cx="7941125" cy="3791238"/>
          </a:xfrm>
          <a:prstGeom prst="rect">
            <a:avLst/>
          </a:prstGeom>
        </p:spPr>
      </p:pic>
    </p:spTree>
    <p:custDataLst>
      <p:tags r:id="rId1"/>
    </p:custDataLst>
    <p:extLst>
      <p:ext uri="{BB962C8B-B14F-4D97-AF65-F5344CB8AC3E}">
        <p14:creationId xmlns:p14="http://schemas.microsoft.com/office/powerpoint/2010/main" val="2099536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C51B-86D5-10EF-E69B-C382804AE94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33D8C4F-D56B-183B-9447-D602E85BA81B}"/>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(v) RQ3: Stability</a:t>
            </a:r>
          </a:p>
          <a:p>
            <a:pPr rtl="0" fontAlgn="base">
              <a:spcBef>
                <a:spcPts val="0"/>
              </a:spcBef>
              <a:spcAft>
                <a:spcPts val="0"/>
              </a:spcAft>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22E27C68-0450-EB18-E650-F867D56E4271}"/>
              </a:ext>
            </a:extLst>
          </p:cNvPr>
          <p:cNvSpPr txBox="1"/>
          <p:nvPr/>
        </p:nvSpPr>
        <p:spPr>
          <a:xfrm>
            <a:off x="434788" y="1970714"/>
            <a:ext cx="11322424"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Deviation curves with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across different thresholds </a:t>
            </a:r>
            <a:r>
              <a:rPr lang="zh-CN" altLang="en-US" sz="2800" dirty="0">
                <a:latin typeface="Calibri" panose="020F0502020204030204" pitchFamily="34" charset="0"/>
                <a:ea typeface="Calibri" panose="020F0502020204030204" pitchFamily="34" charset="0"/>
                <a:cs typeface="Calibri" panose="020F0502020204030204" pitchFamily="34" charset="0"/>
              </a:rPr>
              <a:t>𝜃</a:t>
            </a:r>
            <a:r>
              <a:rPr lang="en-US" altLang="zh-CN" sz="2800" dirty="0">
                <a:latin typeface="Calibri" panose="020F0502020204030204" pitchFamily="34" charset="0"/>
                <a:ea typeface="Calibri" panose="020F0502020204030204" pitchFamily="34" charset="0"/>
                <a:cs typeface="Calibri" panose="020F0502020204030204" pitchFamily="34" charset="0"/>
              </a:rPr>
              <a:t>:</a:t>
            </a:r>
          </a:p>
        </p:txBody>
      </p:sp>
      <p:sp>
        <p:nvSpPr>
          <p:cNvPr id="5" name="矩形 4">
            <a:extLst>
              <a:ext uri="{FF2B5EF4-FFF2-40B4-BE49-F238E27FC236}">
                <a16:creationId xmlns:a16="http://schemas.microsoft.com/office/drawing/2014/main" id="{890E10B4-98EC-BA27-292F-6E801711E8C5}"/>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pic>
        <p:nvPicPr>
          <p:cNvPr id="8" name="图片 7">
            <a:extLst>
              <a:ext uri="{FF2B5EF4-FFF2-40B4-BE49-F238E27FC236}">
                <a16:creationId xmlns:a16="http://schemas.microsoft.com/office/drawing/2014/main" id="{83AD7A79-10BE-B5D1-4233-2584BC70CA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9558" y="2493934"/>
            <a:ext cx="7672884" cy="3409959"/>
          </a:xfrm>
          <a:prstGeom prst="rect">
            <a:avLst/>
          </a:prstGeom>
        </p:spPr>
      </p:pic>
      <p:sp>
        <p:nvSpPr>
          <p:cNvPr id="12" name="灯片编号占位符 11">
            <a:extLst>
              <a:ext uri="{FF2B5EF4-FFF2-40B4-BE49-F238E27FC236}">
                <a16:creationId xmlns:a16="http://schemas.microsoft.com/office/drawing/2014/main" id="{6670AC84-D2BD-A584-4C5B-2D567E27E34C}"/>
              </a:ext>
            </a:extLst>
          </p:cNvPr>
          <p:cNvSpPr>
            <a:spLocks noGrp="1"/>
          </p:cNvSpPr>
          <p:nvPr>
            <p:ph type="sldNum" sz="quarter" idx="12"/>
          </p:nvPr>
        </p:nvSpPr>
        <p:spPr/>
        <p:txBody>
          <a:bodyPr/>
          <a:lstStyle/>
          <a:p>
            <a:fld id="{A330ECBB-EFA0-4B67-A466-676224D8611D}" type="slidenum">
              <a:rPr lang="zh-CN" altLang="en-US" smtClean="0"/>
              <a:t>18</a:t>
            </a:fld>
            <a:endParaRPr lang="zh-CN" altLang="en-US"/>
          </a:p>
        </p:txBody>
      </p:sp>
    </p:spTree>
    <p:custDataLst>
      <p:tags r:id="rId1"/>
    </p:custDataLst>
    <p:extLst>
      <p:ext uri="{BB962C8B-B14F-4D97-AF65-F5344CB8AC3E}">
        <p14:creationId xmlns:p14="http://schemas.microsoft.com/office/powerpoint/2010/main" val="38157074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8B6AF-B862-1071-2148-017D6BFB4CB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EF7629E-127E-8F4F-813A-0010D325EB16}"/>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(vi) RQ4: Sensitivity to Mutants</a:t>
            </a:r>
          </a:p>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 </a:t>
            </a:r>
          </a:p>
        </p:txBody>
      </p:sp>
      <p:sp>
        <p:nvSpPr>
          <p:cNvPr id="6" name="文本框 5">
            <a:extLst>
              <a:ext uri="{FF2B5EF4-FFF2-40B4-BE49-F238E27FC236}">
                <a16:creationId xmlns:a16="http://schemas.microsoft.com/office/drawing/2014/main" id="{18B623A7-5628-2668-F82B-D5BC9DB330B2}"/>
              </a:ext>
            </a:extLst>
          </p:cNvPr>
          <p:cNvSpPr txBox="1"/>
          <p:nvPr/>
        </p:nvSpPr>
        <p:spPr>
          <a:xfrm>
            <a:off x="434788" y="1970714"/>
            <a:ext cx="11322424"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Performance vs mutation numbers on GPT-3.5:</a:t>
            </a:r>
          </a:p>
        </p:txBody>
      </p:sp>
      <p:sp>
        <p:nvSpPr>
          <p:cNvPr id="5" name="矩形 4">
            <a:extLst>
              <a:ext uri="{FF2B5EF4-FFF2-40B4-BE49-F238E27FC236}">
                <a16:creationId xmlns:a16="http://schemas.microsoft.com/office/drawing/2014/main" id="{953B9B62-942F-B66E-BFED-DF780D3E7B48}"/>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pic>
        <p:nvPicPr>
          <p:cNvPr id="8" name="图片 7">
            <a:extLst>
              <a:ext uri="{FF2B5EF4-FFF2-40B4-BE49-F238E27FC236}">
                <a16:creationId xmlns:a16="http://schemas.microsoft.com/office/drawing/2014/main" id="{A0F7BF3B-98FE-A5D4-EB2B-832526ECF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788" y="2493934"/>
            <a:ext cx="11322424" cy="3490886"/>
          </a:xfrm>
          <a:prstGeom prst="rect">
            <a:avLst/>
          </a:prstGeom>
        </p:spPr>
      </p:pic>
      <p:sp>
        <p:nvSpPr>
          <p:cNvPr id="17" name="灯片编号占位符 16">
            <a:extLst>
              <a:ext uri="{FF2B5EF4-FFF2-40B4-BE49-F238E27FC236}">
                <a16:creationId xmlns:a16="http://schemas.microsoft.com/office/drawing/2014/main" id="{F7E4CEB5-2150-20A2-78C7-D780F61723D4}"/>
              </a:ext>
            </a:extLst>
          </p:cNvPr>
          <p:cNvSpPr>
            <a:spLocks noGrp="1"/>
          </p:cNvSpPr>
          <p:nvPr>
            <p:ph type="sldNum" sz="quarter" idx="12"/>
          </p:nvPr>
        </p:nvSpPr>
        <p:spPr/>
        <p:txBody>
          <a:bodyPr/>
          <a:lstStyle/>
          <a:p>
            <a:fld id="{A330ECBB-EFA0-4B67-A466-676224D8611D}" type="slidenum">
              <a:rPr lang="zh-CN" altLang="en-US" smtClean="0"/>
              <a:t>19</a:t>
            </a:fld>
            <a:endParaRPr lang="zh-CN" altLang="en-US"/>
          </a:p>
        </p:txBody>
      </p:sp>
    </p:spTree>
    <p:custDataLst>
      <p:tags r:id="rId1"/>
    </p:custDataLst>
    <p:extLst>
      <p:ext uri="{BB962C8B-B14F-4D97-AF65-F5344CB8AC3E}">
        <p14:creationId xmlns:p14="http://schemas.microsoft.com/office/powerpoint/2010/main" val="3829188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03D7091-75CE-EBC2-A474-88DA435FB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985" y="2924821"/>
            <a:ext cx="10518025" cy="3420717"/>
          </a:xfrm>
          <a:prstGeom prst="rect">
            <a:avLst/>
          </a:prstGeom>
        </p:spPr>
      </p:pic>
      <p:sp>
        <p:nvSpPr>
          <p:cNvPr id="3" name="文本框 2">
            <a:extLst>
              <a:ext uri="{FF2B5EF4-FFF2-40B4-BE49-F238E27FC236}">
                <a16:creationId xmlns:a16="http://schemas.microsoft.com/office/drawing/2014/main" id="{0882605A-D6F4-BAE3-3907-645623AC0B21}"/>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(vii) RQ5: Sensitivity to threshold</a:t>
            </a:r>
          </a:p>
          <a:p>
            <a:pPr rtl="0" fontAlgn="base">
              <a:spcBef>
                <a:spcPts val="0"/>
              </a:spcBef>
              <a:spcAft>
                <a:spcPts val="0"/>
              </a:spcAft>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7" name="矩形 6">
            <a:extLst>
              <a:ext uri="{FF2B5EF4-FFF2-40B4-BE49-F238E27FC236}">
                <a16:creationId xmlns:a16="http://schemas.microsoft.com/office/drawing/2014/main" id="{6E7BAA7E-8555-E7CF-0374-6748F772C58A}"/>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latin typeface="Calibri" panose="020F0502020204030204" pitchFamily="34" charset="0"/>
                <a:ea typeface="Calibri" panose="020F0502020204030204" pitchFamily="34" charset="0"/>
                <a:cs typeface="Calibri" panose="020F0502020204030204" pitchFamily="34" charset="0"/>
              </a:rPr>
              <a:t>Experimental Setup &amp; Evaluations</a:t>
            </a:r>
            <a:endParaRPr lang="zh-CN" altLang="en-US" sz="3200" dirty="0">
              <a:solidFill>
                <a:prstClr val="black">
                  <a:lumMod val="75000"/>
                  <a:lumOff val="25000"/>
                </a:prstClr>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9" name="文本框 8">
            <a:extLst>
              <a:ext uri="{FF2B5EF4-FFF2-40B4-BE49-F238E27FC236}">
                <a16:creationId xmlns:a16="http://schemas.microsoft.com/office/drawing/2014/main" id="{EA09F0C5-7396-7F33-C4B7-EC8CCC762453}"/>
              </a:ext>
            </a:extLst>
          </p:cNvPr>
          <p:cNvSpPr txBox="1"/>
          <p:nvPr/>
        </p:nvSpPr>
        <p:spPr>
          <a:xfrm>
            <a:off x="434787" y="1970714"/>
            <a:ext cx="11322423" cy="954107"/>
          </a:xfrm>
          <a:prstGeom prst="rect">
            <a:avLst/>
          </a:prstGeom>
          <a:noFill/>
        </p:spPr>
        <p:txBody>
          <a:bodyPr wrap="square">
            <a:spAutoFit/>
          </a:bodyPr>
          <a:lstStyle/>
          <a:p>
            <a:pPr fontAlgn="base"/>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Parameter Curves in hallucination detection across thresholds </a:t>
            </a:r>
            <a:r>
              <a:rPr lang="zh-CN" altLang="en-US" sz="2800" dirty="0">
                <a:latin typeface="Calibri" panose="020F0502020204030204" pitchFamily="34" charset="0"/>
                <a:ea typeface="Calibri" panose="020F0502020204030204" pitchFamily="34" charset="0"/>
                <a:cs typeface="Calibri" panose="020F0502020204030204" pitchFamily="34" charset="0"/>
              </a:rPr>
              <a:t>𝜃 </a:t>
            </a:r>
            <a:r>
              <a:rPr lang="en-US" altLang="zh-CN" sz="2800" dirty="0">
                <a:solidFill>
                  <a:srgbClr val="000000"/>
                </a:solidFill>
                <a:latin typeface="Calibri" panose="020F0502020204030204" pitchFamily="34" charset="0"/>
                <a:ea typeface="Calibri" panose="020F0502020204030204" pitchFamily="34" charset="0"/>
                <a:cs typeface="Calibri" panose="020F0502020204030204" pitchFamily="34" charset="0"/>
              </a:rPr>
              <a:t>∈ [0.2, 0.7] and across multiple LLMs:</a:t>
            </a:r>
          </a:p>
        </p:txBody>
      </p:sp>
      <p:sp>
        <p:nvSpPr>
          <p:cNvPr id="13" name="灯片编号占位符 12">
            <a:extLst>
              <a:ext uri="{FF2B5EF4-FFF2-40B4-BE49-F238E27FC236}">
                <a16:creationId xmlns:a16="http://schemas.microsoft.com/office/drawing/2014/main" id="{AC96B551-4C6F-8125-726B-F09053733A3C}"/>
              </a:ext>
            </a:extLst>
          </p:cNvPr>
          <p:cNvSpPr>
            <a:spLocks noGrp="1"/>
          </p:cNvSpPr>
          <p:nvPr>
            <p:ph type="sldNum" sz="quarter" idx="12"/>
          </p:nvPr>
        </p:nvSpPr>
        <p:spPr/>
        <p:txBody>
          <a:bodyPr/>
          <a:lstStyle/>
          <a:p>
            <a:fld id="{A330ECBB-EFA0-4B67-A466-676224D8611D}" type="slidenum">
              <a:rPr lang="zh-CN" altLang="en-US" smtClean="0"/>
              <a:t>20</a:t>
            </a:fld>
            <a:endParaRPr lang="zh-CN" altLang="en-US"/>
          </a:p>
        </p:txBody>
      </p:sp>
    </p:spTree>
    <p:extLst>
      <p:ext uri="{BB962C8B-B14F-4D97-AF65-F5344CB8AC3E}">
        <p14:creationId xmlns:p14="http://schemas.microsoft.com/office/powerpoint/2010/main" val="3079243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18695-F40A-770C-C699-55FAB8971EB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0DC52A0-475B-29FA-8C60-9BF8251EE415}"/>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solidFill>
                  <a:schemeClr val="bg1"/>
                </a:solidFill>
                <a:latin typeface="Calibri" panose="020F0502020204030204" pitchFamily="34" charset="0"/>
                <a:ea typeface="Calibri" panose="020F0502020204030204" pitchFamily="34" charset="0"/>
                <a:cs typeface="Calibri" panose="020F0502020204030204" pitchFamily="34" charset="0"/>
              </a:rPr>
              <a:t>Discussion &amp; Limitations</a:t>
            </a:r>
            <a:endParaRPr lang="zh-CN" altLang="en-US" sz="3200" dirty="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 name="文本框 1">
            <a:extLst>
              <a:ext uri="{FF2B5EF4-FFF2-40B4-BE49-F238E27FC236}">
                <a16:creationId xmlns:a16="http://schemas.microsoft.com/office/drawing/2014/main" id="{13003C6B-736A-B7A8-ECC1-6983417162CB}"/>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a:t>
            </a:r>
            <a:r>
              <a:rPr lang="en-US" altLang="zh-CN" sz="3600" dirty="0" err="1">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 Token Overhead Analysis</a:t>
            </a:r>
          </a:p>
          <a:p>
            <a:pPr marL="857250" indent="-857250" rtl="0" fontAlgn="base">
              <a:spcBef>
                <a:spcPts val="0"/>
              </a:spcBef>
              <a:spcAft>
                <a:spcPts val="0"/>
              </a:spcAft>
              <a:buAutoNum type="romanLcParenBoth"/>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06236C69-3F65-77DD-C530-AEF03845BF9F}"/>
              </a:ext>
            </a:extLst>
          </p:cNvPr>
          <p:cNvSpPr txBox="1"/>
          <p:nvPr/>
        </p:nvSpPr>
        <p:spPr>
          <a:xfrm>
            <a:off x="434787" y="1970714"/>
            <a:ext cx="11322424"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An average token-cost per QA-process comparison on multi models:</a:t>
            </a:r>
            <a:endParaRPr lang="zh-CN" altLang="en-US" sz="2800" dirty="0">
              <a:latin typeface="Calibri" panose="020F0502020204030204" pitchFamily="34" charset="0"/>
              <a:cs typeface="Calibri" panose="020F0502020204030204" pitchFamily="34" charset="0"/>
            </a:endParaRPr>
          </a:p>
        </p:txBody>
      </p:sp>
      <p:pic>
        <p:nvPicPr>
          <p:cNvPr id="5" name="图片 4">
            <a:extLst>
              <a:ext uri="{FF2B5EF4-FFF2-40B4-BE49-F238E27FC236}">
                <a16:creationId xmlns:a16="http://schemas.microsoft.com/office/drawing/2014/main" id="{69031B35-CD07-CED2-6F80-3BB9007D0BEF}"/>
              </a:ext>
            </a:extLst>
          </p:cNvPr>
          <p:cNvPicPr>
            <a:picLocks noChangeAspect="1"/>
          </p:cNvPicPr>
          <p:nvPr/>
        </p:nvPicPr>
        <p:blipFill>
          <a:blip r:embed="rId4"/>
          <a:stretch>
            <a:fillRect/>
          </a:stretch>
        </p:blipFill>
        <p:spPr>
          <a:xfrm>
            <a:off x="2789224" y="2493934"/>
            <a:ext cx="6613549" cy="3284656"/>
          </a:xfrm>
          <a:prstGeom prst="rect">
            <a:avLst/>
          </a:prstGeom>
        </p:spPr>
      </p:pic>
      <p:sp>
        <p:nvSpPr>
          <p:cNvPr id="10" name="灯片编号占位符 9">
            <a:extLst>
              <a:ext uri="{FF2B5EF4-FFF2-40B4-BE49-F238E27FC236}">
                <a16:creationId xmlns:a16="http://schemas.microsoft.com/office/drawing/2014/main" id="{22E19FDF-996B-F470-FD9A-0BDBBB5D85F7}"/>
              </a:ext>
            </a:extLst>
          </p:cNvPr>
          <p:cNvSpPr>
            <a:spLocks noGrp="1"/>
          </p:cNvSpPr>
          <p:nvPr>
            <p:ph type="sldNum" sz="quarter" idx="12"/>
          </p:nvPr>
        </p:nvSpPr>
        <p:spPr/>
        <p:txBody>
          <a:bodyPr/>
          <a:lstStyle/>
          <a:p>
            <a:fld id="{A330ECBB-EFA0-4B67-A466-676224D8611D}" type="slidenum">
              <a:rPr lang="zh-CN" altLang="en-US" smtClean="0"/>
              <a:t>21</a:t>
            </a:fld>
            <a:endParaRPr lang="zh-CN" altLang="en-US"/>
          </a:p>
        </p:txBody>
      </p:sp>
    </p:spTree>
    <p:custDataLst>
      <p:tags r:id="rId1"/>
    </p:custDataLst>
    <p:extLst>
      <p:ext uri="{BB962C8B-B14F-4D97-AF65-F5344CB8AC3E}">
        <p14:creationId xmlns:p14="http://schemas.microsoft.com/office/powerpoint/2010/main" val="2164961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12E4-2AD6-161A-4415-978F8BC0A1A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DE38368-1410-AFAE-9D44-A271D87A74B7}"/>
              </a:ext>
            </a:extLst>
          </p:cNvPr>
          <p:cNvSpPr txBox="1"/>
          <p:nvPr/>
        </p:nvSpPr>
        <p:spPr>
          <a:xfrm>
            <a:off x="434788" y="770385"/>
            <a:ext cx="11322424" cy="1200329"/>
          </a:xfrm>
          <a:prstGeom prst="rect">
            <a:avLst/>
          </a:prstGeom>
          <a:noFill/>
        </p:spPr>
        <p:txBody>
          <a:bodyPr wrap="square" rtlCol="0">
            <a:spAutoFit/>
          </a:bodyPr>
          <a:lstStyle/>
          <a:p>
            <a:pPr rtl="0" fontAlgn="base">
              <a:spcBef>
                <a:spcPts val="0"/>
              </a:spcBef>
              <a:spcAft>
                <a:spcPts val="0"/>
              </a:spcAft>
            </a:pPr>
            <a:r>
              <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rPr>
              <a:t>(ii) Threats to Validity</a:t>
            </a:r>
          </a:p>
          <a:p>
            <a:pPr rtl="0" fontAlgn="base">
              <a:spcBef>
                <a:spcPts val="0"/>
              </a:spcBef>
              <a:spcAft>
                <a:spcPts val="0"/>
              </a:spcAft>
            </a:pPr>
            <a:endParaRPr lang="en-US" altLang="zh-CN" sz="3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1BCB9020-BB72-FD07-2E42-D527B432DA06}"/>
              </a:ext>
            </a:extLst>
          </p:cNvPr>
          <p:cNvSpPr txBox="1"/>
          <p:nvPr/>
        </p:nvSpPr>
        <p:spPr>
          <a:xfrm>
            <a:off x="434786" y="1970714"/>
            <a:ext cx="11322424" cy="138499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The effectiveness of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is heavily dependent on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the accuracy of the generated mutations</a:t>
            </a:r>
            <a:r>
              <a:rPr lang="en-US" altLang="zh-CN" sz="2800" dirty="0">
                <a:latin typeface="Calibri" panose="020F0502020204030204" pitchFamily="34" charset="0"/>
                <a:ea typeface="Calibri" panose="020F0502020204030204" pitchFamily="34" charset="0"/>
                <a:cs typeface="Calibri" panose="020F0502020204030204" pitchFamily="34" charset="0"/>
              </a:rPr>
              <a:t>. A double negation example in generating antonym mutations</a:t>
            </a:r>
            <a:r>
              <a:rPr lang="zh-CN" altLang="en-US" sz="2800"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below:</a:t>
            </a:r>
            <a:r>
              <a:rPr lang="en-US" altLang="zh-CN" sz="2800" dirty="0">
                <a:latin typeface="Calibri" panose="020F0502020204030204" pitchFamily="34" charset="0"/>
                <a:ea typeface="Calibri" panose="020F0502020204030204" pitchFamily="34" charset="0"/>
                <a:cs typeface="Calibri" panose="020F0502020204030204" pitchFamily="34" charset="0"/>
              </a:rPr>
              <a:t> </a:t>
            </a:r>
          </a:p>
        </p:txBody>
      </p:sp>
      <p:pic>
        <p:nvPicPr>
          <p:cNvPr id="5" name="图片 4">
            <a:extLst>
              <a:ext uri="{FF2B5EF4-FFF2-40B4-BE49-F238E27FC236}">
                <a16:creationId xmlns:a16="http://schemas.microsoft.com/office/drawing/2014/main" id="{858E9E9A-D4FE-1B61-C237-DBE8910FD5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4396" y="3355709"/>
            <a:ext cx="6643203" cy="2992435"/>
          </a:xfrm>
          <a:prstGeom prst="rect">
            <a:avLst/>
          </a:prstGeom>
        </p:spPr>
      </p:pic>
      <p:sp>
        <p:nvSpPr>
          <p:cNvPr id="9" name="矩形 8">
            <a:extLst>
              <a:ext uri="{FF2B5EF4-FFF2-40B4-BE49-F238E27FC236}">
                <a16:creationId xmlns:a16="http://schemas.microsoft.com/office/drawing/2014/main" id="{CBAAC25F-AC32-D32B-0DC3-99013430FE85}"/>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solidFill>
                  <a:schemeClr val="bg1"/>
                </a:solidFill>
                <a:latin typeface="Calibri" panose="020F0502020204030204" pitchFamily="34" charset="0"/>
                <a:ea typeface="Calibri" panose="020F0502020204030204" pitchFamily="34" charset="0"/>
                <a:cs typeface="Calibri" panose="020F0502020204030204" pitchFamily="34" charset="0"/>
              </a:rPr>
              <a:t>Discussion &amp; Limitations</a:t>
            </a:r>
            <a:endParaRPr lang="zh-CN" altLang="en-US" sz="3200" dirty="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0" name="灯片编号占位符 9">
            <a:extLst>
              <a:ext uri="{FF2B5EF4-FFF2-40B4-BE49-F238E27FC236}">
                <a16:creationId xmlns:a16="http://schemas.microsoft.com/office/drawing/2014/main" id="{F28EFDCD-60D0-EFB3-DCA1-E9BF387360BB}"/>
              </a:ext>
            </a:extLst>
          </p:cNvPr>
          <p:cNvSpPr>
            <a:spLocks noGrp="1"/>
          </p:cNvSpPr>
          <p:nvPr>
            <p:ph type="sldNum" sz="quarter" idx="12"/>
          </p:nvPr>
        </p:nvSpPr>
        <p:spPr/>
        <p:txBody>
          <a:bodyPr/>
          <a:lstStyle/>
          <a:p>
            <a:fld id="{A330ECBB-EFA0-4B67-A466-676224D8611D}" type="slidenum">
              <a:rPr lang="zh-CN" altLang="en-US" smtClean="0"/>
              <a:t>22</a:t>
            </a:fld>
            <a:endParaRPr lang="zh-CN" altLang="en-US"/>
          </a:p>
        </p:txBody>
      </p:sp>
    </p:spTree>
    <p:custDataLst>
      <p:tags r:id="rId1"/>
    </p:custDataLst>
    <p:extLst>
      <p:ext uri="{BB962C8B-B14F-4D97-AF65-F5344CB8AC3E}">
        <p14:creationId xmlns:p14="http://schemas.microsoft.com/office/powerpoint/2010/main" val="4205239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8892A-8F84-C079-D7B4-C757FFBF4B77}"/>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1FFD64F-BA86-AA19-F381-03A0D336E483}"/>
              </a:ext>
            </a:extLst>
          </p:cNvPr>
          <p:cNvSpPr/>
          <p:nvPr/>
        </p:nvSpPr>
        <p:spPr>
          <a:xfrm>
            <a:off x="0" y="0"/>
            <a:ext cx="12192000" cy="749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altLang="zh-CN" sz="3200" dirty="0">
                <a:solidFill>
                  <a:schemeClr val="bg1"/>
                </a:solidFill>
                <a:latin typeface="Calibri" panose="020F0502020204030204" pitchFamily="34" charset="0"/>
                <a:ea typeface="Calibri" panose="020F0502020204030204" pitchFamily="34" charset="0"/>
                <a:cs typeface="Calibri" panose="020F0502020204030204" pitchFamily="34" charset="0"/>
              </a:rPr>
              <a:t>Conclusion &amp; Future Work</a:t>
            </a:r>
            <a:endParaRPr lang="zh-CN" altLang="en-US" sz="3200" dirty="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6" name="文本框 5">
            <a:extLst>
              <a:ext uri="{FF2B5EF4-FFF2-40B4-BE49-F238E27FC236}">
                <a16:creationId xmlns:a16="http://schemas.microsoft.com/office/drawing/2014/main" id="{E4E7A017-878E-2ADD-BBBE-5219EE9DF168}"/>
              </a:ext>
            </a:extLst>
          </p:cNvPr>
          <p:cNvSpPr txBox="1"/>
          <p:nvPr/>
        </p:nvSpPr>
        <p:spPr>
          <a:xfrm>
            <a:off x="372035" y="749300"/>
            <a:ext cx="11322424" cy="2308324"/>
          </a:xfrm>
          <a:prstGeom prst="rect">
            <a:avLst/>
          </a:prstGeom>
          <a:noFill/>
        </p:spPr>
        <p:txBody>
          <a:bodyPr wrap="square" rtlCol="0">
            <a:spAutoFit/>
          </a:bodyPr>
          <a:lstStyle/>
          <a:p>
            <a:r>
              <a:rPr lang="en-US" altLang="zh-CN" sz="3200" dirty="0">
                <a:latin typeface="Arial" panose="020B0604020202020204" pitchFamily="34" charset="0"/>
                <a:ea typeface="Calibri" panose="020F0502020204030204" pitchFamily="34" charset="0"/>
                <a:cs typeface="Arial" panose="020B0604020202020204" pitchFamily="34" charset="0"/>
              </a:rPr>
              <a:t>(</a:t>
            </a:r>
            <a:r>
              <a:rPr lang="en-US" altLang="zh-CN" sz="3200" dirty="0" err="1">
                <a:latin typeface="Arial" panose="020B0604020202020204" pitchFamily="34" charset="0"/>
                <a:ea typeface="Calibri" panose="020F0502020204030204" pitchFamily="34" charset="0"/>
                <a:cs typeface="Arial" panose="020B0604020202020204" pitchFamily="34" charset="0"/>
              </a:rPr>
              <a:t>i</a:t>
            </a:r>
            <a:r>
              <a:rPr lang="en-US" altLang="zh-CN" sz="3200" dirty="0">
                <a:latin typeface="Arial" panose="020B0604020202020204" pitchFamily="34" charset="0"/>
                <a:ea typeface="Calibri" panose="020F0502020204030204" pitchFamily="34" charset="0"/>
                <a:cs typeface="Arial" panose="020B0604020202020204" pitchFamily="34" charset="0"/>
              </a:rPr>
              <a:t>) Conclusion</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Present </a:t>
            </a:r>
            <a:r>
              <a:rPr lang="en-US" altLang="zh-CN" sz="2800" dirty="0" err="1">
                <a:latin typeface="Calibri" panose="020F0502020204030204" pitchFamily="34" charset="0"/>
                <a:ea typeface="Calibri" panose="020F0502020204030204" pitchFamily="34" charset="0"/>
                <a:cs typeface="Calibri" panose="020F0502020204030204" pitchFamily="34" charset="0"/>
              </a:rPr>
              <a:t>MetaQA</a:t>
            </a:r>
            <a:r>
              <a:rPr lang="en-US" altLang="zh-CN" sz="2800" dirty="0">
                <a:latin typeface="Calibri" panose="020F0502020204030204" pitchFamily="34" charset="0"/>
                <a:ea typeface="Calibri" panose="020F0502020204030204" pitchFamily="34" charset="0"/>
                <a:cs typeface="Calibri" panose="020F0502020204030204" pitchFamily="34" charset="0"/>
              </a:rPr>
              <a:t>, a MR-based method to detect Fact-Conflicting hallucinations in LLMs.</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Extend approach to use software engineering methods to enhance the reliability of LLMs.</a:t>
            </a:r>
          </a:p>
        </p:txBody>
      </p:sp>
      <p:sp>
        <p:nvSpPr>
          <p:cNvPr id="3" name="文本框 2">
            <a:extLst>
              <a:ext uri="{FF2B5EF4-FFF2-40B4-BE49-F238E27FC236}">
                <a16:creationId xmlns:a16="http://schemas.microsoft.com/office/drawing/2014/main" id="{6185ADE7-DF2A-7D0F-E8C6-E3D3BCE5CE53}"/>
              </a:ext>
            </a:extLst>
          </p:cNvPr>
          <p:cNvSpPr txBox="1"/>
          <p:nvPr/>
        </p:nvSpPr>
        <p:spPr>
          <a:xfrm>
            <a:off x="372035" y="3057624"/>
            <a:ext cx="11322424" cy="1877437"/>
          </a:xfrm>
          <a:prstGeom prst="rect">
            <a:avLst/>
          </a:prstGeom>
          <a:noFill/>
        </p:spPr>
        <p:txBody>
          <a:bodyPr wrap="square" rtlCol="0">
            <a:spAutoFit/>
          </a:bodyPr>
          <a:lstStyle/>
          <a:p>
            <a:r>
              <a:rPr lang="en-US" altLang="zh-CN" sz="3200" dirty="0">
                <a:latin typeface="Arial" panose="020B0604020202020204" pitchFamily="34" charset="0"/>
                <a:ea typeface="Calibri" panose="020F0502020204030204" pitchFamily="34" charset="0"/>
                <a:cs typeface="Arial" panose="020B0604020202020204" pitchFamily="34" charset="0"/>
              </a:rPr>
              <a:t>(ii) Future Work</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Real-time LLM Hallucination Detect Application.</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Hallucination Detection in other domains (e.g. Code).</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Hallucination Mitigation.</a:t>
            </a:r>
          </a:p>
        </p:txBody>
      </p:sp>
      <p:sp>
        <p:nvSpPr>
          <p:cNvPr id="8" name="文本框 7">
            <a:extLst>
              <a:ext uri="{FF2B5EF4-FFF2-40B4-BE49-F238E27FC236}">
                <a16:creationId xmlns:a16="http://schemas.microsoft.com/office/drawing/2014/main" id="{F424DF77-C484-142B-C2FE-93FDA13CF5EC}"/>
              </a:ext>
            </a:extLst>
          </p:cNvPr>
          <p:cNvSpPr txBox="1"/>
          <p:nvPr/>
        </p:nvSpPr>
        <p:spPr>
          <a:xfrm>
            <a:off x="372035" y="4935061"/>
            <a:ext cx="11322424" cy="1877437"/>
          </a:xfrm>
          <a:prstGeom prst="rect">
            <a:avLst/>
          </a:prstGeom>
          <a:noFill/>
        </p:spPr>
        <p:txBody>
          <a:bodyPr wrap="square" rtlCol="0">
            <a:spAutoFit/>
          </a:bodyPr>
          <a:lstStyle/>
          <a:p>
            <a:r>
              <a:rPr lang="en-US" altLang="zh-CN" sz="3200" dirty="0">
                <a:latin typeface="Arial" panose="020B0604020202020204" pitchFamily="34" charset="0"/>
                <a:ea typeface="Calibri" panose="020F0502020204030204" pitchFamily="34" charset="0"/>
                <a:cs typeface="Arial" panose="020B0604020202020204" pitchFamily="34" charset="0"/>
              </a:rPr>
              <a:t>(iii) Data Availability</a:t>
            </a: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Code Repository: </a:t>
            </a:r>
            <a:r>
              <a:rPr lang="en-US" altLang="zh-CN" sz="2800" dirty="0">
                <a:latin typeface="Calibri" panose="020F0502020204030204" pitchFamily="34" charset="0"/>
                <a:ea typeface="Calibri" panose="020F0502020204030204" pitchFamily="34" charset="0"/>
                <a:cs typeface="Calibri" panose="020F0502020204030204" pitchFamily="34" charset="0"/>
                <a:hlinkClick r:id="rId4"/>
              </a:rPr>
              <a:t>https://github.com/zbybr/LLMhalu/tree/MetaQA-Open-Base</a:t>
            </a: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Email: buptzbybr@outlook.com</a:t>
            </a:r>
          </a:p>
        </p:txBody>
      </p:sp>
      <p:sp>
        <p:nvSpPr>
          <p:cNvPr id="9" name="灯片编号占位符 8">
            <a:extLst>
              <a:ext uri="{FF2B5EF4-FFF2-40B4-BE49-F238E27FC236}">
                <a16:creationId xmlns:a16="http://schemas.microsoft.com/office/drawing/2014/main" id="{2B52E7EA-7E14-48F2-5B1C-8F627DC8C394}"/>
              </a:ext>
            </a:extLst>
          </p:cNvPr>
          <p:cNvSpPr>
            <a:spLocks noGrp="1"/>
          </p:cNvSpPr>
          <p:nvPr>
            <p:ph type="sldNum" sz="quarter" idx="12"/>
          </p:nvPr>
        </p:nvSpPr>
        <p:spPr/>
        <p:txBody>
          <a:bodyPr/>
          <a:lstStyle/>
          <a:p>
            <a:fld id="{A330ECBB-EFA0-4B67-A466-676224D8611D}" type="slidenum">
              <a:rPr lang="zh-CN" altLang="en-US" smtClean="0"/>
              <a:t>23</a:t>
            </a:fld>
            <a:endParaRPr lang="zh-CN" altLang="en-US"/>
          </a:p>
        </p:txBody>
      </p:sp>
      <p:pic>
        <p:nvPicPr>
          <p:cNvPr id="5" name="图片 4">
            <a:extLst>
              <a:ext uri="{FF2B5EF4-FFF2-40B4-BE49-F238E27FC236}">
                <a16:creationId xmlns:a16="http://schemas.microsoft.com/office/drawing/2014/main" id="{4B6E5960-8D28-AF90-A18F-69A5370E20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6586" y="3648075"/>
            <a:ext cx="1717873" cy="1717873"/>
          </a:xfrm>
          <a:prstGeom prst="rect">
            <a:avLst/>
          </a:prstGeom>
        </p:spPr>
      </p:pic>
    </p:spTree>
    <p:custDataLst>
      <p:tags r:id="rId1"/>
    </p:custDataLst>
    <p:extLst>
      <p:ext uri="{BB962C8B-B14F-4D97-AF65-F5344CB8AC3E}">
        <p14:creationId xmlns:p14="http://schemas.microsoft.com/office/powerpoint/2010/main" val="34047663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par>
                                <p:cTn id="18" presetID="1"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36B8925-908D-9FB0-8234-B9F2B5A84A15}"/>
            </a:ext>
          </a:extLst>
        </p:cNvPr>
        <p:cNvGrpSpPr/>
        <p:nvPr/>
      </p:nvGrpSpPr>
      <p:grpSpPr>
        <a:xfrm>
          <a:off x="0" y="0"/>
          <a:ext cx="0" cy="0"/>
          <a:chOff x="0" y="0"/>
          <a:chExt cx="0" cy="0"/>
        </a:xfrm>
      </p:grpSpPr>
      <p:grpSp>
        <p:nvGrpSpPr>
          <p:cNvPr id="14" name="组合 13">
            <a:extLst>
              <a:ext uri="{FF2B5EF4-FFF2-40B4-BE49-F238E27FC236}">
                <a16:creationId xmlns:a16="http://schemas.microsoft.com/office/drawing/2014/main" id="{7B200C68-D06C-6A65-5659-42BFB7EC5AB5}"/>
              </a:ext>
            </a:extLst>
          </p:cNvPr>
          <p:cNvGrpSpPr/>
          <p:nvPr/>
        </p:nvGrpSpPr>
        <p:grpSpPr>
          <a:xfrm>
            <a:off x="7926147" y="0"/>
            <a:ext cx="3210129" cy="1420238"/>
            <a:chOff x="7926147" y="0"/>
            <a:chExt cx="3210129" cy="1420238"/>
          </a:xfrm>
        </p:grpSpPr>
        <p:sp>
          <p:nvSpPr>
            <p:cNvPr id="13" name="任意多边形: 形状 12">
              <a:extLst>
                <a:ext uri="{FF2B5EF4-FFF2-40B4-BE49-F238E27FC236}">
                  <a16:creationId xmlns:a16="http://schemas.microsoft.com/office/drawing/2014/main" id="{46888F8C-C32E-F690-82A6-6C2300B0D20B}"/>
                </a:ext>
              </a:extLst>
            </p:cNvPr>
            <p:cNvSpPr/>
            <p:nvPr/>
          </p:nvSpPr>
          <p:spPr>
            <a:xfrm rot="10800000">
              <a:off x="7926147" y="0"/>
              <a:ext cx="3210129" cy="1420238"/>
            </a:xfrm>
            <a:custGeom>
              <a:avLst/>
              <a:gdLst>
                <a:gd name="connsiteX0" fmla="*/ 3692727 w 3692727"/>
                <a:gd name="connsiteY0" fmla="*/ 2088816 h 2088816"/>
                <a:gd name="connsiteX1" fmla="*/ 3239331 w 3692727"/>
                <a:gd name="connsiteY1" fmla="*/ 2088816 h 2088816"/>
                <a:gd name="connsiteX2" fmla="*/ 1846364 w 3692727"/>
                <a:gd name="connsiteY2" fmla="*/ 512934 h 2088816"/>
                <a:gd name="connsiteX3" fmla="*/ 453397 w 3692727"/>
                <a:gd name="connsiteY3" fmla="*/ 2088816 h 2088816"/>
                <a:gd name="connsiteX4" fmla="*/ 0 w 3692727"/>
                <a:gd name="connsiteY4" fmla="*/ 2088816 h 2088816"/>
                <a:gd name="connsiteX5" fmla="*/ 1846363 w 3692727"/>
                <a:gd name="connsiteY5" fmla="*/ 0 h 208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2727" h="2088816">
                  <a:moveTo>
                    <a:pt x="3692727" y="2088816"/>
                  </a:moveTo>
                  <a:lnTo>
                    <a:pt x="3239331" y="2088816"/>
                  </a:lnTo>
                  <a:lnTo>
                    <a:pt x="1846364" y="512934"/>
                  </a:lnTo>
                  <a:lnTo>
                    <a:pt x="453397" y="2088816"/>
                  </a:lnTo>
                  <a:lnTo>
                    <a:pt x="0" y="2088816"/>
                  </a:lnTo>
                  <a:lnTo>
                    <a:pt x="184636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任意多边形: 形状 11">
              <a:extLst>
                <a:ext uri="{FF2B5EF4-FFF2-40B4-BE49-F238E27FC236}">
                  <a16:creationId xmlns:a16="http://schemas.microsoft.com/office/drawing/2014/main" id="{1736BA31-7028-D337-2B0E-9DCE8B206881}"/>
                </a:ext>
              </a:extLst>
            </p:cNvPr>
            <p:cNvSpPr/>
            <p:nvPr/>
          </p:nvSpPr>
          <p:spPr>
            <a:xfrm rot="10800000">
              <a:off x="8498431" y="0"/>
              <a:ext cx="2065564" cy="914400"/>
            </a:xfrm>
            <a:custGeom>
              <a:avLst/>
              <a:gdLst>
                <a:gd name="connsiteX0" fmla="*/ 2065564 w 2065564"/>
                <a:gd name="connsiteY0" fmla="*/ 1168400 h 1168400"/>
                <a:gd name="connsiteX1" fmla="*/ 0 w 2065564"/>
                <a:gd name="connsiteY1" fmla="*/ 1168400 h 1168400"/>
                <a:gd name="connsiteX2" fmla="*/ 1032782 w 2065564"/>
                <a:gd name="connsiteY2" fmla="*/ 0 h 1168400"/>
              </a:gdLst>
              <a:ahLst/>
              <a:cxnLst>
                <a:cxn ang="0">
                  <a:pos x="connsiteX0" y="connsiteY0"/>
                </a:cxn>
                <a:cxn ang="0">
                  <a:pos x="connsiteX1" y="connsiteY1"/>
                </a:cxn>
                <a:cxn ang="0">
                  <a:pos x="connsiteX2" y="connsiteY2"/>
                </a:cxn>
              </a:cxnLst>
              <a:rect l="l" t="t" r="r" b="b"/>
              <a:pathLst>
                <a:path w="2065564" h="1168400">
                  <a:moveTo>
                    <a:pt x="2065564" y="1168400"/>
                  </a:moveTo>
                  <a:lnTo>
                    <a:pt x="0" y="1168400"/>
                  </a:lnTo>
                  <a:lnTo>
                    <a:pt x="103278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9" name="图片 8">
            <a:extLst>
              <a:ext uri="{FF2B5EF4-FFF2-40B4-BE49-F238E27FC236}">
                <a16:creationId xmlns:a16="http://schemas.microsoft.com/office/drawing/2014/main" id="{EBAFEA7F-226B-9B12-9F26-6DD09E3028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971" y="78909"/>
            <a:ext cx="3211945" cy="1670040"/>
          </a:xfrm>
          <a:prstGeom prst="rect">
            <a:avLst/>
          </a:prstGeom>
        </p:spPr>
      </p:pic>
      <p:sp>
        <p:nvSpPr>
          <p:cNvPr id="10" name="文本框 9">
            <a:extLst>
              <a:ext uri="{FF2B5EF4-FFF2-40B4-BE49-F238E27FC236}">
                <a16:creationId xmlns:a16="http://schemas.microsoft.com/office/drawing/2014/main" id="{3657D0AC-0B47-9937-7F7A-920E867D6973}"/>
              </a:ext>
            </a:extLst>
          </p:cNvPr>
          <p:cNvSpPr txBox="1"/>
          <p:nvPr/>
        </p:nvSpPr>
        <p:spPr>
          <a:xfrm>
            <a:off x="3644916" y="78909"/>
            <a:ext cx="4360566"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60A6FF"/>
                </a:solidFill>
                <a:effectLst/>
                <a:uLnTx/>
                <a:uFillTx/>
                <a:latin typeface="Arial" panose="020B0604020202020204" pitchFamily="34" charset="0"/>
                <a:ea typeface="Calibri" panose="020F0502020204030204" pitchFamily="34" charset="0"/>
                <a:cs typeface="Arial" panose="020B0604020202020204" pitchFamily="34" charset="0"/>
              </a:rPr>
              <a:t>The ACM International Conference on the Foundations of Software Engineering (FSE) 2025</a:t>
            </a:r>
          </a:p>
        </p:txBody>
      </p:sp>
      <p:sp>
        <p:nvSpPr>
          <p:cNvPr id="17" name="文本框 16">
            <a:extLst>
              <a:ext uri="{FF2B5EF4-FFF2-40B4-BE49-F238E27FC236}">
                <a16:creationId xmlns:a16="http://schemas.microsoft.com/office/drawing/2014/main" id="{4FB44014-6D30-7976-AC94-099D77990535}"/>
              </a:ext>
            </a:extLst>
          </p:cNvPr>
          <p:cNvSpPr txBox="1"/>
          <p:nvPr/>
        </p:nvSpPr>
        <p:spPr>
          <a:xfrm>
            <a:off x="3657600" y="1094572"/>
            <a:ext cx="470351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996637"/>
                </a:solidFill>
                <a:effectLst/>
                <a:uLnTx/>
                <a:uFillTx/>
                <a:latin typeface="Arial" panose="020B0604020202020204" pitchFamily="34" charset="0"/>
                <a:ea typeface="微软雅黑" panose="020B0503020204020204" pitchFamily="34" charset="-122"/>
                <a:cs typeface="Arial" panose="020B0604020202020204" pitchFamily="34" charset="0"/>
              </a:rPr>
              <a:t>Exhibition | 23 – 27 June, 2025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996637"/>
                </a:solidFill>
                <a:effectLst/>
                <a:uLnTx/>
                <a:uFillTx/>
                <a:latin typeface="Arial" panose="020B0604020202020204" pitchFamily="34" charset="0"/>
                <a:ea typeface="微软雅黑" panose="020B0503020204020204" pitchFamily="34" charset="-122"/>
                <a:cs typeface="Arial" panose="020B0604020202020204" pitchFamily="34" charset="0"/>
              </a:rPr>
              <a:t>Venue | Clarion Hotel Trondheim, Norway</a:t>
            </a:r>
            <a:endParaRPr kumimoji="0" lang="zh-CN" altLang="en-US" sz="1800" b="1" i="0" u="none" strike="noStrike" kern="1200" cap="none" spc="0" normalizeH="0" baseline="0" noProof="0" dirty="0">
              <a:ln>
                <a:noFill/>
              </a:ln>
              <a:solidFill>
                <a:srgbClr val="996637"/>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p:cNvSpPr txBox="1"/>
          <p:nvPr/>
        </p:nvSpPr>
        <p:spPr>
          <a:xfrm>
            <a:off x="1653702" y="2422737"/>
            <a:ext cx="948257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Thanks for your listening</a:t>
            </a:r>
            <a:endParaRPr kumimoji="0" lang="zh-CN" altLang="en-US" sz="54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连接符 17"/>
          <p:cNvCxnSpPr/>
          <p:nvPr/>
        </p:nvCxnSpPr>
        <p:spPr>
          <a:xfrm>
            <a:off x="4904221" y="3351118"/>
            <a:ext cx="5344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904220" y="3356170"/>
            <a:ext cx="534456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rPr>
              <a:t>24</a:t>
            </a:r>
            <a:r>
              <a:rPr kumimoji="0" lang="en-US" altLang="zh-CN" sz="2000" b="0" i="0" u="none" strike="noStrike" kern="1200" cap="none" spc="0" normalizeH="0" baseline="3000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rPr>
              <a:t>th</a:t>
            </a:r>
            <a:r>
              <a:rPr kumimoji="0" lang="en-US" altLang="zh-CN"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rPr>
              <a:t> June, 2025</a:t>
            </a:r>
            <a:endParaRPr kumimoji="0" lang="zh-CN" altLang="en-US" sz="20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 name="灯片编号占位符 2">
            <a:extLst>
              <a:ext uri="{FF2B5EF4-FFF2-40B4-BE49-F238E27FC236}">
                <a16:creationId xmlns:a16="http://schemas.microsoft.com/office/drawing/2014/main" id="{64A7587B-110B-5403-853E-1358C4F56BE5}"/>
              </a:ext>
            </a:extLst>
          </p:cNvPr>
          <p:cNvSpPr>
            <a:spLocks noGrp="1"/>
          </p:cNvSpPr>
          <p:nvPr>
            <p:ph type="sldNum" sz="quarter" idx="12"/>
          </p:nvPr>
        </p:nvSpPr>
        <p:spPr/>
        <p:txBody>
          <a:bodyPr/>
          <a:lstStyle/>
          <a:p>
            <a:fld id="{B2F5EFFB-F067-4CCA-A379-675D6C90A4D5}" type="slidenum">
              <a:rPr lang="zh-CN" altLang="en-US" smtClean="0"/>
              <a:t>24</a:t>
            </a:fld>
            <a:endParaRPr lang="zh-CN" altLang="en-US"/>
          </a:p>
        </p:txBody>
      </p:sp>
      <p:pic>
        <p:nvPicPr>
          <p:cNvPr id="5" name="图片 4">
            <a:extLst>
              <a:ext uri="{FF2B5EF4-FFF2-40B4-BE49-F238E27FC236}">
                <a16:creationId xmlns:a16="http://schemas.microsoft.com/office/drawing/2014/main" id="{D4E3FA35-7457-5923-979F-51E8E9224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972" y="5568752"/>
            <a:ext cx="1033878" cy="787597"/>
          </a:xfrm>
          <a:prstGeom prst="rect">
            <a:avLst/>
          </a:prstGeom>
        </p:spPr>
      </p:pic>
      <p:pic>
        <p:nvPicPr>
          <p:cNvPr id="6" name="图片 5">
            <a:extLst>
              <a:ext uri="{FF2B5EF4-FFF2-40B4-BE49-F238E27FC236}">
                <a16:creationId xmlns:a16="http://schemas.microsoft.com/office/drawing/2014/main" id="{D67FACA7-1DA3-CF94-3A38-08918291C8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6266" y="5568752"/>
            <a:ext cx="1575193" cy="787597"/>
          </a:xfrm>
          <a:prstGeom prst="rect">
            <a:avLst/>
          </a:prstGeom>
        </p:spPr>
      </p:pic>
      <p:pic>
        <p:nvPicPr>
          <p:cNvPr id="15" name="图片 14">
            <a:extLst>
              <a:ext uri="{FF2B5EF4-FFF2-40B4-BE49-F238E27FC236}">
                <a16:creationId xmlns:a16="http://schemas.microsoft.com/office/drawing/2014/main" id="{BCB6EDA3-5F1E-C382-9BE4-5BE821F5D5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0875" y="5565058"/>
            <a:ext cx="2080943" cy="791291"/>
          </a:xfrm>
          <a:prstGeom prst="rect">
            <a:avLst/>
          </a:prstGeom>
        </p:spPr>
      </p:pic>
      <p:sp>
        <p:nvSpPr>
          <p:cNvPr id="7" name="文本框 6">
            <a:extLst>
              <a:ext uri="{FF2B5EF4-FFF2-40B4-BE49-F238E27FC236}">
                <a16:creationId xmlns:a16="http://schemas.microsoft.com/office/drawing/2014/main" id="{4A6E79C9-3E61-ADB4-32FA-28AA09DF9FCA}"/>
              </a:ext>
            </a:extLst>
          </p:cNvPr>
          <p:cNvSpPr txBox="1"/>
          <p:nvPr/>
        </p:nvSpPr>
        <p:spPr>
          <a:xfrm>
            <a:off x="5541818" y="5076386"/>
            <a:ext cx="6215395" cy="1292662"/>
          </a:xfrm>
          <a:prstGeom prst="rect">
            <a:avLst/>
          </a:prstGeom>
          <a:noFill/>
        </p:spPr>
        <p:txBody>
          <a:bodyPr wrap="square">
            <a:spAutoFit/>
          </a:bodyPr>
          <a:lstStyle/>
          <a:p>
            <a:pPr algn="r"/>
            <a:r>
              <a:rPr lang="en-US" altLang="zh-CN" sz="2400" b="1" dirty="0">
                <a:latin typeface="微软雅黑" panose="020B0503020204020204" pitchFamily="34" charset="-122"/>
                <a:ea typeface="微软雅黑" panose="020B0503020204020204" pitchFamily="34" charset="-122"/>
                <a:cs typeface="Calibri" panose="020F0502020204030204" pitchFamily="34" charset="0"/>
              </a:rPr>
              <a:t>Borui Yang </a:t>
            </a:r>
            <a:r>
              <a:rPr lang="en-US" altLang="zh-CN" sz="1600" dirty="0">
                <a:latin typeface="Calibri" panose="020F0502020204030204" pitchFamily="34" charset="0"/>
                <a:ea typeface="Calibri" panose="020F0502020204030204" pitchFamily="34" charset="0"/>
                <a:cs typeface="Calibri" panose="020F0502020204030204" pitchFamily="34" charset="0"/>
              </a:rPr>
              <a:t>(Institute of Software, Chinese Academy of Sciences)</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gn="r"/>
            <a:r>
              <a:rPr lang="en-US" altLang="zh-CN" dirty="0">
                <a:latin typeface="Calibri" panose="020F0502020204030204" pitchFamily="34" charset="0"/>
                <a:ea typeface="Calibri" panose="020F0502020204030204" pitchFamily="34" charset="0"/>
                <a:cs typeface="Calibri" panose="020F0502020204030204" pitchFamily="34" charset="0"/>
              </a:rPr>
              <a:t>Md Afif Al Mamun (</a:t>
            </a:r>
            <a:r>
              <a:rPr lang="en-US" altLang="zh-CN" sz="1600" dirty="0">
                <a:latin typeface="Calibri" panose="020F0502020204030204" pitchFamily="34" charset="0"/>
                <a:ea typeface="Calibri" panose="020F0502020204030204" pitchFamily="34" charset="0"/>
                <a:cs typeface="Calibri" panose="020F0502020204030204" pitchFamily="34" charset="0"/>
              </a:rPr>
              <a:t>University of Calgary)</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gn="r"/>
            <a:r>
              <a:rPr lang="en-US" altLang="zh-CN" dirty="0">
                <a:latin typeface="Calibri" panose="020F0502020204030204" pitchFamily="34" charset="0"/>
                <a:ea typeface="Calibri" panose="020F0502020204030204" pitchFamily="34" charset="0"/>
                <a:cs typeface="Calibri" panose="020F0502020204030204" pitchFamily="34" charset="0"/>
              </a:rPr>
              <a:t>Jie M. Zhang  (</a:t>
            </a:r>
            <a:r>
              <a:rPr lang="en-US" altLang="zh-CN" sz="1600" dirty="0">
                <a:latin typeface="Calibri" panose="020F0502020204030204" pitchFamily="34" charset="0"/>
                <a:ea typeface="Calibri" panose="020F0502020204030204" pitchFamily="34" charset="0"/>
                <a:cs typeface="Calibri" panose="020F0502020204030204" pitchFamily="34" charset="0"/>
              </a:rPr>
              <a:t>King’s College London)</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algn="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Gias</a:t>
            </a:r>
            <a:r>
              <a:rPr lang="en-US" altLang="zh-CN" dirty="0">
                <a:latin typeface="Calibri" panose="020F0502020204030204" pitchFamily="34" charset="0"/>
                <a:ea typeface="Calibri" panose="020F0502020204030204" pitchFamily="34" charset="0"/>
                <a:cs typeface="Calibri" panose="020F0502020204030204" pitchFamily="34" charset="0"/>
              </a:rPr>
              <a:t> Uddin (</a:t>
            </a:r>
            <a:r>
              <a:rPr lang="en-US" altLang="zh-CN" sz="1600" dirty="0">
                <a:latin typeface="Calibri" panose="020F0502020204030204" pitchFamily="34" charset="0"/>
                <a:ea typeface="Calibri" panose="020F0502020204030204" pitchFamily="34" charset="0"/>
                <a:cs typeface="Calibri" panose="020F0502020204030204" pitchFamily="34" charset="0"/>
              </a:rPr>
              <a:t>York University)</a:t>
            </a:r>
            <a:endParaRPr lang="zh-CN"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9311212"/>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TIMING" val="|1.5|6.1"/>
</p:tagLst>
</file>

<file path=ppt/tags/tag2.xml><?xml version="1.0" encoding="utf-8"?>
<p:tagLst xmlns:a="http://schemas.openxmlformats.org/drawingml/2006/main" xmlns:r="http://schemas.openxmlformats.org/officeDocument/2006/relationships" xmlns:p="http://schemas.openxmlformats.org/presentationml/2006/main">
  <p:tag name="TIMING" val="|1.5|6.1"/>
</p:tagLst>
</file>

<file path=ppt/tags/tag3.xml><?xml version="1.0" encoding="utf-8"?>
<p:tagLst xmlns:a="http://schemas.openxmlformats.org/drawingml/2006/main" xmlns:r="http://schemas.openxmlformats.org/officeDocument/2006/relationships" xmlns:p="http://schemas.openxmlformats.org/presentationml/2006/main">
  <p:tag name="TIMING" val="|1.5|6.1"/>
</p:tagLst>
</file>

<file path=ppt/tags/tag4.xml><?xml version="1.0" encoding="utf-8"?>
<p:tagLst xmlns:a="http://schemas.openxmlformats.org/drawingml/2006/main" xmlns:r="http://schemas.openxmlformats.org/officeDocument/2006/relationships" xmlns:p="http://schemas.openxmlformats.org/presentationml/2006/main">
  <p:tag name="TIMING" val="|1.5|6.1"/>
</p:tagLst>
</file>

<file path=ppt/tags/tag5.xml><?xml version="1.0" encoding="utf-8"?>
<p:tagLst xmlns:a="http://schemas.openxmlformats.org/drawingml/2006/main" xmlns:r="http://schemas.openxmlformats.org/officeDocument/2006/relationships" xmlns:p="http://schemas.openxmlformats.org/presentationml/2006/main">
  <p:tag name="TIMING" val="|1.5|6.1"/>
</p:tagLst>
</file>

<file path=ppt/tags/tag6.xml><?xml version="1.0" encoding="utf-8"?>
<p:tagLst xmlns:a="http://schemas.openxmlformats.org/drawingml/2006/main" xmlns:r="http://schemas.openxmlformats.org/officeDocument/2006/relationships" xmlns:p="http://schemas.openxmlformats.org/presentationml/2006/main">
  <p:tag name="TIMING" val="|1.5|6.1"/>
</p:tagLst>
</file>

<file path=ppt/tags/tag7.xml><?xml version="1.0" encoding="utf-8"?>
<p:tagLst xmlns:a="http://schemas.openxmlformats.org/drawingml/2006/main" xmlns:r="http://schemas.openxmlformats.org/officeDocument/2006/relationships" xmlns:p="http://schemas.openxmlformats.org/presentationml/2006/main">
  <p:tag name="TIMING" val="|10.8|15.3|4.7|5.2|4.8"/>
</p:tagLst>
</file>

<file path=ppt/tags/tag8.xml><?xml version="1.0" encoding="utf-8"?>
<p:tagLst xmlns:a="http://schemas.openxmlformats.org/drawingml/2006/main" xmlns:r="http://schemas.openxmlformats.org/officeDocument/2006/relationships" xmlns:p="http://schemas.openxmlformats.org/presentationml/2006/main">
  <p:tag name="TIMING" val="|1.5|6.1"/>
</p:tagLst>
</file>

<file path=ppt/tags/tag9.xml><?xml version="1.0" encoding="utf-8"?>
<p:tagLst xmlns:a="http://schemas.openxmlformats.org/drawingml/2006/main" xmlns:r="http://schemas.openxmlformats.org/officeDocument/2006/relationships" xmlns:p="http://schemas.openxmlformats.org/presentationml/2006/main">
  <p:tag name="TIMING" val="|1.5|6.1"/>
</p:tagLst>
</file>

<file path=ppt/tags/tag10.xml><?xml version="1.0" encoding="utf-8"?>
<p:tagLst xmlns:a="http://schemas.openxmlformats.org/drawingml/2006/main" xmlns:r="http://schemas.openxmlformats.org/officeDocument/2006/relationships" xmlns:p="http://schemas.openxmlformats.org/presentationml/2006/main">
  <p:tag name="TIMING" val="|1.5|6.1"/>
</p:tagLst>
</file>

<file path=ppt/tags/tag11.xml><?xml version="1.0" encoding="utf-8"?>
<p:tagLst xmlns:a="http://schemas.openxmlformats.org/drawingml/2006/main" xmlns:r="http://schemas.openxmlformats.org/officeDocument/2006/relationships" xmlns:p="http://schemas.openxmlformats.org/presentationml/2006/main">
  <p:tag name="TIMING" val="|1.5|6.1"/>
</p:tagLst>
</file>

<file path=ppt/tags/tag12.xml><?xml version="1.0" encoding="utf-8"?>
<p:tagLst xmlns:a="http://schemas.openxmlformats.org/drawingml/2006/main" xmlns:r="http://schemas.openxmlformats.org/officeDocument/2006/relationships" xmlns:p="http://schemas.openxmlformats.org/presentationml/2006/main">
  <p:tag name="TIMING" val="|1.5|6.1"/>
</p:tagLst>
</file>

<file path=ppt/tags/tag13.xml><?xml version="1.0" encoding="utf-8"?>
<p:tagLst xmlns:a="http://schemas.openxmlformats.org/drawingml/2006/main" xmlns:r="http://schemas.openxmlformats.org/officeDocument/2006/relationships" xmlns:p="http://schemas.openxmlformats.org/presentationml/2006/main">
  <p:tag name="TIMING" val="|1.5|6.1"/>
</p:tagLst>
</file>

<file path=ppt/tags/tag14.xml><?xml version="1.0" encoding="utf-8"?>
<p:tagLst xmlns:a="http://schemas.openxmlformats.org/drawingml/2006/main" xmlns:r="http://schemas.openxmlformats.org/officeDocument/2006/relationships" xmlns:p="http://schemas.openxmlformats.org/presentationml/2006/main">
  <p:tag name="TIMING" val="|1.5|6.1"/>
</p:tagLst>
</file>

<file path=ppt/tags/tag15.xml><?xml version="1.0" encoding="utf-8"?>
<p:tagLst xmlns:a="http://schemas.openxmlformats.org/drawingml/2006/main" xmlns:r="http://schemas.openxmlformats.org/officeDocument/2006/relationships" xmlns:p="http://schemas.openxmlformats.org/presentationml/2006/main">
  <p:tag name="TIMING" val="|1.5|6.1"/>
</p:tagLst>
</file>

<file path=ppt/tags/tag16.xml><?xml version="1.0" encoding="utf-8"?>
<p:tagLst xmlns:a="http://schemas.openxmlformats.org/drawingml/2006/main" xmlns:r="http://schemas.openxmlformats.org/officeDocument/2006/relationships" xmlns:p="http://schemas.openxmlformats.org/presentationml/2006/main">
  <p:tag name="TIMING" val="|1.5|6.1"/>
</p:tagLst>
</file>

<file path=ppt/tags/tag17.xml><?xml version="1.0" encoding="utf-8"?>
<p:tagLst xmlns:a="http://schemas.openxmlformats.org/drawingml/2006/main" xmlns:r="http://schemas.openxmlformats.org/officeDocument/2006/relationships" xmlns:p="http://schemas.openxmlformats.org/presentationml/2006/main">
  <p:tag name="TIMING" val="|1.5|6.1"/>
</p:tagLst>
</file>

<file path=ppt/tags/tag18.xml><?xml version="1.0" encoding="utf-8"?>
<p:tagLst xmlns:a="http://schemas.openxmlformats.org/drawingml/2006/main" xmlns:r="http://schemas.openxmlformats.org/officeDocument/2006/relationships" xmlns:p="http://schemas.openxmlformats.org/presentationml/2006/main">
  <p:tag name="TIMING" val="|1.5|6.1"/>
</p:tagLst>
</file>

<file path=ppt/tags/tag19.xml><?xml version="1.0" encoding="utf-8"?>
<p:tagLst xmlns:a="http://schemas.openxmlformats.org/drawingml/2006/main" xmlns:r="http://schemas.openxmlformats.org/officeDocument/2006/relationships" xmlns:p="http://schemas.openxmlformats.org/presentationml/2006/main">
  <p:tag name="TIMING" val="|1.5|6.1"/>
</p:tagLst>
</file>

<file path=ppt/tags/tag20.xml><?xml version="1.0" encoding="utf-8"?>
<p:tagLst xmlns:a="http://schemas.openxmlformats.org/drawingml/2006/main" xmlns:r="http://schemas.openxmlformats.org/officeDocument/2006/relationships" xmlns:p="http://schemas.openxmlformats.org/presentationml/2006/main">
  <p:tag name="TIMING" val="|1.5|6.1"/>
</p:tagLst>
</file>

<file path=ppt/tags/tag21.xml><?xml version="1.0" encoding="utf-8"?>
<p:tagLst xmlns:a="http://schemas.openxmlformats.org/drawingml/2006/main" xmlns:r="http://schemas.openxmlformats.org/officeDocument/2006/relationships" xmlns:p="http://schemas.openxmlformats.org/presentationml/2006/main">
  <p:tag name="TIMING" val="|1.5|6.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3">
      <a:dk1>
        <a:sysClr val="windowText" lastClr="000000"/>
      </a:dk1>
      <a:lt1>
        <a:sysClr val="window" lastClr="FFFFFF"/>
      </a:lt1>
      <a:dk2>
        <a:srgbClr val="44546A"/>
      </a:dk2>
      <a:lt2>
        <a:srgbClr val="E7E6E6"/>
      </a:lt2>
      <a:accent1>
        <a:srgbClr val="4472C4"/>
      </a:accent1>
      <a:accent2>
        <a:srgbClr val="3F3F3F"/>
      </a:accent2>
      <a:accent3>
        <a:srgbClr val="4472C4"/>
      </a:accent3>
      <a:accent4>
        <a:srgbClr val="3F3F3F"/>
      </a:accent4>
      <a:accent5>
        <a:srgbClr val="4472C4"/>
      </a:accent5>
      <a:accent6>
        <a:srgbClr val="3F3F3F"/>
      </a:accent6>
      <a:hlink>
        <a:srgbClr val="4472C4"/>
      </a:hlink>
      <a:folHlink>
        <a:srgbClr val="3F3F3F"/>
      </a:folHlink>
    </a:clrScheme>
    <a:fontScheme name="自定义">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10875</TotalTime>
  <Words>2921</Words>
  <Application>Microsoft Office PowerPoint</Application>
  <PresentationFormat>宽屏</PresentationFormat>
  <Paragraphs>281</Paragraphs>
  <Slides>24</Slides>
  <Notes>24</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24</vt:i4>
      </vt:variant>
    </vt:vector>
  </HeadingPairs>
  <TitlesOfParts>
    <vt:vector size="32" baseType="lpstr">
      <vt:lpstr>等线</vt:lpstr>
      <vt:lpstr>等线 Light</vt:lpstr>
      <vt:lpstr>微软雅黑</vt:lpstr>
      <vt:lpstr>Arial</vt:lpstr>
      <vt:lpstr>Calibri</vt:lpstr>
      <vt:lpstr>Cambria Math</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Borui Yang</dc:creator>
  <cp:lastModifiedBy>Borui Yang</cp:lastModifiedBy>
  <cp:revision>34</cp:revision>
  <dcterms:created xsi:type="dcterms:W3CDTF">2025-06-08T09:26:56Z</dcterms:created>
  <dcterms:modified xsi:type="dcterms:W3CDTF">2025-06-24T07:27:23Z</dcterms:modified>
</cp:coreProperties>
</file>